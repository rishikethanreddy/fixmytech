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4" r:id="rId1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FixMyTech: a tool that helps a phone owner decide whether to repair, sell or replace a faulty Android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faulty phone leaves people guessing. FixMyTech answers three questions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stages a customer follows, from consent to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browser cannot run ADB and a hosted server cannot reach a USB phone, so a small local agent bridges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transparent: facts with provenance feed declarative rules. Nothing is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come from official sources; resale from the independent FlipValue service. If data is missing the app says so rather than inventing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 data is sensitive, so the design is consent-first and read-only.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where the project stands today and what comes next. Be honest that physical-phone validation is still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each part does, in reading order, with the real file names. FixMyTech (left): collectors.py reads the phone over USB, tests.js runs the hands-on tests, api.py receives every request and services.py ties the steps together. diagnosis.py finds the likely fault with 113 rules, estimate.py looks up the official repair price and decision.py compares repair, sell and replace. market.py and client.py are the only link to the other project: they send the phone model and condition to FlipValue over HTTPS with an API key. FlipValue (right): providers.py and matching.py bring in store prices and check they are the same phone, estimates.py makes the labelled modelled prices from price_bands.csv, catalogue.py knows every model and its codes, and engine.py is the only place a value is computed. decision.py does the repair-or-sell arithmetic, partner.py is FixMyTech's front door (POST /v1/valuations), security.py guards access with hashed keys and rate limits, and ValuePage.tsx is the website wizard.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1000" spc="100" kern="0" dirty="0">
                <a:solidFill>
                  <a:srgbClr val="5B6577"/>
                </a:solidFill>
                <a:latin typeface="Calibri" pitchFamily="34" charset="0"/>
                <a:ea typeface="Calibri" pitchFamily="34" charset="-122"/>
                <a:cs typeface="Calibri" pitchFamily="34" charset="-120"/>
              </a:rPr>
              <a:t>FIXMYTECH  ·  SMARTPHONE DIAGNOSIS &amp; REPAIR DECISIONS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2.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png"/><Relationship Id="rId17" Type="http://schemas.openxmlformats.org/officeDocument/2006/relationships/notesSlide" Target="../notesSlides/notesSlide9.xml"/><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26.png"/><Relationship Id="rId21" Type="http://schemas.openxmlformats.org/officeDocument/2006/relationships/image" Target="../media/image27.png"/><Relationship Id="rId22"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5394960" y="365760"/>
            <a:ext cx="3383280" cy="4206240"/>
          </a:xfrm>
          <a:prstGeom prst="roundRect">
            <a:avLst>
              <a:gd name="adj" fmla="val 5405"/>
            </a:avLst>
          </a:prstGeom>
          <a:solidFill>
            <a:srgbClr val="1B2230"/>
          </a:solidFill>
          <a:ln w="12700">
            <a:solidFill>
              <a:srgbClr val="1B2230"/>
            </a:solidFill>
            <a:prstDash val="solid"/>
          </a:ln>
        </p:spPr>
      </p:sp>
      <p:sp>
        <p:nvSpPr>
          <p:cNvPr id="4" name="Shape 1"/>
          <p:cNvSpPr/>
          <p:nvPr/>
        </p:nvSpPr>
        <p:spPr>
          <a:xfrm>
            <a:off x="5623560" y="914400"/>
            <a:ext cx="2926080" cy="2926080"/>
          </a:xfrm>
          <a:prstGeom prst="ellipse">
            <a:avLst/>
          </a:prstGeom>
          <a:solidFill>
            <a:srgbClr val="1B2230"/>
          </a:solidFill>
          <a:ln w="15875">
            <a:solidFill>
              <a:srgbClr val="3A4660"/>
            </a:solidFill>
            <a:prstDash val="solid"/>
          </a:ln>
        </p:spPr>
      </p:sp>
      <p:sp>
        <p:nvSpPr>
          <p:cNvPr id="5" name="Shape 2"/>
          <p:cNvSpPr/>
          <p:nvPr/>
        </p:nvSpPr>
        <p:spPr>
          <a:xfrm>
            <a:off x="6035040" y="1325880"/>
            <a:ext cx="2103120" cy="2103120"/>
          </a:xfrm>
          <a:prstGeom prst="ellipse">
            <a:avLst/>
          </a:prstGeom>
          <a:solidFill>
            <a:srgbClr val="E3C170"/>
          </a:solidFill>
          <a:ln w="12700">
            <a:solidFill>
              <a:srgbClr val="E3C170"/>
            </a:solidFill>
            <a:prstDash val="solid"/>
          </a:ln>
        </p:spPr>
      </p:sp>
      <p:pic>
        <p:nvPicPr>
          <p:cNvPr id="6" name="Image 0" descr="preencoded.png">    </p:cNvPr>
          <p:cNvPicPr>
            <a:picLocks noChangeAspect="1"/>
          </p:cNvPicPr>
          <p:nvPr/>
        </p:nvPicPr>
        <p:blipFill>
          <a:blip r:embed="rId1"/>
          <a:stretch>
            <a:fillRect/>
          </a:stretch>
        </p:blipFill>
        <p:spPr>
          <a:xfrm>
            <a:off x="6537960" y="1691640"/>
            <a:ext cx="1097280" cy="1097280"/>
          </a:xfrm>
          <a:prstGeom prst="rect">
            <a:avLst/>
          </a:prstGeom>
        </p:spPr>
      </p:pic>
      <p:sp>
        <p:nvSpPr>
          <p:cNvPr id="7" name="Shape 3"/>
          <p:cNvSpPr/>
          <p:nvPr/>
        </p:nvSpPr>
        <p:spPr>
          <a:xfrm>
            <a:off x="5577840" y="3200400"/>
            <a:ext cx="594360" cy="594360"/>
          </a:xfrm>
          <a:prstGeom prst="ellipse">
            <a:avLst/>
          </a:prstGeom>
          <a:solidFill>
            <a:srgbClr val="17877B"/>
          </a:solidFill>
          <a:ln w="12700">
            <a:solidFill>
              <a:srgbClr val="17877B"/>
            </a:solidFill>
            <a:prstDash val="solid"/>
          </a:ln>
        </p:spPr>
      </p:sp>
      <p:pic>
        <p:nvPicPr>
          <p:cNvPr id="8" name="Image 1" descr="preencoded.png">    </p:cNvPr>
          <p:cNvPicPr>
            <a:picLocks noChangeAspect="1"/>
          </p:cNvPicPr>
          <p:nvPr/>
        </p:nvPicPr>
        <p:blipFill>
          <a:blip r:embed="rId2"/>
          <a:stretch>
            <a:fillRect/>
          </a:stretch>
        </p:blipFill>
        <p:spPr>
          <a:xfrm>
            <a:off x="5726430" y="3348990"/>
            <a:ext cx="297180" cy="297180"/>
          </a:xfrm>
          <a:prstGeom prst="rect">
            <a:avLst/>
          </a:prstGeom>
        </p:spPr>
      </p:pic>
      <p:sp>
        <p:nvSpPr>
          <p:cNvPr id="9" name="Shape 4"/>
          <p:cNvSpPr/>
          <p:nvPr/>
        </p:nvSpPr>
        <p:spPr>
          <a:xfrm>
            <a:off x="7818120" y="777240"/>
            <a:ext cx="548640" cy="548640"/>
          </a:xfrm>
          <a:prstGeom prst="ellipse">
            <a:avLst/>
          </a:prstGeom>
          <a:solidFill>
            <a:srgbClr val="C0313C"/>
          </a:solidFill>
          <a:ln w="12700">
            <a:solidFill>
              <a:srgbClr val="C0313C"/>
            </a:solidFill>
            <a:prstDash val="solid"/>
          </a:ln>
        </p:spPr>
      </p:sp>
      <p:pic>
        <p:nvPicPr>
          <p:cNvPr id="10" name="Image 2" descr="preencoded.png">    </p:cNvPr>
          <p:cNvPicPr>
            <a:picLocks noChangeAspect="1"/>
          </p:cNvPicPr>
          <p:nvPr/>
        </p:nvPicPr>
        <p:blipFill>
          <a:blip r:embed="rId3"/>
          <a:stretch>
            <a:fillRect/>
          </a:stretch>
        </p:blipFill>
        <p:spPr>
          <a:xfrm>
            <a:off x="7955280" y="914400"/>
            <a:ext cx="274320" cy="274320"/>
          </a:xfrm>
          <a:prstGeom prst="rect">
            <a:avLst/>
          </a:prstGeom>
        </p:spPr>
      </p:pic>
      <p:sp>
        <p:nvSpPr>
          <p:cNvPr id="11" name="Text 5"/>
          <p:cNvSpPr txBox="1"/>
          <p:nvPr/>
        </p:nvSpPr>
        <p:spPr>
          <a:xfrm>
            <a:off x="457200" y="1234440"/>
            <a:ext cx="4572000" cy="274320"/>
          </a:xfrm>
          <a:prstGeom prst="rect">
            <a:avLst/>
          </a:prstGeom>
          <a:noFill/>
          <a:ln/>
        </p:spPr>
        <p:txBody>
          <a:bodyPr wrap="square" lIns="0" tIns="0" rIns="0" bIns="0" rtlCol="0" anchor="ctr"/>
          <a:lstStyle/>
          <a:p>
            <a:pPr indent="0" marL="0">
              <a:buNone/>
            </a:pPr>
            <a:r>
              <a:rPr lang="en-US" sz="1200" b="1" spc="300" kern="0" dirty="0">
                <a:solidFill>
                  <a:srgbClr val="9A7418"/>
                </a:solidFill>
                <a:latin typeface="Calibri" pitchFamily="34" charset="0"/>
                <a:ea typeface="Calibri" pitchFamily="34" charset="-122"/>
                <a:cs typeface="Calibri" pitchFamily="34" charset="-120"/>
              </a:rPr>
              <a:t>PROJECT PRESENTATION</a:t>
            </a:r>
            <a:endParaRPr lang="en-US" sz="1200" dirty="0"/>
          </a:p>
        </p:txBody>
      </p:sp>
      <p:sp>
        <p:nvSpPr>
          <p:cNvPr id="12" name="Text 6"/>
          <p:cNvSpPr txBox="1"/>
          <p:nvPr/>
        </p:nvSpPr>
        <p:spPr>
          <a:xfrm>
            <a:off x="457200" y="1554480"/>
            <a:ext cx="4846320" cy="1005840"/>
          </a:xfrm>
          <a:prstGeom prst="rect">
            <a:avLst/>
          </a:prstGeom>
          <a:noFill/>
          <a:ln/>
        </p:spPr>
        <p:txBody>
          <a:bodyPr wrap="square" lIns="0" tIns="0" rIns="0" bIns="0" rtlCol="0" anchor="ctr"/>
          <a:lstStyle/>
          <a:p>
            <a:pPr indent="0" marL="0">
              <a:buNone/>
            </a:pPr>
            <a:r>
              <a:rPr lang="en-US" sz="5600" b="1" dirty="0">
                <a:solidFill>
                  <a:srgbClr val="1B2230"/>
                </a:solidFill>
                <a:latin typeface="Cambria" pitchFamily="34" charset="0"/>
                <a:ea typeface="Cambria" pitchFamily="34" charset="-122"/>
                <a:cs typeface="Cambria" pitchFamily="34" charset="-120"/>
              </a:rPr>
              <a:t>Fix</a:t>
            </a:r>
            <a:pPr indent="0" marL="0">
              <a:buNone/>
            </a:pPr>
            <a:r>
              <a:rPr lang="en-US" sz="5600" b="1" dirty="0">
                <a:solidFill>
                  <a:srgbClr val="9A7418"/>
                </a:solidFill>
                <a:latin typeface="Cambria" pitchFamily="34" charset="0"/>
                <a:ea typeface="Cambria" pitchFamily="34" charset="-122"/>
                <a:cs typeface="Cambria" pitchFamily="34" charset="-120"/>
              </a:rPr>
              <a:t>MyTech</a:t>
            </a:r>
            <a:endParaRPr lang="en-US" sz="5600" dirty="0"/>
          </a:p>
        </p:txBody>
      </p:sp>
      <p:sp>
        <p:nvSpPr>
          <p:cNvPr id="13" name="Text 7"/>
          <p:cNvSpPr txBox="1"/>
          <p:nvPr/>
        </p:nvSpPr>
        <p:spPr>
          <a:xfrm>
            <a:off x="457200" y="2651760"/>
            <a:ext cx="4480560" cy="822960"/>
          </a:xfrm>
          <a:prstGeom prst="rect">
            <a:avLst/>
          </a:prstGeom>
          <a:noFill/>
          <a:ln/>
        </p:spPr>
        <p:txBody>
          <a:bodyPr wrap="square" lIns="0" tIns="0" rIns="0" bIns="0" rtlCol="0" anchor="t"/>
          <a:lstStyle/>
          <a:p>
            <a:pPr indent="0" marL="0">
              <a:buNone/>
            </a:pPr>
            <a:r>
              <a:rPr lang="en-US" sz="1600" dirty="0">
                <a:solidFill>
                  <a:srgbClr val="5B6577"/>
                </a:solidFill>
                <a:latin typeface="Calibri" pitchFamily="34" charset="0"/>
                <a:ea typeface="Calibri" pitchFamily="34" charset="-122"/>
                <a:cs typeface="Calibri" pitchFamily="34" charset="-120"/>
              </a:rPr>
              <a:t>Know what is wrong with your phone, what it costs to fix, and whether to repair, sell or replace it.</a:t>
            </a:r>
            <a:endParaRPr lang="en-US" sz="1600" dirty="0"/>
          </a:p>
        </p:txBody>
      </p:sp>
      <p:sp>
        <p:nvSpPr>
          <p:cNvPr id="14" name="Text 8"/>
          <p:cNvSpPr txBox="1"/>
          <p:nvPr/>
        </p:nvSpPr>
        <p:spPr>
          <a:xfrm>
            <a:off x="457200" y="3840480"/>
            <a:ext cx="4754880" cy="274320"/>
          </a:xfrm>
          <a:prstGeom prst="rect">
            <a:avLst/>
          </a:prstGeom>
          <a:noFill/>
          <a:ln/>
        </p:spPr>
        <p:txBody>
          <a:bodyPr wrap="square" lIns="0" tIns="0" rIns="0" bIns="0" rtlCol="0" anchor="ctr"/>
          <a:lstStyle/>
          <a:p>
            <a:pPr indent="0" marL="0">
              <a:buNone/>
            </a:pPr>
            <a:r>
              <a:rPr lang="en-US" sz="1200" dirty="0">
                <a:solidFill>
                  <a:srgbClr val="1B2230"/>
                </a:solidFill>
                <a:latin typeface="Calibri" pitchFamily="34" charset="0"/>
                <a:ea typeface="Calibri" pitchFamily="34" charset="-122"/>
                <a:cs typeface="Calibri" pitchFamily="34" charset="-120"/>
              </a:rPr>
              <a:t>Android diagnosis  ·  Official repair prices  ·  Resale values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ection pill"/>
          <p:cNvSpPr/>
          <p:nvPr/>
        </p:nvSpPr>
        <p:spPr>
          <a:xfrm>
            <a:off x="457200" y="320040"/>
            <a:ext cx="1014984" cy="292608"/>
          </a:xfrm>
          <a:prstGeom prst="roundRect">
            <a:avLst>
              <a:gd name="adj" fmla="val 50000"/>
            </a:avLst>
          </a:prstGeom>
          <a:solidFill>
            <a:srgbClr val="9A7418"/>
          </a:solidFill>
          <a:ln w="12700">
            <a:solidFill>
              <a:srgbClr val="9A7418"/>
            </a:solidFill>
            <a:prstDash val="solid"/>
          </a:ln>
        </p:spPr>
      </p:sp>
      <p:sp>
        <p:nvSpPr>
          <p:cNvPr id="4" name="Text 1"/>
          <p:cNvSpPr txBox="1"/>
          <p:nvPr/>
        </p:nvSpPr>
        <p:spPr>
          <a:xfrm>
            <a:off x="457200" y="320040"/>
            <a:ext cx="1014984" cy="292608"/>
          </a:xfrm>
          <a:prstGeom prst="rect">
            <a:avLst/>
          </a:prstGeom>
          <a:noFill/>
          <a:ln/>
        </p:spPr>
        <p:txBody>
          <a:bodyPr wrap="square" lIns="0" tIns="0" rIns="0" bIns="0" rtlCol="0" anchor="ctr"/>
          <a:lstStyle/>
          <a:p>
            <a:pPr algn="ctr" indent="0" marL="0">
              <a:buNone/>
            </a:pPr>
            <a:r>
              <a:rPr lang="en-US" sz="1100" spc="100" kern="0" dirty="0">
                <a:solidFill>
                  <a:srgbClr val="FFFFFF"/>
                </a:solidFill>
                <a:latin typeface="Calibri" pitchFamily="34" charset="0"/>
                <a:ea typeface="Calibri" pitchFamily="34" charset="-122"/>
                <a:cs typeface="Calibri" pitchFamily="34" charset="-120"/>
              </a:rPr>
              <a:t>THE IDEA</a:t>
            </a:r>
            <a:endParaRPr lang="en-US" sz="1100" dirty="0"/>
          </a:p>
        </p:txBody>
      </p:sp>
      <p:sp>
        <p:nvSpPr>
          <p:cNvPr id="5" name="Text 2"/>
          <p:cNvSpPr txBox="1"/>
          <p:nvPr/>
        </p:nvSpPr>
        <p:spPr>
          <a:xfrm>
            <a:off x="457200" y="1188720"/>
            <a:ext cx="3931920" cy="1554480"/>
          </a:xfrm>
          <a:prstGeom prst="rect">
            <a:avLst/>
          </a:prstGeom>
          <a:noFill/>
          <a:ln/>
        </p:spPr>
        <p:txBody>
          <a:bodyPr wrap="square" lIns="0" tIns="0" rIns="0" bIns="0" rtlCol="0" anchor="t"/>
          <a:lstStyle/>
          <a:p>
            <a:pPr indent="0" marL="0">
              <a:buNone/>
            </a:pPr>
            <a:r>
              <a:rPr lang="en-US" sz="4000" b="1" dirty="0">
                <a:solidFill>
                  <a:srgbClr val="1B2230"/>
                </a:solidFill>
                <a:latin typeface="Cambria" pitchFamily="34" charset="0"/>
                <a:ea typeface="Cambria" pitchFamily="34" charset="-122"/>
                <a:cs typeface="Cambria" pitchFamily="34" charset="-120"/>
              </a:rPr>
              <a:t>Is my phone worth fixing?</a:t>
            </a:r>
            <a:endParaRPr lang="en-US" sz="4000" dirty="0"/>
          </a:p>
        </p:txBody>
      </p:sp>
      <p:sp>
        <p:nvSpPr>
          <p:cNvPr id="6" name="Text 3"/>
          <p:cNvSpPr txBox="1"/>
          <p:nvPr/>
        </p:nvSpPr>
        <p:spPr>
          <a:xfrm>
            <a:off x="457200" y="2880360"/>
            <a:ext cx="3749040" cy="1371600"/>
          </a:xfrm>
          <a:prstGeom prst="rect">
            <a:avLst/>
          </a:prstGeom>
          <a:noFill/>
          <a:ln/>
        </p:spPr>
        <p:txBody>
          <a:bodyPr wrap="square" lIns="0" tIns="0" rIns="0" bIns="0" rtlCol="0" anchor="t"/>
          <a:lstStyle/>
          <a:p>
            <a:pPr indent="0" marL="0">
              <a:buNone/>
            </a:pPr>
            <a:r>
              <a:rPr lang="en-US" sz="1500" dirty="0">
                <a:solidFill>
                  <a:srgbClr val="5B6577"/>
                </a:solidFill>
                <a:latin typeface="Calibri" pitchFamily="34" charset="0"/>
                <a:ea typeface="Calibri" pitchFamily="34" charset="-122"/>
                <a:cs typeface="Calibri" pitchFamily="34" charset="-120"/>
              </a:rPr>
              <a:t>Owners rarely know what is really wrong, what a fair repair costs, or what the phone would fetch if sold. FixMyTech answers all three and shows where every number comes from.</a:t>
            </a:r>
            <a:endParaRPr lang="en-US" sz="1500" dirty="0"/>
          </a:p>
        </p:txBody>
      </p:sp>
      <p:sp>
        <p:nvSpPr>
          <p:cNvPr id="7" name="Shape 4"/>
          <p:cNvSpPr/>
          <p:nvPr/>
        </p:nvSpPr>
        <p:spPr>
          <a:xfrm>
            <a:off x="4846320" y="777240"/>
            <a:ext cx="594360" cy="594360"/>
          </a:xfrm>
          <a:prstGeom prst="ellipse">
            <a:avLst/>
          </a:prstGeom>
          <a:solidFill>
            <a:srgbClr val="17877B"/>
          </a:solidFill>
          <a:ln w="12700">
            <a:solidFill>
              <a:srgbClr val="17877B"/>
            </a:solidFill>
            <a:prstDash val="solid"/>
          </a:ln>
        </p:spPr>
      </p:sp>
      <p:pic>
        <p:nvPicPr>
          <p:cNvPr id="8" name="Image 0" descr="preencoded.png">    </p:cNvPr>
          <p:cNvPicPr>
            <a:picLocks noChangeAspect="1"/>
          </p:cNvPicPr>
          <p:nvPr/>
        </p:nvPicPr>
        <p:blipFill>
          <a:blip r:embed="rId1"/>
          <a:stretch>
            <a:fillRect/>
          </a:stretch>
        </p:blipFill>
        <p:spPr>
          <a:xfrm>
            <a:off x="4994910" y="925830"/>
            <a:ext cx="297180" cy="297180"/>
          </a:xfrm>
          <a:prstGeom prst="rect">
            <a:avLst/>
          </a:prstGeom>
        </p:spPr>
      </p:pic>
      <p:sp>
        <p:nvSpPr>
          <p:cNvPr id="9" name="Text 5"/>
          <p:cNvSpPr txBox="1"/>
          <p:nvPr/>
        </p:nvSpPr>
        <p:spPr>
          <a:xfrm>
            <a:off x="5669280" y="731520"/>
            <a:ext cx="3017520" cy="365760"/>
          </a:xfrm>
          <a:prstGeom prst="rect">
            <a:avLst/>
          </a:prstGeom>
          <a:noFill/>
          <a:ln/>
        </p:spPr>
        <p:txBody>
          <a:bodyPr wrap="square" lIns="0" tIns="0" rIns="0" bIns="0" rtlCol="0" anchor="ctr"/>
          <a:lstStyle/>
          <a:p>
            <a:pPr indent="0" marL="0">
              <a:buNone/>
            </a:pPr>
            <a:r>
              <a:rPr lang="en-US" sz="2000" b="1" dirty="0">
                <a:solidFill>
                  <a:srgbClr val="17877B"/>
                </a:solidFill>
                <a:latin typeface="Cambria" pitchFamily="34" charset="0"/>
                <a:ea typeface="Cambria" pitchFamily="34" charset="-122"/>
                <a:cs typeface="Cambria" pitchFamily="34" charset="-120"/>
              </a:rPr>
              <a:t>Diagnose</a:t>
            </a:r>
            <a:endParaRPr lang="en-US" sz="2000" dirty="0"/>
          </a:p>
        </p:txBody>
      </p:sp>
      <p:sp>
        <p:nvSpPr>
          <p:cNvPr id="10" name="Text 6"/>
          <p:cNvSpPr txBox="1"/>
          <p:nvPr/>
        </p:nvSpPr>
        <p:spPr>
          <a:xfrm>
            <a:off x="5669280" y="1115568"/>
            <a:ext cx="3017520" cy="685800"/>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Read-only USB readings, hands-on tests and adaptive questions feed a transparent rule engine.</a:t>
            </a:r>
            <a:endParaRPr lang="en-US" sz="1200" dirty="0"/>
          </a:p>
        </p:txBody>
      </p:sp>
      <p:sp>
        <p:nvSpPr>
          <p:cNvPr id="11" name="Shape 7"/>
          <p:cNvSpPr/>
          <p:nvPr/>
        </p:nvSpPr>
        <p:spPr>
          <a:xfrm>
            <a:off x="4846320" y="1892808"/>
            <a:ext cx="3840480" cy="0"/>
          </a:xfrm>
          <a:prstGeom prst="line">
            <a:avLst/>
          </a:prstGeom>
          <a:noFill/>
          <a:ln w="12700">
            <a:solidFill>
              <a:srgbClr val="DDD8CC"/>
            </a:solidFill>
            <a:prstDash val="solid"/>
          </a:ln>
        </p:spPr>
      </p:sp>
      <p:sp>
        <p:nvSpPr>
          <p:cNvPr id="12" name="Shape 8"/>
          <p:cNvSpPr/>
          <p:nvPr/>
        </p:nvSpPr>
        <p:spPr>
          <a:xfrm>
            <a:off x="4846320" y="2057400"/>
            <a:ext cx="594360" cy="594360"/>
          </a:xfrm>
          <a:prstGeom prst="ellipse">
            <a:avLst/>
          </a:prstGeom>
          <a:solidFill>
            <a:srgbClr val="C75F1E"/>
          </a:solidFill>
          <a:ln w="12700">
            <a:solidFill>
              <a:srgbClr val="C75F1E"/>
            </a:solidFill>
            <a:prstDash val="solid"/>
          </a:ln>
        </p:spPr>
      </p:sp>
      <p:pic>
        <p:nvPicPr>
          <p:cNvPr id="13" name="Image 1" descr="preencoded.png">    </p:cNvPr>
          <p:cNvPicPr>
            <a:picLocks noChangeAspect="1"/>
          </p:cNvPicPr>
          <p:nvPr/>
        </p:nvPicPr>
        <p:blipFill>
          <a:blip r:embed="rId2"/>
          <a:stretch>
            <a:fillRect/>
          </a:stretch>
        </p:blipFill>
        <p:spPr>
          <a:xfrm>
            <a:off x="4994910" y="2205990"/>
            <a:ext cx="297180" cy="297180"/>
          </a:xfrm>
          <a:prstGeom prst="rect">
            <a:avLst/>
          </a:prstGeom>
        </p:spPr>
      </p:pic>
      <p:sp>
        <p:nvSpPr>
          <p:cNvPr id="14" name="Text 9"/>
          <p:cNvSpPr txBox="1"/>
          <p:nvPr/>
        </p:nvSpPr>
        <p:spPr>
          <a:xfrm>
            <a:off x="5669280" y="2011680"/>
            <a:ext cx="3017520" cy="365760"/>
          </a:xfrm>
          <a:prstGeom prst="rect">
            <a:avLst/>
          </a:prstGeom>
          <a:noFill/>
          <a:ln/>
        </p:spPr>
        <p:txBody>
          <a:bodyPr wrap="square" lIns="0" tIns="0" rIns="0" bIns="0" rtlCol="0" anchor="ctr"/>
          <a:lstStyle/>
          <a:p>
            <a:pPr indent="0" marL="0">
              <a:buNone/>
            </a:pPr>
            <a:r>
              <a:rPr lang="en-US" sz="2000" b="1" dirty="0">
                <a:solidFill>
                  <a:srgbClr val="C75F1E"/>
                </a:solidFill>
                <a:latin typeface="Cambria" pitchFamily="34" charset="0"/>
                <a:ea typeface="Cambria" pitchFamily="34" charset="-122"/>
                <a:cs typeface="Cambria" pitchFamily="34" charset="-120"/>
              </a:rPr>
              <a:t>Price</a:t>
            </a:r>
            <a:endParaRPr lang="en-US" sz="2000" dirty="0"/>
          </a:p>
        </p:txBody>
      </p:sp>
      <p:sp>
        <p:nvSpPr>
          <p:cNvPr id="15" name="Text 10"/>
          <p:cNvSpPr txBox="1"/>
          <p:nvPr/>
        </p:nvSpPr>
        <p:spPr>
          <a:xfrm>
            <a:off x="5669280" y="2395728"/>
            <a:ext cx="3017520" cy="685800"/>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Official, source-attributed repair prices with a link and date. No source, no number.</a:t>
            </a:r>
            <a:endParaRPr lang="en-US" sz="1200" dirty="0"/>
          </a:p>
        </p:txBody>
      </p:sp>
      <p:sp>
        <p:nvSpPr>
          <p:cNvPr id="16" name="Shape 11"/>
          <p:cNvSpPr/>
          <p:nvPr/>
        </p:nvSpPr>
        <p:spPr>
          <a:xfrm>
            <a:off x="4846320" y="3172968"/>
            <a:ext cx="3840480" cy="0"/>
          </a:xfrm>
          <a:prstGeom prst="line">
            <a:avLst/>
          </a:prstGeom>
          <a:noFill/>
          <a:ln w="12700">
            <a:solidFill>
              <a:srgbClr val="DDD8CC"/>
            </a:solidFill>
            <a:prstDash val="solid"/>
          </a:ln>
        </p:spPr>
      </p:sp>
      <p:sp>
        <p:nvSpPr>
          <p:cNvPr id="17" name="Shape 12"/>
          <p:cNvSpPr/>
          <p:nvPr/>
        </p:nvSpPr>
        <p:spPr>
          <a:xfrm>
            <a:off x="4846320" y="3337560"/>
            <a:ext cx="594360" cy="594360"/>
          </a:xfrm>
          <a:prstGeom prst="ellipse">
            <a:avLst/>
          </a:prstGeom>
          <a:solidFill>
            <a:srgbClr val="6E52C2"/>
          </a:solidFill>
          <a:ln w="12700">
            <a:solidFill>
              <a:srgbClr val="6E52C2"/>
            </a:solidFill>
            <a:prstDash val="solid"/>
          </a:ln>
        </p:spPr>
      </p:sp>
      <p:pic>
        <p:nvPicPr>
          <p:cNvPr id="18" name="Image 2" descr="preencoded.png">    </p:cNvPr>
          <p:cNvPicPr>
            <a:picLocks noChangeAspect="1"/>
          </p:cNvPicPr>
          <p:nvPr/>
        </p:nvPicPr>
        <p:blipFill>
          <a:blip r:embed="rId3"/>
          <a:stretch>
            <a:fillRect/>
          </a:stretch>
        </p:blipFill>
        <p:spPr>
          <a:xfrm>
            <a:off x="4994910" y="3486150"/>
            <a:ext cx="297180" cy="297180"/>
          </a:xfrm>
          <a:prstGeom prst="rect">
            <a:avLst/>
          </a:prstGeom>
        </p:spPr>
      </p:pic>
      <p:sp>
        <p:nvSpPr>
          <p:cNvPr id="19" name="Text 13"/>
          <p:cNvSpPr txBox="1"/>
          <p:nvPr/>
        </p:nvSpPr>
        <p:spPr>
          <a:xfrm>
            <a:off x="5669280" y="3291840"/>
            <a:ext cx="3017520" cy="365760"/>
          </a:xfrm>
          <a:prstGeom prst="rect">
            <a:avLst/>
          </a:prstGeom>
          <a:noFill/>
          <a:ln/>
        </p:spPr>
        <p:txBody>
          <a:bodyPr wrap="square" lIns="0" tIns="0" rIns="0" bIns="0" rtlCol="0" anchor="ctr"/>
          <a:lstStyle/>
          <a:p>
            <a:pPr indent="0" marL="0">
              <a:buNone/>
            </a:pPr>
            <a:r>
              <a:rPr lang="en-US" sz="2000" b="1" dirty="0">
                <a:solidFill>
                  <a:srgbClr val="6E52C2"/>
                </a:solidFill>
                <a:latin typeface="Cambria" pitchFamily="34" charset="0"/>
                <a:ea typeface="Cambria" pitchFamily="34" charset="-122"/>
                <a:cs typeface="Cambria" pitchFamily="34" charset="-120"/>
              </a:rPr>
              <a:t>Decide</a:t>
            </a:r>
            <a:endParaRPr lang="en-US" sz="2000" dirty="0"/>
          </a:p>
        </p:txBody>
      </p:sp>
      <p:sp>
        <p:nvSpPr>
          <p:cNvPr id="20" name="Text 14"/>
          <p:cNvSpPr txBox="1"/>
          <p:nvPr/>
        </p:nvSpPr>
        <p:spPr>
          <a:xfrm>
            <a:off x="5669280" y="3675888"/>
            <a:ext cx="3017520" cy="685800"/>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Repair vs sell vs replace, compared with resale values and an honest range.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pill"/>
          <p:cNvSpPr/>
          <p:nvPr/>
        </p:nvSpPr>
        <p:spPr>
          <a:xfrm>
            <a:off x="457200" y="320040"/>
            <a:ext cx="1503273" cy="292608"/>
          </a:xfrm>
          <a:prstGeom prst="roundRect">
            <a:avLst>
              <a:gd name="adj" fmla="val 50000"/>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503273" cy="292608"/>
          </a:xfrm>
          <a:prstGeom prst="rect">
            <a:avLst/>
          </a:prstGeom>
          <a:noFill/>
        </p:spPr>
        <p:txBody>
          <a:bodyPr wrap="square" lIns="0" rIns="0" tIns="0" bIns="0" anchor="ctr">
            <a:spAutoFit/>
          </a:bodyPr>
          <a:lstStyle/>
          <a:p>
            <a:pPr algn="ctr"/>
            <a:r>
              <a:rPr sz="1100" b="0" i="0" spc="100">
                <a:solidFill>
                  <a:srgbClr val="FFFFFF"/>
                </a:solidFill>
                <a:latin typeface="Calibri"/>
              </a:rPr>
              <a:t>THE WORKFLOW</a:t>
            </a:r>
          </a:p>
        </p:txBody>
      </p:sp>
      <p:sp>
        <p:nvSpPr>
          <p:cNvPr id="4" name="Title"/>
          <p:cNvSpPr txBox="1"/>
          <p:nvPr/>
        </p:nvSpPr>
        <p:spPr>
          <a:xfrm>
            <a:off x="457200" y="685800"/>
            <a:ext cx="8229600" cy="640080"/>
          </a:xfrm>
          <a:prstGeom prst="rect">
            <a:avLst/>
          </a:prstGeom>
          <a:noFill/>
        </p:spPr>
        <p:txBody>
          <a:bodyPr wrap="square" lIns="0" rIns="0" tIns="0" bIns="0" anchor="ctr">
            <a:spAutoFit/>
          </a:bodyPr>
          <a:lstStyle/>
          <a:p>
            <a:pPr algn="l"/>
            <a:r>
              <a:rPr sz="3400" b="1" i="0">
                <a:solidFill>
                  <a:srgbClr val="1B2230"/>
                </a:solidFill>
                <a:latin typeface="Cambria"/>
              </a:rPr>
              <a:t>How a diagnosis </a:t>
            </a:r>
            <a:r>
              <a:rPr sz="3400" b="1" i="0">
                <a:solidFill>
                  <a:srgbClr val="9A7418"/>
                </a:solidFill>
                <a:latin typeface="Cambria"/>
              </a:rPr>
              <a:t>flows</a:t>
            </a:r>
          </a:p>
        </p:txBody>
      </p:sp>
      <p:sp>
        <p:nvSpPr>
          <p:cNvPr id="5" name="Slide number"/>
          <p:cNvSpPr txBox="1"/>
          <p:nvPr/>
        </p:nvSpPr>
        <p:spPr>
          <a:xfrm>
            <a:off x="8229600" y="4754880"/>
            <a:ext cx="457200" cy="228600"/>
          </a:xfrm>
          <a:prstGeom prst="rect">
            <a:avLst/>
          </a:prstGeom>
          <a:noFill/>
        </p:spPr>
        <p:txBody>
          <a:bodyPr wrap="square" lIns="0" rIns="0" tIns="0" bIns="0" anchor="t">
            <a:spAutoFit/>
          </a:bodyPr>
          <a:lstStyle/>
          <a:p>
            <a:pPr algn="r"/>
            <a:r>
              <a:rPr sz="1000" b="0" i="0">
                <a:solidFill>
                  <a:srgbClr val="5B6577"/>
                </a:solidFill>
                <a:latin typeface="Calibri"/>
              </a:rPr>
              <a:t>3</a:t>
            </a:r>
          </a:p>
        </p:txBody>
      </p:sp>
      <p:sp>
        <p:nvSpPr>
          <p:cNvPr id="6" name="Stage 1"/>
          <p:cNvSpPr/>
          <p:nvPr/>
        </p:nvSpPr>
        <p:spPr>
          <a:xfrm>
            <a:off x="457200" y="1417320"/>
            <a:ext cx="1954530" cy="1417320"/>
          </a:xfrm>
          <a:prstGeom prst="roundRect">
            <a:avLst>
              <a:gd name="adj" fmla="val 7741"/>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nsent.png"/>
          <p:cNvPicPr>
            <a:picLocks noChangeAspect="1"/>
          </p:cNvPicPr>
          <p:nvPr/>
        </p:nvPicPr>
        <p:blipFill>
          <a:blip r:embed="rId3"/>
          <a:stretch>
            <a:fillRect/>
          </a:stretch>
        </p:blipFill>
        <p:spPr>
          <a:xfrm>
            <a:off x="594360" y="1545336"/>
            <a:ext cx="420624" cy="420624"/>
          </a:xfrm>
          <a:prstGeom prst="rect">
            <a:avLst/>
          </a:prstGeom>
        </p:spPr>
      </p:pic>
      <p:sp>
        <p:nvSpPr>
          <p:cNvPr id="8" name="TextBox 7"/>
          <p:cNvSpPr txBox="1"/>
          <p:nvPr/>
        </p:nvSpPr>
        <p:spPr>
          <a:xfrm>
            <a:off x="1908810" y="1545336"/>
            <a:ext cx="365760" cy="201168"/>
          </a:xfrm>
          <a:prstGeom prst="rect">
            <a:avLst/>
          </a:prstGeom>
          <a:noFill/>
        </p:spPr>
        <p:txBody>
          <a:bodyPr wrap="square" lIns="0" rIns="0" tIns="0" bIns="0" anchor="t">
            <a:spAutoFit/>
          </a:bodyPr>
          <a:lstStyle/>
          <a:p>
            <a:pPr algn="r"/>
            <a:r>
              <a:rPr sz="1100" b="0" i="0">
                <a:solidFill>
                  <a:srgbClr val="5B6577"/>
                </a:solidFill>
                <a:latin typeface="Calibri"/>
              </a:rPr>
              <a:t>01</a:t>
            </a:r>
          </a:p>
        </p:txBody>
      </p:sp>
      <p:sp>
        <p:nvSpPr>
          <p:cNvPr id="9" name="TextBox 8"/>
          <p:cNvSpPr txBox="1"/>
          <p:nvPr/>
        </p:nvSpPr>
        <p:spPr>
          <a:xfrm>
            <a:off x="594360" y="2011680"/>
            <a:ext cx="1680210" cy="237744"/>
          </a:xfrm>
          <a:prstGeom prst="rect">
            <a:avLst/>
          </a:prstGeom>
          <a:noFill/>
        </p:spPr>
        <p:txBody>
          <a:bodyPr wrap="square" lIns="0" rIns="0" tIns="0" bIns="0" anchor="t">
            <a:spAutoFit/>
          </a:bodyPr>
          <a:lstStyle/>
          <a:p>
            <a:pPr algn="l"/>
            <a:r>
              <a:rPr sz="1500" b="1" i="0">
                <a:solidFill>
                  <a:srgbClr val="6E52C2"/>
                </a:solidFill>
                <a:latin typeface="Cambria"/>
              </a:rPr>
              <a:t>Consent</a:t>
            </a:r>
          </a:p>
        </p:txBody>
      </p:sp>
      <p:sp>
        <p:nvSpPr>
          <p:cNvPr id="10" name="TextBox 9"/>
          <p:cNvSpPr txBox="1"/>
          <p:nvPr/>
        </p:nvSpPr>
        <p:spPr>
          <a:xfrm>
            <a:off x="594360" y="2249424"/>
            <a:ext cx="1680210" cy="182880"/>
          </a:xfrm>
          <a:prstGeom prst="rect">
            <a:avLst/>
          </a:prstGeom>
          <a:noFill/>
        </p:spPr>
        <p:txBody>
          <a:bodyPr wrap="square" lIns="0" rIns="0" tIns="0" bIns="0" anchor="t">
            <a:spAutoFit/>
          </a:bodyPr>
          <a:lstStyle/>
          <a:p>
            <a:pPr algn="l"/>
            <a:r>
              <a:rPr sz="1150" b="1" i="0">
                <a:solidFill>
                  <a:srgbClr val="1B2230"/>
                </a:solidFill>
                <a:latin typeface="Calibri"/>
              </a:rPr>
              <a:t>Start a session</a:t>
            </a:r>
          </a:p>
        </p:txBody>
      </p:sp>
      <p:sp>
        <p:nvSpPr>
          <p:cNvPr id="11" name="TextBox 10"/>
          <p:cNvSpPr txBox="1"/>
          <p:nvPr/>
        </p:nvSpPr>
        <p:spPr>
          <a:xfrm>
            <a:off x="594360" y="2441448"/>
            <a:ext cx="1680210" cy="310896"/>
          </a:xfrm>
          <a:prstGeom prst="rect">
            <a:avLst/>
          </a:prstGeom>
          <a:noFill/>
        </p:spPr>
        <p:txBody>
          <a:bodyPr wrap="square" lIns="0" rIns="0" tIns="0" bIns="0" anchor="t">
            <a:spAutoFit/>
          </a:bodyPr>
          <a:lstStyle/>
          <a:p>
            <a:pPr algn="l"/>
            <a:r>
              <a:rPr sz="1000" b="0" i="0">
                <a:solidFill>
                  <a:srgbClr val="5B6577"/>
                </a:solidFill>
                <a:latin typeface="Calibri"/>
              </a:rPr>
              <a:t>Nothing is scanned until the customer agrees.</a:t>
            </a:r>
          </a:p>
        </p:txBody>
      </p:sp>
      <p:sp>
        <p:nvSpPr>
          <p:cNvPr id="12" name="Stage 2"/>
          <p:cNvSpPr/>
          <p:nvPr/>
        </p:nvSpPr>
        <p:spPr>
          <a:xfrm>
            <a:off x="2548890" y="1417320"/>
            <a:ext cx="1954530" cy="1417320"/>
          </a:xfrm>
          <a:prstGeom prst="roundRect">
            <a:avLst>
              <a:gd name="adj" fmla="val 7741"/>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onnect.png"/>
          <p:cNvPicPr>
            <a:picLocks noChangeAspect="1"/>
          </p:cNvPicPr>
          <p:nvPr/>
        </p:nvPicPr>
        <p:blipFill>
          <a:blip r:embed="rId4"/>
          <a:stretch>
            <a:fillRect/>
          </a:stretch>
        </p:blipFill>
        <p:spPr>
          <a:xfrm>
            <a:off x="2686050" y="1545336"/>
            <a:ext cx="420624" cy="420624"/>
          </a:xfrm>
          <a:prstGeom prst="rect">
            <a:avLst/>
          </a:prstGeom>
        </p:spPr>
      </p:pic>
      <p:sp>
        <p:nvSpPr>
          <p:cNvPr id="14" name="TextBox 13"/>
          <p:cNvSpPr txBox="1"/>
          <p:nvPr/>
        </p:nvSpPr>
        <p:spPr>
          <a:xfrm>
            <a:off x="4000500" y="1545336"/>
            <a:ext cx="365760" cy="201168"/>
          </a:xfrm>
          <a:prstGeom prst="rect">
            <a:avLst/>
          </a:prstGeom>
          <a:noFill/>
        </p:spPr>
        <p:txBody>
          <a:bodyPr wrap="square" lIns="0" rIns="0" tIns="0" bIns="0" anchor="t">
            <a:spAutoFit/>
          </a:bodyPr>
          <a:lstStyle/>
          <a:p>
            <a:pPr algn="r"/>
            <a:r>
              <a:rPr sz="1100" b="0" i="0">
                <a:solidFill>
                  <a:srgbClr val="5B6577"/>
                </a:solidFill>
                <a:latin typeface="Calibri"/>
              </a:rPr>
              <a:t>02</a:t>
            </a:r>
          </a:p>
        </p:txBody>
      </p:sp>
      <p:sp>
        <p:nvSpPr>
          <p:cNvPr id="15" name="TextBox 14"/>
          <p:cNvSpPr txBox="1"/>
          <p:nvPr/>
        </p:nvSpPr>
        <p:spPr>
          <a:xfrm>
            <a:off x="2686050" y="2011680"/>
            <a:ext cx="1680210" cy="237744"/>
          </a:xfrm>
          <a:prstGeom prst="rect">
            <a:avLst/>
          </a:prstGeom>
          <a:noFill/>
        </p:spPr>
        <p:txBody>
          <a:bodyPr wrap="square" lIns="0" rIns="0" tIns="0" bIns="0" anchor="t">
            <a:spAutoFit/>
          </a:bodyPr>
          <a:lstStyle/>
          <a:p>
            <a:pPr algn="l"/>
            <a:r>
              <a:rPr sz="1500" b="1" i="0">
                <a:solidFill>
                  <a:srgbClr val="C75F1E"/>
                </a:solidFill>
                <a:latin typeface="Cambria"/>
              </a:rPr>
              <a:t>Connect</a:t>
            </a:r>
          </a:p>
        </p:txBody>
      </p:sp>
      <p:sp>
        <p:nvSpPr>
          <p:cNvPr id="16" name="TextBox 15"/>
          <p:cNvSpPr txBox="1"/>
          <p:nvPr/>
        </p:nvSpPr>
        <p:spPr>
          <a:xfrm>
            <a:off x="2686050" y="2249424"/>
            <a:ext cx="1680210" cy="182880"/>
          </a:xfrm>
          <a:prstGeom prst="rect">
            <a:avLst/>
          </a:prstGeom>
          <a:noFill/>
        </p:spPr>
        <p:txBody>
          <a:bodyPr wrap="square" lIns="0" rIns="0" tIns="0" bIns="0" anchor="t">
            <a:spAutoFit/>
          </a:bodyPr>
          <a:lstStyle/>
          <a:p>
            <a:pPr algn="l"/>
            <a:r>
              <a:rPr sz="1150" b="1" i="0">
                <a:solidFill>
                  <a:srgbClr val="1B2230"/>
                </a:solidFill>
                <a:latin typeface="Calibri"/>
              </a:rPr>
              <a:t>Pair the local agent</a:t>
            </a:r>
          </a:p>
        </p:txBody>
      </p:sp>
      <p:sp>
        <p:nvSpPr>
          <p:cNvPr id="17" name="TextBox 16"/>
          <p:cNvSpPr txBox="1"/>
          <p:nvPr/>
        </p:nvSpPr>
        <p:spPr>
          <a:xfrm>
            <a:off x="2686050" y="2441448"/>
            <a:ext cx="1680210" cy="310896"/>
          </a:xfrm>
          <a:prstGeom prst="rect">
            <a:avLst/>
          </a:prstGeom>
          <a:noFill/>
        </p:spPr>
        <p:txBody>
          <a:bodyPr wrap="square" lIns="0" rIns="0" tIns="0" bIns="0" anchor="t">
            <a:spAutoFit/>
          </a:bodyPr>
          <a:lstStyle/>
          <a:p>
            <a:pPr algn="l"/>
            <a:r>
              <a:rPr sz="1000" b="0" i="0">
                <a:solidFill>
                  <a:srgbClr val="5B6577"/>
                </a:solidFill>
                <a:latin typeface="Calibri"/>
              </a:rPr>
              <a:t>The agent on 127.0.0.1 pairs with the browser by token.</a:t>
            </a:r>
          </a:p>
        </p:txBody>
      </p:sp>
      <p:sp>
        <p:nvSpPr>
          <p:cNvPr id="18" name="Stage 3"/>
          <p:cNvSpPr/>
          <p:nvPr/>
        </p:nvSpPr>
        <p:spPr>
          <a:xfrm>
            <a:off x="4640580" y="1417320"/>
            <a:ext cx="1954530" cy="1417320"/>
          </a:xfrm>
          <a:prstGeom prst="roundRect">
            <a:avLst>
              <a:gd name="adj" fmla="val 7741"/>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can.png"/>
          <p:cNvPicPr>
            <a:picLocks noChangeAspect="1"/>
          </p:cNvPicPr>
          <p:nvPr/>
        </p:nvPicPr>
        <p:blipFill>
          <a:blip r:embed="rId5"/>
          <a:stretch>
            <a:fillRect/>
          </a:stretch>
        </p:blipFill>
        <p:spPr>
          <a:xfrm>
            <a:off x="4777740" y="1545336"/>
            <a:ext cx="420624" cy="420624"/>
          </a:xfrm>
          <a:prstGeom prst="rect">
            <a:avLst/>
          </a:prstGeom>
        </p:spPr>
      </p:pic>
      <p:sp>
        <p:nvSpPr>
          <p:cNvPr id="20" name="TextBox 19"/>
          <p:cNvSpPr txBox="1"/>
          <p:nvPr/>
        </p:nvSpPr>
        <p:spPr>
          <a:xfrm>
            <a:off x="6092190" y="1545336"/>
            <a:ext cx="365760" cy="201168"/>
          </a:xfrm>
          <a:prstGeom prst="rect">
            <a:avLst/>
          </a:prstGeom>
          <a:noFill/>
        </p:spPr>
        <p:txBody>
          <a:bodyPr wrap="square" lIns="0" rIns="0" tIns="0" bIns="0" anchor="t">
            <a:spAutoFit/>
          </a:bodyPr>
          <a:lstStyle/>
          <a:p>
            <a:pPr algn="r"/>
            <a:r>
              <a:rPr sz="1100" b="0" i="0">
                <a:solidFill>
                  <a:srgbClr val="5B6577"/>
                </a:solidFill>
                <a:latin typeface="Calibri"/>
              </a:rPr>
              <a:t>03</a:t>
            </a:r>
          </a:p>
        </p:txBody>
      </p:sp>
      <p:sp>
        <p:nvSpPr>
          <p:cNvPr id="21" name="TextBox 20"/>
          <p:cNvSpPr txBox="1"/>
          <p:nvPr/>
        </p:nvSpPr>
        <p:spPr>
          <a:xfrm>
            <a:off x="4777740" y="2011680"/>
            <a:ext cx="1680210" cy="237744"/>
          </a:xfrm>
          <a:prstGeom prst="rect">
            <a:avLst/>
          </a:prstGeom>
          <a:noFill/>
        </p:spPr>
        <p:txBody>
          <a:bodyPr wrap="square" lIns="0" rIns="0" tIns="0" bIns="0" anchor="t">
            <a:spAutoFit/>
          </a:bodyPr>
          <a:lstStyle/>
          <a:p>
            <a:pPr algn="l"/>
            <a:r>
              <a:rPr sz="1500" b="1" i="0">
                <a:solidFill>
                  <a:srgbClr val="17877B"/>
                </a:solidFill>
                <a:latin typeface="Cambria"/>
              </a:rPr>
              <a:t>Scan</a:t>
            </a:r>
          </a:p>
        </p:txBody>
      </p:sp>
      <p:sp>
        <p:nvSpPr>
          <p:cNvPr id="22" name="TextBox 21"/>
          <p:cNvSpPr txBox="1"/>
          <p:nvPr/>
        </p:nvSpPr>
        <p:spPr>
          <a:xfrm>
            <a:off x="4777740" y="2249424"/>
            <a:ext cx="1680210" cy="182880"/>
          </a:xfrm>
          <a:prstGeom prst="rect">
            <a:avLst/>
          </a:prstGeom>
          <a:noFill/>
        </p:spPr>
        <p:txBody>
          <a:bodyPr wrap="square" lIns="0" rIns="0" tIns="0" bIns="0" anchor="t">
            <a:spAutoFit/>
          </a:bodyPr>
          <a:lstStyle/>
          <a:p>
            <a:pPr algn="l"/>
            <a:r>
              <a:rPr sz="1150" b="1" i="0">
                <a:solidFill>
                  <a:srgbClr val="1B2230"/>
                </a:solidFill>
                <a:latin typeface="Calibri"/>
              </a:rPr>
              <a:t>Read-only ADB checks</a:t>
            </a:r>
          </a:p>
        </p:txBody>
      </p:sp>
      <p:sp>
        <p:nvSpPr>
          <p:cNvPr id="23" name="TextBox 22"/>
          <p:cNvSpPr txBox="1"/>
          <p:nvPr/>
        </p:nvSpPr>
        <p:spPr>
          <a:xfrm>
            <a:off x="4777740" y="2441448"/>
            <a:ext cx="1680210" cy="310896"/>
          </a:xfrm>
          <a:prstGeom prst="rect">
            <a:avLst/>
          </a:prstGeom>
          <a:noFill/>
        </p:spPr>
        <p:txBody>
          <a:bodyPr wrap="square" lIns="0" rIns="0" tIns="0" bIns="0" anchor="t">
            <a:spAutoFit/>
          </a:bodyPr>
          <a:lstStyle/>
          <a:p>
            <a:pPr algn="l"/>
            <a:r>
              <a:rPr sz="1000" b="0" i="0">
                <a:solidFill>
                  <a:srgbClr val="5B6577"/>
                </a:solidFill>
                <a:latin typeface="Calibri"/>
              </a:rPr>
              <a:t>15 allowlisted commands read battery, storage and sensors.</a:t>
            </a:r>
          </a:p>
        </p:txBody>
      </p:sp>
      <p:sp>
        <p:nvSpPr>
          <p:cNvPr id="24" name="Stage 4"/>
          <p:cNvSpPr/>
          <p:nvPr/>
        </p:nvSpPr>
        <p:spPr>
          <a:xfrm>
            <a:off x="6732270" y="1417320"/>
            <a:ext cx="1954530" cy="1417320"/>
          </a:xfrm>
          <a:prstGeom prst="roundRect">
            <a:avLst>
              <a:gd name="adj" fmla="val 7741"/>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honetests.png"/>
          <p:cNvPicPr>
            <a:picLocks noChangeAspect="1"/>
          </p:cNvPicPr>
          <p:nvPr/>
        </p:nvPicPr>
        <p:blipFill>
          <a:blip r:embed="rId6"/>
          <a:stretch>
            <a:fillRect/>
          </a:stretch>
        </p:blipFill>
        <p:spPr>
          <a:xfrm>
            <a:off x="6869430" y="1545336"/>
            <a:ext cx="420624" cy="420624"/>
          </a:xfrm>
          <a:prstGeom prst="rect">
            <a:avLst/>
          </a:prstGeom>
        </p:spPr>
      </p:pic>
      <p:sp>
        <p:nvSpPr>
          <p:cNvPr id="26" name="TextBox 25"/>
          <p:cNvSpPr txBox="1"/>
          <p:nvPr/>
        </p:nvSpPr>
        <p:spPr>
          <a:xfrm>
            <a:off x="8183879" y="1545336"/>
            <a:ext cx="365760" cy="201168"/>
          </a:xfrm>
          <a:prstGeom prst="rect">
            <a:avLst/>
          </a:prstGeom>
          <a:noFill/>
        </p:spPr>
        <p:txBody>
          <a:bodyPr wrap="square" lIns="0" rIns="0" tIns="0" bIns="0" anchor="t">
            <a:spAutoFit/>
          </a:bodyPr>
          <a:lstStyle/>
          <a:p>
            <a:pPr algn="r"/>
            <a:r>
              <a:rPr sz="1100" b="0" i="0">
                <a:solidFill>
                  <a:srgbClr val="5B6577"/>
                </a:solidFill>
                <a:latin typeface="Calibri"/>
              </a:rPr>
              <a:t>04</a:t>
            </a:r>
          </a:p>
        </p:txBody>
      </p:sp>
      <p:sp>
        <p:nvSpPr>
          <p:cNvPr id="27" name="TextBox 26"/>
          <p:cNvSpPr txBox="1"/>
          <p:nvPr/>
        </p:nvSpPr>
        <p:spPr>
          <a:xfrm>
            <a:off x="6869430" y="2011680"/>
            <a:ext cx="1680210" cy="237744"/>
          </a:xfrm>
          <a:prstGeom prst="rect">
            <a:avLst/>
          </a:prstGeom>
          <a:noFill/>
        </p:spPr>
        <p:txBody>
          <a:bodyPr wrap="square" lIns="0" rIns="0" tIns="0" bIns="0" anchor="t">
            <a:spAutoFit/>
          </a:bodyPr>
          <a:lstStyle/>
          <a:p>
            <a:pPr algn="l"/>
            <a:r>
              <a:rPr sz="1500" b="1" i="0">
                <a:solidFill>
                  <a:srgbClr val="9A7418"/>
                </a:solidFill>
                <a:latin typeface="Cambria"/>
              </a:rPr>
              <a:t>Phone Tests</a:t>
            </a:r>
          </a:p>
        </p:txBody>
      </p:sp>
      <p:sp>
        <p:nvSpPr>
          <p:cNvPr id="28" name="TextBox 27"/>
          <p:cNvSpPr txBox="1"/>
          <p:nvPr/>
        </p:nvSpPr>
        <p:spPr>
          <a:xfrm>
            <a:off x="6869430" y="2249424"/>
            <a:ext cx="1680210" cy="182880"/>
          </a:xfrm>
          <a:prstGeom prst="rect">
            <a:avLst/>
          </a:prstGeom>
          <a:noFill/>
        </p:spPr>
        <p:txBody>
          <a:bodyPr wrap="square" lIns="0" rIns="0" tIns="0" bIns="0" anchor="t">
            <a:spAutoFit/>
          </a:bodyPr>
          <a:lstStyle/>
          <a:p>
            <a:pPr algn="l"/>
            <a:r>
              <a:rPr sz="1150" b="1" i="0">
                <a:solidFill>
                  <a:srgbClr val="1B2230"/>
                </a:solidFill>
                <a:latin typeface="Calibri"/>
              </a:rPr>
              <a:t>Touch, mic, camera</a:t>
            </a:r>
          </a:p>
        </p:txBody>
      </p:sp>
      <p:sp>
        <p:nvSpPr>
          <p:cNvPr id="29" name="TextBox 28"/>
          <p:cNvSpPr txBox="1"/>
          <p:nvPr/>
        </p:nvSpPr>
        <p:spPr>
          <a:xfrm>
            <a:off x="6869430" y="2441448"/>
            <a:ext cx="1680210" cy="310896"/>
          </a:xfrm>
          <a:prstGeom prst="rect">
            <a:avLst/>
          </a:prstGeom>
          <a:noFill/>
        </p:spPr>
        <p:txBody>
          <a:bodyPr wrap="square" lIns="0" rIns="0" tIns="0" bIns="0" anchor="t">
            <a:spAutoFit/>
          </a:bodyPr>
          <a:lstStyle/>
          <a:p>
            <a:pPr algn="l"/>
            <a:r>
              <a:rPr sz="1000" b="0" i="0">
                <a:solidFill>
                  <a:srgbClr val="5B6577"/>
                </a:solidFill>
                <a:latin typeface="Calibri"/>
              </a:rPr>
              <a:t>Guided tests run in the phone's own browser.</a:t>
            </a:r>
          </a:p>
        </p:txBody>
      </p:sp>
      <p:sp>
        <p:nvSpPr>
          <p:cNvPr id="30" name="Stage 5"/>
          <p:cNvSpPr/>
          <p:nvPr/>
        </p:nvSpPr>
        <p:spPr>
          <a:xfrm>
            <a:off x="457200" y="2926080"/>
            <a:ext cx="1954530" cy="1417320"/>
          </a:xfrm>
          <a:prstGeom prst="roundRect">
            <a:avLst>
              <a:gd name="adj" fmla="val 7741"/>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questions.png"/>
          <p:cNvPicPr>
            <a:picLocks noChangeAspect="1"/>
          </p:cNvPicPr>
          <p:nvPr/>
        </p:nvPicPr>
        <p:blipFill>
          <a:blip r:embed="rId7"/>
          <a:stretch>
            <a:fillRect/>
          </a:stretch>
        </p:blipFill>
        <p:spPr>
          <a:xfrm>
            <a:off x="594360" y="3054096"/>
            <a:ext cx="420624" cy="420624"/>
          </a:xfrm>
          <a:prstGeom prst="rect">
            <a:avLst/>
          </a:prstGeom>
        </p:spPr>
      </p:pic>
      <p:sp>
        <p:nvSpPr>
          <p:cNvPr id="32" name="TextBox 31"/>
          <p:cNvSpPr txBox="1"/>
          <p:nvPr/>
        </p:nvSpPr>
        <p:spPr>
          <a:xfrm>
            <a:off x="1908810" y="3054096"/>
            <a:ext cx="365760" cy="201168"/>
          </a:xfrm>
          <a:prstGeom prst="rect">
            <a:avLst/>
          </a:prstGeom>
          <a:noFill/>
        </p:spPr>
        <p:txBody>
          <a:bodyPr wrap="square" lIns="0" rIns="0" tIns="0" bIns="0" anchor="t">
            <a:spAutoFit/>
          </a:bodyPr>
          <a:lstStyle/>
          <a:p>
            <a:pPr algn="r"/>
            <a:r>
              <a:rPr sz="1100" b="0" i="0">
                <a:solidFill>
                  <a:srgbClr val="5B6577"/>
                </a:solidFill>
                <a:latin typeface="Calibri"/>
              </a:rPr>
              <a:t>05</a:t>
            </a:r>
          </a:p>
        </p:txBody>
      </p:sp>
      <p:sp>
        <p:nvSpPr>
          <p:cNvPr id="33" name="TextBox 32"/>
          <p:cNvSpPr txBox="1"/>
          <p:nvPr/>
        </p:nvSpPr>
        <p:spPr>
          <a:xfrm>
            <a:off x="594360" y="3520440"/>
            <a:ext cx="1680210" cy="237744"/>
          </a:xfrm>
          <a:prstGeom prst="rect">
            <a:avLst/>
          </a:prstGeom>
          <a:noFill/>
        </p:spPr>
        <p:txBody>
          <a:bodyPr wrap="square" lIns="0" rIns="0" tIns="0" bIns="0" anchor="t">
            <a:spAutoFit/>
          </a:bodyPr>
          <a:lstStyle/>
          <a:p>
            <a:pPr algn="l"/>
            <a:r>
              <a:rPr sz="1500" b="1" i="0">
                <a:solidFill>
                  <a:srgbClr val="B8325F"/>
                </a:solidFill>
                <a:latin typeface="Cambria"/>
              </a:rPr>
              <a:t>Questions</a:t>
            </a:r>
          </a:p>
        </p:txBody>
      </p:sp>
      <p:sp>
        <p:nvSpPr>
          <p:cNvPr id="34" name="TextBox 33"/>
          <p:cNvSpPr txBox="1"/>
          <p:nvPr/>
        </p:nvSpPr>
        <p:spPr>
          <a:xfrm>
            <a:off x="594360" y="3758184"/>
            <a:ext cx="1680210" cy="182880"/>
          </a:xfrm>
          <a:prstGeom prst="rect">
            <a:avLst/>
          </a:prstGeom>
          <a:noFill/>
        </p:spPr>
        <p:txBody>
          <a:bodyPr wrap="square" lIns="0" rIns="0" tIns="0" bIns="0" anchor="t">
            <a:spAutoFit/>
          </a:bodyPr>
          <a:lstStyle/>
          <a:p>
            <a:pPr algn="l"/>
            <a:r>
              <a:rPr sz="1150" b="1" i="0">
                <a:solidFill>
                  <a:srgbClr val="1B2230"/>
                </a:solidFill>
                <a:latin typeface="Calibri"/>
              </a:rPr>
              <a:t>Adaptive symptoms</a:t>
            </a:r>
          </a:p>
        </p:txBody>
      </p:sp>
      <p:sp>
        <p:nvSpPr>
          <p:cNvPr id="35" name="TextBox 34"/>
          <p:cNvSpPr txBox="1"/>
          <p:nvPr/>
        </p:nvSpPr>
        <p:spPr>
          <a:xfrm>
            <a:off x="594360" y="3950208"/>
            <a:ext cx="1680210" cy="310896"/>
          </a:xfrm>
          <a:prstGeom prst="rect">
            <a:avLst/>
          </a:prstGeom>
          <a:noFill/>
        </p:spPr>
        <p:txBody>
          <a:bodyPr wrap="square" lIns="0" rIns="0" tIns="0" bIns="0" anchor="t">
            <a:spAutoFit/>
          </a:bodyPr>
          <a:lstStyle/>
          <a:p>
            <a:pPr algn="l"/>
            <a:r>
              <a:rPr sz="1000" b="0" i="0">
                <a:solidFill>
                  <a:srgbClr val="5B6577"/>
                </a:solidFill>
                <a:latin typeface="Calibri"/>
              </a:rPr>
              <a:t>Asks only what the tests have not already answered.</a:t>
            </a:r>
          </a:p>
        </p:txBody>
      </p:sp>
      <p:sp>
        <p:nvSpPr>
          <p:cNvPr id="36" name="Stage 6"/>
          <p:cNvSpPr/>
          <p:nvPr/>
        </p:nvSpPr>
        <p:spPr>
          <a:xfrm>
            <a:off x="2548890" y="2926080"/>
            <a:ext cx="1954530" cy="1417320"/>
          </a:xfrm>
          <a:prstGeom prst="roundRect">
            <a:avLst>
              <a:gd name="adj" fmla="val 7741"/>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diagnosis.png"/>
          <p:cNvPicPr>
            <a:picLocks noChangeAspect="1"/>
          </p:cNvPicPr>
          <p:nvPr/>
        </p:nvPicPr>
        <p:blipFill>
          <a:blip r:embed="rId8"/>
          <a:stretch>
            <a:fillRect/>
          </a:stretch>
        </p:blipFill>
        <p:spPr>
          <a:xfrm>
            <a:off x="2686050" y="3054096"/>
            <a:ext cx="420624" cy="420624"/>
          </a:xfrm>
          <a:prstGeom prst="rect">
            <a:avLst/>
          </a:prstGeom>
        </p:spPr>
      </p:pic>
      <p:sp>
        <p:nvSpPr>
          <p:cNvPr id="38" name="TextBox 37"/>
          <p:cNvSpPr txBox="1"/>
          <p:nvPr/>
        </p:nvSpPr>
        <p:spPr>
          <a:xfrm>
            <a:off x="4000500" y="3054096"/>
            <a:ext cx="365760" cy="201168"/>
          </a:xfrm>
          <a:prstGeom prst="rect">
            <a:avLst/>
          </a:prstGeom>
          <a:noFill/>
        </p:spPr>
        <p:txBody>
          <a:bodyPr wrap="square" lIns="0" rIns="0" tIns="0" bIns="0" anchor="t">
            <a:spAutoFit/>
          </a:bodyPr>
          <a:lstStyle/>
          <a:p>
            <a:pPr algn="r"/>
            <a:r>
              <a:rPr sz="1100" b="0" i="0">
                <a:solidFill>
                  <a:srgbClr val="5B6577"/>
                </a:solidFill>
                <a:latin typeface="Calibri"/>
              </a:rPr>
              <a:t>06</a:t>
            </a:r>
          </a:p>
        </p:txBody>
      </p:sp>
      <p:sp>
        <p:nvSpPr>
          <p:cNvPr id="39" name="TextBox 38"/>
          <p:cNvSpPr txBox="1"/>
          <p:nvPr/>
        </p:nvSpPr>
        <p:spPr>
          <a:xfrm>
            <a:off x="2686050" y="3520440"/>
            <a:ext cx="1680210" cy="237744"/>
          </a:xfrm>
          <a:prstGeom prst="rect">
            <a:avLst/>
          </a:prstGeom>
          <a:noFill/>
        </p:spPr>
        <p:txBody>
          <a:bodyPr wrap="square" lIns="0" rIns="0" tIns="0" bIns="0" anchor="t">
            <a:spAutoFit/>
          </a:bodyPr>
          <a:lstStyle/>
          <a:p>
            <a:pPr algn="l"/>
            <a:r>
              <a:rPr sz="1500" b="1" i="0">
                <a:solidFill>
                  <a:srgbClr val="C0313C"/>
                </a:solidFill>
                <a:latin typeface="Cambria"/>
              </a:rPr>
              <a:t>Diagnosis</a:t>
            </a:r>
          </a:p>
        </p:txBody>
      </p:sp>
      <p:sp>
        <p:nvSpPr>
          <p:cNvPr id="40" name="TextBox 39"/>
          <p:cNvSpPr txBox="1"/>
          <p:nvPr/>
        </p:nvSpPr>
        <p:spPr>
          <a:xfrm>
            <a:off x="2686050" y="3758184"/>
            <a:ext cx="1680210" cy="182880"/>
          </a:xfrm>
          <a:prstGeom prst="rect">
            <a:avLst/>
          </a:prstGeom>
          <a:noFill/>
        </p:spPr>
        <p:txBody>
          <a:bodyPr wrap="square" lIns="0" rIns="0" tIns="0" bIns="0" anchor="t">
            <a:spAutoFit/>
          </a:bodyPr>
          <a:lstStyle/>
          <a:p>
            <a:pPr algn="l"/>
            <a:r>
              <a:rPr sz="1150" b="1" i="0">
                <a:solidFill>
                  <a:srgbClr val="1B2230"/>
                </a:solidFill>
                <a:latin typeface="Calibri"/>
              </a:rPr>
              <a:t>Rules fuse evidence</a:t>
            </a:r>
          </a:p>
        </p:txBody>
      </p:sp>
      <p:sp>
        <p:nvSpPr>
          <p:cNvPr id="41" name="TextBox 40"/>
          <p:cNvSpPr txBox="1"/>
          <p:nvPr/>
        </p:nvSpPr>
        <p:spPr>
          <a:xfrm>
            <a:off x="2686050" y="3950208"/>
            <a:ext cx="1680210" cy="310896"/>
          </a:xfrm>
          <a:prstGeom prst="rect">
            <a:avLst/>
          </a:prstGeom>
          <a:noFill/>
        </p:spPr>
        <p:txBody>
          <a:bodyPr wrap="square" lIns="0" rIns="0" tIns="0" bIns="0" anchor="t">
            <a:spAutoFit/>
          </a:bodyPr>
          <a:lstStyle/>
          <a:p>
            <a:pPr algn="l"/>
            <a:r>
              <a:rPr sz="1000" b="0" i="0">
                <a:solidFill>
                  <a:srgbClr val="5B6577"/>
                </a:solidFill>
                <a:latin typeface="Calibri"/>
              </a:rPr>
              <a:t>113 rules weigh measured, tested and reported evidence.</a:t>
            </a:r>
          </a:p>
        </p:txBody>
      </p:sp>
      <p:sp>
        <p:nvSpPr>
          <p:cNvPr id="42" name="Stage 7"/>
          <p:cNvSpPr/>
          <p:nvPr/>
        </p:nvSpPr>
        <p:spPr>
          <a:xfrm>
            <a:off x="4640580" y="2926080"/>
            <a:ext cx="1954530" cy="1417320"/>
          </a:xfrm>
          <a:prstGeom prst="roundRect">
            <a:avLst>
              <a:gd name="adj" fmla="val 7741"/>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pricing.png"/>
          <p:cNvPicPr>
            <a:picLocks noChangeAspect="1"/>
          </p:cNvPicPr>
          <p:nvPr/>
        </p:nvPicPr>
        <p:blipFill>
          <a:blip r:embed="rId2"/>
          <a:stretch>
            <a:fillRect/>
          </a:stretch>
        </p:blipFill>
        <p:spPr>
          <a:xfrm>
            <a:off x="4777740" y="3054096"/>
            <a:ext cx="420624" cy="420624"/>
          </a:xfrm>
          <a:prstGeom prst="rect">
            <a:avLst/>
          </a:prstGeom>
        </p:spPr>
      </p:pic>
      <p:sp>
        <p:nvSpPr>
          <p:cNvPr id="44" name="TextBox 43"/>
          <p:cNvSpPr txBox="1"/>
          <p:nvPr/>
        </p:nvSpPr>
        <p:spPr>
          <a:xfrm>
            <a:off x="6092190" y="3054096"/>
            <a:ext cx="365760" cy="201168"/>
          </a:xfrm>
          <a:prstGeom prst="rect">
            <a:avLst/>
          </a:prstGeom>
          <a:noFill/>
        </p:spPr>
        <p:txBody>
          <a:bodyPr wrap="square" lIns="0" rIns="0" tIns="0" bIns="0" anchor="t">
            <a:spAutoFit/>
          </a:bodyPr>
          <a:lstStyle/>
          <a:p>
            <a:pPr algn="r"/>
            <a:r>
              <a:rPr sz="1100" b="0" i="0">
                <a:solidFill>
                  <a:srgbClr val="5B6577"/>
                </a:solidFill>
                <a:latin typeface="Calibri"/>
              </a:rPr>
              <a:t>07</a:t>
            </a:r>
          </a:p>
        </p:txBody>
      </p:sp>
      <p:sp>
        <p:nvSpPr>
          <p:cNvPr id="45" name="TextBox 44"/>
          <p:cNvSpPr txBox="1"/>
          <p:nvPr/>
        </p:nvSpPr>
        <p:spPr>
          <a:xfrm>
            <a:off x="4777740" y="3520440"/>
            <a:ext cx="1680210" cy="237744"/>
          </a:xfrm>
          <a:prstGeom prst="rect">
            <a:avLst/>
          </a:prstGeom>
          <a:noFill/>
        </p:spPr>
        <p:txBody>
          <a:bodyPr wrap="square" lIns="0" rIns="0" tIns="0" bIns="0" anchor="t">
            <a:spAutoFit/>
          </a:bodyPr>
          <a:lstStyle/>
          <a:p>
            <a:pPr algn="l"/>
            <a:r>
              <a:rPr sz="1500" b="1" i="0">
                <a:solidFill>
                  <a:srgbClr val="2E6BC6"/>
                </a:solidFill>
                <a:latin typeface="Cambria"/>
              </a:rPr>
              <a:t>Pricing</a:t>
            </a:r>
          </a:p>
        </p:txBody>
      </p:sp>
      <p:sp>
        <p:nvSpPr>
          <p:cNvPr id="46" name="TextBox 45"/>
          <p:cNvSpPr txBox="1"/>
          <p:nvPr/>
        </p:nvSpPr>
        <p:spPr>
          <a:xfrm>
            <a:off x="4777740" y="3758184"/>
            <a:ext cx="1680210" cy="182880"/>
          </a:xfrm>
          <a:prstGeom prst="rect">
            <a:avLst/>
          </a:prstGeom>
          <a:noFill/>
        </p:spPr>
        <p:txBody>
          <a:bodyPr wrap="square" lIns="0" rIns="0" tIns="0" bIns="0" anchor="t">
            <a:spAutoFit/>
          </a:bodyPr>
          <a:lstStyle/>
          <a:p>
            <a:pPr algn="l"/>
            <a:r>
              <a:rPr sz="1150" b="1" i="0">
                <a:solidFill>
                  <a:srgbClr val="1B2230"/>
                </a:solidFill>
                <a:latin typeface="Calibri"/>
              </a:rPr>
              <a:t>Official repair cost</a:t>
            </a:r>
          </a:p>
        </p:txBody>
      </p:sp>
      <p:sp>
        <p:nvSpPr>
          <p:cNvPr id="47" name="TextBox 46"/>
          <p:cNvSpPr txBox="1"/>
          <p:nvPr/>
        </p:nvSpPr>
        <p:spPr>
          <a:xfrm>
            <a:off x="4777740" y="3950208"/>
            <a:ext cx="1680210" cy="310896"/>
          </a:xfrm>
          <a:prstGeom prst="rect">
            <a:avLst/>
          </a:prstGeom>
          <a:noFill/>
        </p:spPr>
        <p:txBody>
          <a:bodyPr wrap="square" lIns="0" rIns="0" tIns="0" bIns="0" anchor="t">
            <a:spAutoFit/>
          </a:bodyPr>
          <a:lstStyle/>
          <a:p>
            <a:pPr algn="l"/>
            <a:r>
              <a:rPr sz="1000" b="0" i="0">
                <a:solidFill>
                  <a:srgbClr val="5B6577"/>
                </a:solidFill>
                <a:latin typeface="Calibri"/>
              </a:rPr>
              <a:t>Source-attributed prices with link and date.</a:t>
            </a:r>
          </a:p>
        </p:txBody>
      </p:sp>
      <p:sp>
        <p:nvSpPr>
          <p:cNvPr id="48" name="Stage 8"/>
          <p:cNvSpPr/>
          <p:nvPr/>
        </p:nvSpPr>
        <p:spPr>
          <a:xfrm>
            <a:off x="6732270" y="2926080"/>
            <a:ext cx="1954530" cy="1417320"/>
          </a:xfrm>
          <a:prstGeom prst="roundRect">
            <a:avLst>
              <a:gd name="adj" fmla="val 7741"/>
            </a:avLst>
          </a:prstGeom>
          <a:solidFill>
            <a:srgbClr val="FFFFFF"/>
          </a:solidFill>
          <a:ln w="9525">
            <a:solidFill>
              <a:srgbClr val="DD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decision.png"/>
          <p:cNvPicPr>
            <a:picLocks noChangeAspect="1"/>
          </p:cNvPicPr>
          <p:nvPr/>
        </p:nvPicPr>
        <p:blipFill>
          <a:blip r:embed="rId1"/>
          <a:stretch>
            <a:fillRect/>
          </a:stretch>
        </p:blipFill>
        <p:spPr>
          <a:xfrm>
            <a:off x="6869430" y="3054096"/>
            <a:ext cx="420624" cy="420624"/>
          </a:xfrm>
          <a:prstGeom prst="rect">
            <a:avLst/>
          </a:prstGeom>
        </p:spPr>
      </p:pic>
      <p:sp>
        <p:nvSpPr>
          <p:cNvPr id="50" name="TextBox 49"/>
          <p:cNvSpPr txBox="1"/>
          <p:nvPr/>
        </p:nvSpPr>
        <p:spPr>
          <a:xfrm>
            <a:off x="8183879" y="3054096"/>
            <a:ext cx="365760" cy="201168"/>
          </a:xfrm>
          <a:prstGeom prst="rect">
            <a:avLst/>
          </a:prstGeom>
          <a:noFill/>
        </p:spPr>
        <p:txBody>
          <a:bodyPr wrap="square" lIns="0" rIns="0" tIns="0" bIns="0" anchor="t">
            <a:spAutoFit/>
          </a:bodyPr>
          <a:lstStyle/>
          <a:p>
            <a:pPr algn="r"/>
            <a:r>
              <a:rPr sz="1100" b="0" i="0">
                <a:solidFill>
                  <a:srgbClr val="5B6577"/>
                </a:solidFill>
                <a:latin typeface="Calibri"/>
              </a:rPr>
              <a:t>08</a:t>
            </a:r>
          </a:p>
        </p:txBody>
      </p:sp>
      <p:sp>
        <p:nvSpPr>
          <p:cNvPr id="51" name="TextBox 50"/>
          <p:cNvSpPr txBox="1"/>
          <p:nvPr/>
        </p:nvSpPr>
        <p:spPr>
          <a:xfrm>
            <a:off x="6869430" y="3520440"/>
            <a:ext cx="1680210" cy="237744"/>
          </a:xfrm>
          <a:prstGeom prst="rect">
            <a:avLst/>
          </a:prstGeom>
          <a:noFill/>
        </p:spPr>
        <p:txBody>
          <a:bodyPr wrap="square" lIns="0" rIns="0" tIns="0" bIns="0" anchor="t">
            <a:spAutoFit/>
          </a:bodyPr>
          <a:lstStyle/>
          <a:p>
            <a:pPr algn="l"/>
            <a:r>
              <a:rPr sz="1500" b="1" i="0">
                <a:solidFill>
                  <a:srgbClr val="2E8B57"/>
                </a:solidFill>
                <a:latin typeface="Cambria"/>
              </a:rPr>
              <a:t>Decision</a:t>
            </a:r>
          </a:p>
        </p:txBody>
      </p:sp>
      <p:sp>
        <p:nvSpPr>
          <p:cNvPr id="52" name="TextBox 51"/>
          <p:cNvSpPr txBox="1"/>
          <p:nvPr/>
        </p:nvSpPr>
        <p:spPr>
          <a:xfrm>
            <a:off x="6869430" y="3758184"/>
            <a:ext cx="1680210" cy="182880"/>
          </a:xfrm>
          <a:prstGeom prst="rect">
            <a:avLst/>
          </a:prstGeom>
          <a:noFill/>
        </p:spPr>
        <p:txBody>
          <a:bodyPr wrap="square" lIns="0" rIns="0" tIns="0" bIns="0" anchor="t">
            <a:spAutoFit/>
          </a:bodyPr>
          <a:lstStyle/>
          <a:p>
            <a:pPr algn="l"/>
            <a:r>
              <a:rPr sz="1150" b="1" i="0">
                <a:solidFill>
                  <a:srgbClr val="1B2230"/>
                </a:solidFill>
                <a:latin typeface="Calibri"/>
              </a:rPr>
              <a:t>Repair, sell, replace</a:t>
            </a:r>
          </a:p>
        </p:txBody>
      </p:sp>
      <p:sp>
        <p:nvSpPr>
          <p:cNvPr id="53" name="TextBox 52"/>
          <p:cNvSpPr txBox="1"/>
          <p:nvPr/>
        </p:nvSpPr>
        <p:spPr>
          <a:xfrm>
            <a:off x="6869430" y="3950208"/>
            <a:ext cx="1680210" cy="310896"/>
          </a:xfrm>
          <a:prstGeom prst="rect">
            <a:avLst/>
          </a:prstGeom>
          <a:noFill/>
        </p:spPr>
        <p:txBody>
          <a:bodyPr wrap="square" lIns="0" rIns="0" tIns="0" bIns="0" anchor="t">
            <a:spAutoFit/>
          </a:bodyPr>
          <a:lstStyle/>
          <a:p>
            <a:pPr algn="l"/>
            <a:r>
              <a:rPr sz="1000" b="0" i="0">
                <a:solidFill>
                  <a:srgbClr val="5B6577"/>
                </a:solidFill>
                <a:latin typeface="Calibri"/>
              </a:rPr>
              <a:t>Compared with FlipValue resale values and a range.</a:t>
            </a:r>
          </a:p>
        </p:txBody>
      </p:sp>
      <p:sp>
        <p:nvSpPr>
          <p:cNvPr id="54" name="TextBox 53"/>
          <p:cNvSpPr txBox="1"/>
          <p:nvPr/>
        </p:nvSpPr>
        <p:spPr>
          <a:xfrm>
            <a:off x="457200" y="4462272"/>
            <a:ext cx="1188720" cy="237744"/>
          </a:xfrm>
          <a:prstGeom prst="rect">
            <a:avLst/>
          </a:prstGeom>
          <a:noFill/>
        </p:spPr>
        <p:txBody>
          <a:bodyPr wrap="square" lIns="0" rIns="0" tIns="0" bIns="0" anchor="ctr">
            <a:spAutoFit/>
          </a:bodyPr>
          <a:lstStyle/>
          <a:p>
            <a:pPr algn="l"/>
            <a:r>
              <a:rPr sz="1000" b="1" i="0" spc="200">
                <a:solidFill>
                  <a:srgbClr val="5B6577"/>
                </a:solidFill>
                <a:latin typeface="Calibri"/>
              </a:rPr>
              <a:t>TECH STACK</a:t>
            </a:r>
          </a:p>
        </p:txBody>
      </p:sp>
      <p:sp>
        <p:nvSpPr>
          <p:cNvPr id="55" name="Oval 54"/>
          <p:cNvSpPr/>
          <p:nvPr/>
        </p:nvSpPr>
        <p:spPr>
          <a:xfrm>
            <a:off x="1691640" y="4549140"/>
            <a:ext cx="82296" cy="82296"/>
          </a:xfrm>
          <a:prstGeom prst="ellipse">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828800" y="4462272"/>
            <a:ext cx="539496" cy="237744"/>
          </a:xfrm>
          <a:prstGeom prst="rect">
            <a:avLst/>
          </a:prstGeom>
          <a:noFill/>
        </p:spPr>
        <p:txBody>
          <a:bodyPr wrap="square" lIns="0" rIns="0" tIns="0" bIns="0" anchor="ctr">
            <a:spAutoFit/>
          </a:bodyPr>
          <a:lstStyle/>
          <a:p>
            <a:pPr algn="l"/>
            <a:r>
              <a:rPr sz="1100" b="0" i="0">
                <a:solidFill>
                  <a:srgbClr val="1B2230"/>
                </a:solidFill>
                <a:latin typeface="Calibri"/>
              </a:rPr>
              <a:t>Python</a:t>
            </a:r>
          </a:p>
        </p:txBody>
      </p:sp>
      <p:sp>
        <p:nvSpPr>
          <p:cNvPr id="57" name="Oval 56"/>
          <p:cNvSpPr/>
          <p:nvPr/>
        </p:nvSpPr>
        <p:spPr>
          <a:xfrm>
            <a:off x="2478024" y="4549140"/>
            <a:ext cx="82296" cy="82296"/>
          </a:xfrm>
          <a:prstGeom prst="ellipse">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15184" y="4462272"/>
            <a:ext cx="608076" cy="237744"/>
          </a:xfrm>
          <a:prstGeom prst="rect">
            <a:avLst/>
          </a:prstGeom>
          <a:noFill/>
        </p:spPr>
        <p:txBody>
          <a:bodyPr wrap="square" lIns="0" rIns="0" tIns="0" bIns="0" anchor="ctr">
            <a:spAutoFit/>
          </a:bodyPr>
          <a:lstStyle/>
          <a:p>
            <a:pPr algn="l"/>
            <a:r>
              <a:rPr sz="1100" b="0" i="0">
                <a:solidFill>
                  <a:srgbClr val="1B2230"/>
                </a:solidFill>
                <a:latin typeface="Calibri"/>
              </a:rPr>
              <a:t>FastAPI</a:t>
            </a:r>
          </a:p>
        </p:txBody>
      </p:sp>
      <p:sp>
        <p:nvSpPr>
          <p:cNvPr id="59" name="Oval 58"/>
          <p:cNvSpPr/>
          <p:nvPr/>
        </p:nvSpPr>
        <p:spPr>
          <a:xfrm>
            <a:off x="3332988" y="4549140"/>
            <a:ext cx="82296" cy="82296"/>
          </a:xfrm>
          <a:prstGeom prst="ellipse">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70148" y="4462272"/>
            <a:ext cx="539496" cy="237744"/>
          </a:xfrm>
          <a:prstGeom prst="rect">
            <a:avLst/>
          </a:prstGeom>
          <a:noFill/>
        </p:spPr>
        <p:txBody>
          <a:bodyPr wrap="square" lIns="0" rIns="0" tIns="0" bIns="0" anchor="ctr">
            <a:spAutoFit/>
          </a:bodyPr>
          <a:lstStyle/>
          <a:p>
            <a:pPr algn="l"/>
            <a:r>
              <a:rPr sz="1100" b="0" i="0">
                <a:solidFill>
                  <a:srgbClr val="1B2230"/>
                </a:solidFill>
                <a:latin typeface="Calibri"/>
              </a:rPr>
              <a:t>SQLite</a:t>
            </a:r>
          </a:p>
        </p:txBody>
      </p:sp>
      <p:sp>
        <p:nvSpPr>
          <p:cNvPr id="61" name="Oval 60"/>
          <p:cNvSpPr/>
          <p:nvPr/>
        </p:nvSpPr>
        <p:spPr>
          <a:xfrm>
            <a:off x="4119372" y="4549140"/>
            <a:ext cx="82296" cy="82296"/>
          </a:xfrm>
          <a:prstGeom prst="ellipse">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256532" y="4462272"/>
            <a:ext cx="333756" cy="237744"/>
          </a:xfrm>
          <a:prstGeom prst="rect">
            <a:avLst/>
          </a:prstGeom>
          <a:noFill/>
        </p:spPr>
        <p:txBody>
          <a:bodyPr wrap="square" lIns="0" rIns="0" tIns="0" bIns="0" anchor="ctr">
            <a:spAutoFit/>
          </a:bodyPr>
          <a:lstStyle/>
          <a:p>
            <a:pPr algn="l"/>
            <a:r>
              <a:rPr sz="1100" b="0" i="0">
                <a:solidFill>
                  <a:srgbClr val="1B2230"/>
                </a:solidFill>
                <a:latin typeface="Calibri"/>
              </a:rPr>
              <a:t>ADB</a:t>
            </a:r>
          </a:p>
        </p:txBody>
      </p:sp>
      <p:sp>
        <p:nvSpPr>
          <p:cNvPr id="63" name="Oval 62"/>
          <p:cNvSpPr/>
          <p:nvPr/>
        </p:nvSpPr>
        <p:spPr>
          <a:xfrm>
            <a:off x="4700016" y="4549140"/>
            <a:ext cx="82296" cy="82296"/>
          </a:xfrm>
          <a:prstGeom prst="ellipse">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837176" y="4462272"/>
            <a:ext cx="882396" cy="237744"/>
          </a:xfrm>
          <a:prstGeom prst="rect">
            <a:avLst/>
          </a:prstGeom>
          <a:noFill/>
        </p:spPr>
        <p:txBody>
          <a:bodyPr wrap="square" lIns="0" rIns="0" tIns="0" bIns="0" anchor="ctr">
            <a:spAutoFit/>
          </a:bodyPr>
          <a:lstStyle/>
          <a:p>
            <a:pPr algn="l"/>
            <a:r>
              <a:rPr sz="1100" b="0" i="0">
                <a:solidFill>
                  <a:srgbClr val="1B2230"/>
                </a:solidFill>
                <a:latin typeface="Calibri"/>
              </a:rPr>
              <a:t>Browser SPA</a:t>
            </a:r>
          </a:p>
        </p:txBody>
      </p:sp>
      <p:sp>
        <p:nvSpPr>
          <p:cNvPr id="65" name="Oval 64"/>
          <p:cNvSpPr/>
          <p:nvPr/>
        </p:nvSpPr>
        <p:spPr>
          <a:xfrm>
            <a:off x="5829300" y="4549140"/>
            <a:ext cx="82296" cy="82296"/>
          </a:xfrm>
          <a:prstGeom prst="ellipse">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966460" y="4462272"/>
            <a:ext cx="745236" cy="237744"/>
          </a:xfrm>
          <a:prstGeom prst="rect">
            <a:avLst/>
          </a:prstGeom>
          <a:noFill/>
        </p:spPr>
        <p:txBody>
          <a:bodyPr wrap="square" lIns="0" rIns="0" tIns="0" bIns="0" anchor="ctr">
            <a:spAutoFit/>
          </a:bodyPr>
          <a:lstStyle/>
          <a:p>
            <a:pPr algn="l"/>
            <a:r>
              <a:rPr sz="1100" b="0" i="0">
                <a:solidFill>
                  <a:srgbClr val="1B2230"/>
                </a:solidFill>
                <a:latin typeface="Calibri"/>
              </a:rPr>
              <a:t>FlipValue</a:t>
            </a:r>
          </a:p>
        </p:txBody>
      </p:sp>
      <p:sp>
        <p:nvSpPr>
          <p:cNvPr id="67" name="Oval 66"/>
          <p:cNvSpPr/>
          <p:nvPr/>
        </p:nvSpPr>
        <p:spPr>
          <a:xfrm>
            <a:off x="6821424" y="4549140"/>
            <a:ext cx="82296" cy="82296"/>
          </a:xfrm>
          <a:prstGeom prst="ellipse">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958584" y="4462272"/>
            <a:ext cx="745236" cy="237744"/>
          </a:xfrm>
          <a:prstGeom prst="rect">
            <a:avLst/>
          </a:prstGeom>
          <a:noFill/>
        </p:spPr>
        <p:txBody>
          <a:bodyPr wrap="square" lIns="0" rIns="0" tIns="0" bIns="0" anchor="ctr">
            <a:spAutoFit/>
          </a:bodyPr>
          <a:lstStyle/>
          <a:p>
            <a:pPr algn="l"/>
            <a:r>
              <a:rPr sz="1100" b="0" i="0">
                <a:solidFill>
                  <a:srgbClr val="1B2230"/>
                </a:solidFill>
                <a:latin typeface="Calibri"/>
              </a:rPr>
              <a:t>Cloud Run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ection pill"/>
          <p:cNvSpPr/>
          <p:nvPr/>
        </p:nvSpPr>
        <p:spPr>
          <a:xfrm>
            <a:off x="457200" y="320040"/>
            <a:ext cx="1362456" cy="292608"/>
          </a:xfrm>
          <a:prstGeom prst="roundRect">
            <a:avLst>
              <a:gd name="adj" fmla="val 50000"/>
            </a:avLst>
          </a:prstGeom>
          <a:solidFill>
            <a:srgbClr val="9A7418"/>
          </a:solidFill>
          <a:ln w="12700">
            <a:solidFill>
              <a:srgbClr val="9A7418"/>
            </a:solidFill>
            <a:prstDash val="solid"/>
          </a:ln>
        </p:spPr>
      </p:sp>
      <p:sp>
        <p:nvSpPr>
          <p:cNvPr id="4" name="Text 1"/>
          <p:cNvSpPr txBox="1"/>
          <p:nvPr/>
        </p:nvSpPr>
        <p:spPr>
          <a:xfrm>
            <a:off x="457200" y="320040"/>
            <a:ext cx="1362456" cy="292608"/>
          </a:xfrm>
          <a:prstGeom prst="rect">
            <a:avLst/>
          </a:prstGeom>
          <a:noFill/>
          <a:ln/>
        </p:spPr>
        <p:txBody>
          <a:bodyPr wrap="square" lIns="0" tIns="0" rIns="0" bIns="0" rtlCol="0" anchor="ctr"/>
          <a:lstStyle/>
          <a:p>
            <a:pPr algn="ctr" indent="0" marL="0">
              <a:buNone/>
            </a:pPr>
            <a:r>
              <a:rPr lang="en-US" sz="1100" spc="100" kern="0" dirty="0">
                <a:solidFill>
                  <a:srgbClr val="FFFFFF"/>
                </a:solidFill>
                <a:latin typeface="Calibri" pitchFamily="34" charset="0"/>
                <a:ea typeface="Calibri" pitchFamily="34" charset="-122"/>
                <a:cs typeface="Calibri" pitchFamily="34" charset="-120"/>
              </a:rPr>
              <a:t>ARCHITECTURE</a:t>
            </a:r>
            <a:endParaRPr lang="en-US" sz="1100" dirty="0"/>
          </a:p>
        </p:txBody>
      </p:sp>
      <p:sp>
        <p:nvSpPr>
          <p:cNvPr id="5" name="Text 2"/>
          <p:cNvSpPr txBox="1"/>
          <p:nvPr/>
        </p:nvSpPr>
        <p:spPr>
          <a:xfrm>
            <a:off x="457200" y="685800"/>
            <a:ext cx="8229600" cy="640080"/>
          </a:xfrm>
          <a:prstGeom prst="rect">
            <a:avLst/>
          </a:prstGeom>
          <a:noFill/>
          <a:ln/>
        </p:spPr>
        <p:txBody>
          <a:bodyPr wrap="square" lIns="0" tIns="0" rIns="0" bIns="0" rtlCol="0" anchor="ctr"/>
          <a:lstStyle/>
          <a:p>
            <a:pPr indent="0" marL="0">
              <a:buNone/>
            </a:pPr>
            <a:r>
              <a:rPr lang="en-US" sz="3400" b="1" dirty="0">
                <a:solidFill>
                  <a:srgbClr val="1B2230"/>
                </a:solidFill>
                <a:latin typeface="Cambria" pitchFamily="34" charset="0"/>
                <a:ea typeface="Cambria" pitchFamily="34" charset="-122"/>
                <a:cs typeface="Cambria" pitchFamily="34" charset="-120"/>
              </a:rPr>
              <a:t>Three parts, one </a:t>
            </a:r>
            <a:pPr indent="0" marL="0">
              <a:buNone/>
            </a:pPr>
            <a:r>
              <a:rPr lang="en-US" sz="3400" b="1" dirty="0">
                <a:solidFill>
                  <a:srgbClr val="9A7418"/>
                </a:solidFill>
                <a:latin typeface="Cambria" pitchFamily="34" charset="0"/>
                <a:ea typeface="Cambria" pitchFamily="34" charset="-122"/>
                <a:cs typeface="Cambria" pitchFamily="34" charset="-120"/>
              </a:rPr>
              <a:t>secure path</a:t>
            </a:r>
            <a:endParaRPr lang="en-US" sz="3400" dirty="0"/>
          </a:p>
        </p:txBody>
      </p:sp>
      <p:sp>
        <p:nvSpPr>
          <p:cNvPr id="6" name="Shape 3"/>
          <p:cNvSpPr/>
          <p:nvPr/>
        </p:nvSpPr>
        <p:spPr>
          <a:xfrm>
            <a:off x="457200" y="1417320"/>
            <a:ext cx="8229600" cy="1508760"/>
          </a:xfrm>
          <a:prstGeom prst="roundRect">
            <a:avLst>
              <a:gd name="adj" fmla="val 7273"/>
            </a:avLst>
          </a:prstGeom>
          <a:solidFill>
            <a:srgbClr val="ECE7DA"/>
          </a:solidFill>
          <a:ln w="12700">
            <a:solidFill>
              <a:srgbClr val="ECE7DA"/>
            </a:solidFill>
            <a:prstDash val="solid"/>
          </a:ln>
        </p:spPr>
      </p:sp>
      <p:sp>
        <p:nvSpPr>
          <p:cNvPr id="7" name="Text 4"/>
          <p:cNvSpPr txBox="1"/>
          <p:nvPr/>
        </p:nvSpPr>
        <p:spPr>
          <a:xfrm>
            <a:off x="640080" y="1508760"/>
            <a:ext cx="6400800" cy="228600"/>
          </a:xfrm>
          <a:prstGeom prst="rect">
            <a:avLst/>
          </a:prstGeom>
          <a:noFill/>
          <a:ln/>
        </p:spPr>
        <p:txBody>
          <a:bodyPr wrap="square" lIns="0" tIns="0" rIns="0" bIns="0" rtlCol="0" anchor="ctr"/>
          <a:lstStyle/>
          <a:p>
            <a:pPr indent="0" marL="0">
              <a:buNone/>
            </a:pPr>
            <a:r>
              <a:rPr lang="en-US" sz="1000" b="1" spc="200" kern="0" dirty="0">
                <a:solidFill>
                  <a:srgbClr val="5B6577"/>
                </a:solidFill>
                <a:latin typeface="Calibri" pitchFamily="34" charset="0"/>
                <a:ea typeface="Calibri" pitchFamily="34" charset="-122"/>
                <a:cs typeface="Calibri" pitchFamily="34" charset="-120"/>
              </a:rPr>
              <a:t>CUSTOMER'S PC</a:t>
            </a:r>
            <a:endParaRPr lang="en-US" sz="1000" dirty="0"/>
          </a:p>
        </p:txBody>
      </p:sp>
      <p:sp>
        <p:nvSpPr>
          <p:cNvPr id="8" name="Shape 5"/>
          <p:cNvSpPr/>
          <p:nvPr/>
        </p:nvSpPr>
        <p:spPr>
          <a:xfrm>
            <a:off x="457200" y="3063240"/>
            <a:ext cx="8229600" cy="1508760"/>
          </a:xfrm>
          <a:prstGeom prst="roundRect">
            <a:avLst>
              <a:gd name="adj" fmla="val 7273"/>
            </a:avLst>
          </a:prstGeom>
          <a:solidFill>
            <a:srgbClr val="ECE7DA"/>
          </a:solidFill>
          <a:ln w="12700">
            <a:solidFill>
              <a:srgbClr val="ECE7DA"/>
            </a:solidFill>
            <a:prstDash val="solid"/>
          </a:ln>
        </p:spPr>
      </p:sp>
      <p:sp>
        <p:nvSpPr>
          <p:cNvPr id="9" name="Text 6"/>
          <p:cNvSpPr txBox="1"/>
          <p:nvPr/>
        </p:nvSpPr>
        <p:spPr>
          <a:xfrm>
            <a:off x="640080" y="3154680"/>
            <a:ext cx="6400800" cy="228600"/>
          </a:xfrm>
          <a:prstGeom prst="rect">
            <a:avLst/>
          </a:prstGeom>
          <a:noFill/>
          <a:ln/>
        </p:spPr>
        <p:txBody>
          <a:bodyPr wrap="square" lIns="0" tIns="0" rIns="0" bIns="0" rtlCol="0" anchor="ctr"/>
          <a:lstStyle/>
          <a:p>
            <a:pPr indent="0" marL="0">
              <a:buNone/>
            </a:pPr>
            <a:r>
              <a:rPr lang="en-US" sz="1000" b="1" spc="200" kern="0" dirty="0">
                <a:solidFill>
                  <a:srgbClr val="5B6577"/>
                </a:solidFill>
                <a:latin typeface="Calibri" pitchFamily="34" charset="0"/>
                <a:ea typeface="Calibri" pitchFamily="34" charset="-122"/>
                <a:cs typeface="Calibri" pitchFamily="34" charset="-120"/>
              </a:rPr>
              <a:t>SERVER  ·  CLOUD RUN BEHIND FIREBASE HOSTING</a:t>
            </a:r>
            <a:endParaRPr lang="en-US" sz="1000" dirty="0"/>
          </a:p>
        </p:txBody>
      </p:sp>
      <p:sp>
        <p:nvSpPr>
          <p:cNvPr id="10" name="Shape 7"/>
          <p:cNvSpPr/>
          <p:nvPr/>
        </p:nvSpPr>
        <p:spPr>
          <a:xfrm>
            <a:off x="1188720" y="1719072"/>
            <a:ext cx="731520" cy="731520"/>
          </a:xfrm>
          <a:prstGeom prst="ellipse">
            <a:avLst/>
          </a:prstGeom>
          <a:solidFill>
            <a:srgbClr val="17877B"/>
          </a:solidFill>
          <a:ln w="12700">
            <a:solidFill>
              <a:srgbClr val="17877B"/>
            </a:solidFill>
            <a:prstDash val="solid"/>
          </a:ln>
        </p:spPr>
      </p:sp>
      <p:pic>
        <p:nvPicPr>
          <p:cNvPr id="11" name="Image 0" descr="preencoded.png">    </p:cNvPr>
          <p:cNvPicPr>
            <a:picLocks noChangeAspect="1"/>
          </p:cNvPicPr>
          <p:nvPr/>
        </p:nvPicPr>
        <p:blipFill>
          <a:blip r:embed="rId1"/>
          <a:stretch>
            <a:fillRect/>
          </a:stretch>
        </p:blipFill>
        <p:spPr>
          <a:xfrm>
            <a:off x="1371600" y="1901952"/>
            <a:ext cx="365760" cy="365760"/>
          </a:xfrm>
          <a:prstGeom prst="rect">
            <a:avLst/>
          </a:prstGeom>
        </p:spPr>
      </p:pic>
      <p:sp>
        <p:nvSpPr>
          <p:cNvPr id="12" name="Text 8"/>
          <p:cNvSpPr txBox="1"/>
          <p:nvPr/>
        </p:nvSpPr>
        <p:spPr>
          <a:xfrm>
            <a:off x="548640" y="2468880"/>
            <a:ext cx="2011680" cy="228600"/>
          </a:xfrm>
          <a:prstGeom prst="rect">
            <a:avLst/>
          </a:prstGeom>
          <a:noFill/>
          <a:ln/>
        </p:spPr>
        <p:txBody>
          <a:bodyPr wrap="square" lIns="0" tIns="0" rIns="0" bIns="0" rtlCol="0" anchor="ctr"/>
          <a:lstStyle/>
          <a:p>
            <a:pPr algn="ctr" indent="0" marL="0">
              <a:buNone/>
            </a:pPr>
            <a:r>
              <a:rPr lang="en-US" sz="1300" b="1" dirty="0">
                <a:solidFill>
                  <a:srgbClr val="1B2230"/>
                </a:solidFill>
                <a:latin typeface="Cambria" pitchFamily="34" charset="0"/>
                <a:ea typeface="Cambria" pitchFamily="34" charset="-122"/>
                <a:cs typeface="Cambria" pitchFamily="34" charset="-120"/>
              </a:rPr>
              <a:t>Android phone</a:t>
            </a:r>
            <a:endParaRPr lang="en-US" sz="1300" dirty="0"/>
          </a:p>
        </p:txBody>
      </p:sp>
      <p:sp>
        <p:nvSpPr>
          <p:cNvPr id="13" name="Text 9"/>
          <p:cNvSpPr txBox="1"/>
          <p:nvPr/>
        </p:nvSpPr>
        <p:spPr>
          <a:xfrm>
            <a:off x="548640" y="2679192"/>
            <a:ext cx="2011680" cy="201168"/>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USB debugging</a:t>
            </a:r>
            <a:endParaRPr lang="en-US" sz="1100" dirty="0"/>
          </a:p>
        </p:txBody>
      </p:sp>
      <p:sp>
        <p:nvSpPr>
          <p:cNvPr id="14" name="Shape 10"/>
          <p:cNvSpPr/>
          <p:nvPr/>
        </p:nvSpPr>
        <p:spPr>
          <a:xfrm>
            <a:off x="4206240" y="1719072"/>
            <a:ext cx="731520" cy="731520"/>
          </a:xfrm>
          <a:prstGeom prst="ellipse">
            <a:avLst/>
          </a:prstGeom>
          <a:solidFill>
            <a:srgbClr val="C75F1E"/>
          </a:solidFill>
          <a:ln w="12700">
            <a:solidFill>
              <a:srgbClr val="C75F1E"/>
            </a:solidFill>
            <a:prstDash val="solid"/>
          </a:ln>
        </p:spPr>
      </p:sp>
      <p:pic>
        <p:nvPicPr>
          <p:cNvPr id="15" name="Image 1" descr="preencoded.png">    </p:cNvPr>
          <p:cNvPicPr>
            <a:picLocks noChangeAspect="1"/>
          </p:cNvPicPr>
          <p:nvPr/>
        </p:nvPicPr>
        <p:blipFill>
          <a:blip r:embed="rId2"/>
          <a:stretch>
            <a:fillRect/>
          </a:stretch>
        </p:blipFill>
        <p:spPr>
          <a:xfrm>
            <a:off x="4389120" y="1901952"/>
            <a:ext cx="365760" cy="365760"/>
          </a:xfrm>
          <a:prstGeom prst="rect">
            <a:avLst/>
          </a:prstGeom>
        </p:spPr>
      </p:pic>
      <p:sp>
        <p:nvSpPr>
          <p:cNvPr id="16" name="Text 11"/>
          <p:cNvSpPr txBox="1"/>
          <p:nvPr/>
        </p:nvSpPr>
        <p:spPr>
          <a:xfrm>
            <a:off x="3566160" y="2468880"/>
            <a:ext cx="2011680" cy="228600"/>
          </a:xfrm>
          <a:prstGeom prst="rect">
            <a:avLst/>
          </a:prstGeom>
          <a:noFill/>
          <a:ln/>
        </p:spPr>
        <p:txBody>
          <a:bodyPr wrap="square" lIns="0" tIns="0" rIns="0" bIns="0" rtlCol="0" anchor="ctr"/>
          <a:lstStyle/>
          <a:p>
            <a:pPr algn="ctr" indent="0" marL="0">
              <a:buNone/>
            </a:pPr>
            <a:r>
              <a:rPr lang="en-US" sz="1300" b="1" dirty="0">
                <a:solidFill>
                  <a:srgbClr val="1B2230"/>
                </a:solidFill>
                <a:latin typeface="Cambria" pitchFamily="34" charset="0"/>
                <a:ea typeface="Cambria" pitchFamily="34" charset="-122"/>
                <a:cs typeface="Cambria" pitchFamily="34" charset="-120"/>
              </a:rPr>
              <a:t>Local agent</a:t>
            </a:r>
            <a:endParaRPr lang="en-US" sz="1300" dirty="0"/>
          </a:p>
        </p:txBody>
      </p:sp>
      <p:sp>
        <p:nvSpPr>
          <p:cNvPr id="17" name="Text 12"/>
          <p:cNvSpPr txBox="1"/>
          <p:nvPr/>
        </p:nvSpPr>
        <p:spPr>
          <a:xfrm>
            <a:off x="3566160" y="2679192"/>
            <a:ext cx="2011680" cy="201168"/>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127.0.0.1 · ADB</a:t>
            </a:r>
            <a:endParaRPr lang="en-US" sz="1100" dirty="0"/>
          </a:p>
        </p:txBody>
      </p:sp>
      <p:sp>
        <p:nvSpPr>
          <p:cNvPr id="18" name="Shape 13"/>
          <p:cNvSpPr/>
          <p:nvPr/>
        </p:nvSpPr>
        <p:spPr>
          <a:xfrm>
            <a:off x="7223760" y="1719072"/>
            <a:ext cx="731520" cy="731520"/>
          </a:xfrm>
          <a:prstGeom prst="ellipse">
            <a:avLst/>
          </a:prstGeom>
          <a:solidFill>
            <a:srgbClr val="6E52C2"/>
          </a:solidFill>
          <a:ln w="12700">
            <a:solidFill>
              <a:srgbClr val="6E52C2"/>
            </a:solidFill>
            <a:prstDash val="solid"/>
          </a:ln>
        </p:spPr>
      </p:sp>
      <p:pic>
        <p:nvPicPr>
          <p:cNvPr id="19" name="Image 2" descr="preencoded.png">    </p:cNvPr>
          <p:cNvPicPr>
            <a:picLocks noChangeAspect="1"/>
          </p:cNvPicPr>
          <p:nvPr/>
        </p:nvPicPr>
        <p:blipFill>
          <a:blip r:embed="rId3"/>
          <a:stretch>
            <a:fillRect/>
          </a:stretch>
        </p:blipFill>
        <p:spPr>
          <a:xfrm>
            <a:off x="7406640" y="1901952"/>
            <a:ext cx="365760" cy="365760"/>
          </a:xfrm>
          <a:prstGeom prst="rect">
            <a:avLst/>
          </a:prstGeom>
        </p:spPr>
      </p:pic>
      <p:sp>
        <p:nvSpPr>
          <p:cNvPr id="20" name="Text 14"/>
          <p:cNvSpPr txBox="1"/>
          <p:nvPr/>
        </p:nvSpPr>
        <p:spPr>
          <a:xfrm>
            <a:off x="6583680" y="2468880"/>
            <a:ext cx="2011680" cy="228600"/>
          </a:xfrm>
          <a:prstGeom prst="rect">
            <a:avLst/>
          </a:prstGeom>
          <a:noFill/>
          <a:ln/>
        </p:spPr>
        <p:txBody>
          <a:bodyPr wrap="square" lIns="0" tIns="0" rIns="0" bIns="0" rtlCol="0" anchor="ctr"/>
          <a:lstStyle/>
          <a:p>
            <a:pPr algn="ctr" indent="0" marL="0">
              <a:buNone/>
            </a:pPr>
            <a:r>
              <a:rPr lang="en-US" sz="1300" b="1" dirty="0">
                <a:solidFill>
                  <a:srgbClr val="1B2230"/>
                </a:solidFill>
                <a:latin typeface="Cambria" pitchFamily="34" charset="0"/>
                <a:ea typeface="Cambria" pitchFamily="34" charset="-122"/>
                <a:cs typeface="Cambria" pitchFamily="34" charset="-120"/>
              </a:rPr>
              <a:t>Web app</a:t>
            </a:r>
            <a:endParaRPr lang="en-US" sz="1300" dirty="0"/>
          </a:p>
        </p:txBody>
      </p:sp>
      <p:sp>
        <p:nvSpPr>
          <p:cNvPr id="21" name="Text 15"/>
          <p:cNvSpPr txBox="1"/>
          <p:nvPr/>
        </p:nvSpPr>
        <p:spPr>
          <a:xfrm>
            <a:off x="6583680" y="2679192"/>
            <a:ext cx="2011680" cy="201168"/>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Browser SPA</a:t>
            </a:r>
            <a:endParaRPr lang="en-US" sz="1100" dirty="0"/>
          </a:p>
        </p:txBody>
      </p:sp>
      <p:sp>
        <p:nvSpPr>
          <p:cNvPr id="22" name="Shape 16"/>
          <p:cNvSpPr/>
          <p:nvPr/>
        </p:nvSpPr>
        <p:spPr>
          <a:xfrm>
            <a:off x="2011680" y="2084832"/>
            <a:ext cx="2103120" cy="0"/>
          </a:xfrm>
          <a:prstGeom prst="line">
            <a:avLst/>
          </a:prstGeom>
          <a:noFill/>
          <a:ln w="25400">
            <a:solidFill>
              <a:srgbClr val="9A7418"/>
            </a:solidFill>
            <a:prstDash val="solid"/>
            <a:tailEnd type="triangle"/>
          </a:ln>
        </p:spPr>
      </p:sp>
      <p:sp>
        <p:nvSpPr>
          <p:cNvPr id="23" name="Text 17"/>
          <p:cNvSpPr txBox="1"/>
          <p:nvPr/>
        </p:nvSpPr>
        <p:spPr>
          <a:xfrm>
            <a:off x="2011680" y="1810512"/>
            <a:ext cx="2103120" cy="228600"/>
          </a:xfrm>
          <a:prstGeom prst="rect">
            <a:avLst/>
          </a:prstGeom>
          <a:noFill/>
          <a:ln/>
        </p:spPr>
        <p:txBody>
          <a:bodyPr wrap="square" lIns="0" tIns="0" rIns="0" bIns="0" rtlCol="0" anchor="ctr"/>
          <a:lstStyle/>
          <a:p>
            <a:pPr algn="ctr" indent="0" marL="0">
              <a:buNone/>
            </a:pPr>
            <a:r>
              <a:rPr lang="en-US" sz="1100" b="1" dirty="0">
                <a:solidFill>
                  <a:srgbClr val="9A7418"/>
                </a:solidFill>
                <a:latin typeface="Calibri" pitchFamily="34" charset="0"/>
                <a:ea typeface="Calibri" pitchFamily="34" charset="-122"/>
                <a:cs typeface="Calibri" pitchFamily="34" charset="-120"/>
              </a:rPr>
              <a:t>USB</a:t>
            </a:r>
            <a:endParaRPr lang="en-US" sz="1100" dirty="0"/>
          </a:p>
        </p:txBody>
      </p:sp>
      <p:sp>
        <p:nvSpPr>
          <p:cNvPr id="24" name="Shape 18"/>
          <p:cNvSpPr/>
          <p:nvPr/>
        </p:nvSpPr>
        <p:spPr>
          <a:xfrm>
            <a:off x="5029200" y="2084832"/>
            <a:ext cx="2103120" cy="0"/>
          </a:xfrm>
          <a:prstGeom prst="line">
            <a:avLst/>
          </a:prstGeom>
          <a:noFill/>
          <a:ln w="25400">
            <a:solidFill>
              <a:srgbClr val="9A7418"/>
            </a:solidFill>
            <a:prstDash val="solid"/>
            <a:tailEnd type="triangle"/>
          </a:ln>
        </p:spPr>
      </p:sp>
      <p:sp>
        <p:nvSpPr>
          <p:cNvPr id="25" name="Text 19"/>
          <p:cNvSpPr txBox="1"/>
          <p:nvPr/>
        </p:nvSpPr>
        <p:spPr>
          <a:xfrm>
            <a:off x="5029200" y="1810512"/>
            <a:ext cx="2103120" cy="228600"/>
          </a:xfrm>
          <a:prstGeom prst="rect">
            <a:avLst/>
          </a:prstGeom>
          <a:noFill/>
          <a:ln/>
        </p:spPr>
        <p:txBody>
          <a:bodyPr wrap="square" lIns="0" tIns="0" rIns="0" bIns="0" rtlCol="0" anchor="ctr"/>
          <a:lstStyle/>
          <a:p>
            <a:pPr algn="ctr" indent="0" marL="0">
              <a:buNone/>
            </a:pPr>
            <a:r>
              <a:rPr lang="en-US" sz="1100" b="1" dirty="0">
                <a:solidFill>
                  <a:srgbClr val="9A7418"/>
                </a:solidFill>
                <a:latin typeface="Calibri" pitchFamily="34" charset="0"/>
                <a:ea typeface="Calibri" pitchFamily="34" charset="-122"/>
                <a:cs typeface="Calibri" pitchFamily="34" charset="-120"/>
              </a:rPr>
              <a:t>paired</a:t>
            </a:r>
            <a:endParaRPr lang="en-US" sz="1100" dirty="0"/>
          </a:p>
        </p:txBody>
      </p:sp>
      <p:sp>
        <p:nvSpPr>
          <p:cNvPr id="26" name="Shape 20"/>
          <p:cNvSpPr/>
          <p:nvPr/>
        </p:nvSpPr>
        <p:spPr>
          <a:xfrm>
            <a:off x="7223760" y="3364992"/>
            <a:ext cx="731520" cy="731520"/>
          </a:xfrm>
          <a:prstGeom prst="ellipse">
            <a:avLst/>
          </a:prstGeom>
          <a:solidFill>
            <a:srgbClr val="9A7418"/>
          </a:solidFill>
          <a:ln w="12700">
            <a:solidFill>
              <a:srgbClr val="9A7418"/>
            </a:solidFill>
            <a:prstDash val="solid"/>
          </a:ln>
        </p:spPr>
      </p:sp>
      <p:pic>
        <p:nvPicPr>
          <p:cNvPr id="27" name="Image 3" descr="preencoded.png">    </p:cNvPr>
          <p:cNvPicPr>
            <a:picLocks noChangeAspect="1"/>
          </p:cNvPicPr>
          <p:nvPr/>
        </p:nvPicPr>
        <p:blipFill>
          <a:blip r:embed="rId4"/>
          <a:stretch>
            <a:fillRect/>
          </a:stretch>
        </p:blipFill>
        <p:spPr>
          <a:xfrm>
            <a:off x="7406640" y="3547872"/>
            <a:ext cx="365760" cy="365760"/>
          </a:xfrm>
          <a:prstGeom prst="rect">
            <a:avLst/>
          </a:prstGeom>
        </p:spPr>
      </p:pic>
      <p:sp>
        <p:nvSpPr>
          <p:cNvPr id="28" name="Text 21"/>
          <p:cNvSpPr txBox="1"/>
          <p:nvPr/>
        </p:nvSpPr>
        <p:spPr>
          <a:xfrm>
            <a:off x="6583680" y="4114800"/>
            <a:ext cx="2011680" cy="228600"/>
          </a:xfrm>
          <a:prstGeom prst="rect">
            <a:avLst/>
          </a:prstGeom>
          <a:noFill/>
          <a:ln/>
        </p:spPr>
        <p:txBody>
          <a:bodyPr wrap="square" lIns="0" tIns="0" rIns="0" bIns="0" rtlCol="0" anchor="ctr"/>
          <a:lstStyle/>
          <a:p>
            <a:pPr algn="ctr" indent="0" marL="0">
              <a:buNone/>
            </a:pPr>
            <a:r>
              <a:rPr lang="en-US" sz="1300" b="1" dirty="0">
                <a:solidFill>
                  <a:srgbClr val="1B2230"/>
                </a:solidFill>
                <a:latin typeface="Cambria" pitchFamily="34" charset="0"/>
                <a:ea typeface="Cambria" pitchFamily="34" charset="-122"/>
                <a:cs typeface="Cambria" pitchFamily="34" charset="-120"/>
              </a:rPr>
              <a:t>FastAPI</a:t>
            </a:r>
            <a:endParaRPr lang="en-US" sz="1300" dirty="0"/>
          </a:p>
        </p:txBody>
      </p:sp>
      <p:sp>
        <p:nvSpPr>
          <p:cNvPr id="29" name="Text 22"/>
          <p:cNvSpPr txBox="1"/>
          <p:nvPr/>
        </p:nvSpPr>
        <p:spPr>
          <a:xfrm>
            <a:off x="6583680" y="4325112"/>
            <a:ext cx="2011680" cy="201168"/>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/api/v1 · SQLite</a:t>
            </a:r>
            <a:endParaRPr lang="en-US" sz="1100" dirty="0"/>
          </a:p>
        </p:txBody>
      </p:sp>
      <p:sp>
        <p:nvSpPr>
          <p:cNvPr id="30" name="Shape 23"/>
          <p:cNvSpPr/>
          <p:nvPr/>
        </p:nvSpPr>
        <p:spPr>
          <a:xfrm>
            <a:off x="4206240" y="3364992"/>
            <a:ext cx="731520" cy="731520"/>
          </a:xfrm>
          <a:prstGeom prst="ellipse">
            <a:avLst/>
          </a:prstGeom>
          <a:solidFill>
            <a:srgbClr val="C0313C"/>
          </a:solidFill>
          <a:ln w="12700">
            <a:solidFill>
              <a:srgbClr val="C0313C"/>
            </a:solidFill>
            <a:prstDash val="solid"/>
          </a:ln>
        </p:spPr>
      </p:sp>
      <p:pic>
        <p:nvPicPr>
          <p:cNvPr id="31" name="Image 4" descr="preencoded.png">    </p:cNvPr>
          <p:cNvPicPr>
            <a:picLocks noChangeAspect="1"/>
          </p:cNvPicPr>
          <p:nvPr/>
        </p:nvPicPr>
        <p:blipFill>
          <a:blip r:embed="rId5"/>
          <a:stretch>
            <a:fillRect/>
          </a:stretch>
        </p:blipFill>
        <p:spPr>
          <a:xfrm>
            <a:off x="4389120" y="3547872"/>
            <a:ext cx="365760" cy="365760"/>
          </a:xfrm>
          <a:prstGeom prst="rect">
            <a:avLst/>
          </a:prstGeom>
        </p:spPr>
      </p:pic>
      <p:sp>
        <p:nvSpPr>
          <p:cNvPr id="32" name="Text 24"/>
          <p:cNvSpPr txBox="1"/>
          <p:nvPr/>
        </p:nvSpPr>
        <p:spPr>
          <a:xfrm>
            <a:off x="3566160" y="4114800"/>
            <a:ext cx="2011680" cy="228600"/>
          </a:xfrm>
          <a:prstGeom prst="rect">
            <a:avLst/>
          </a:prstGeom>
          <a:noFill/>
          <a:ln/>
        </p:spPr>
        <p:txBody>
          <a:bodyPr wrap="square" lIns="0" tIns="0" rIns="0" bIns="0" rtlCol="0" anchor="ctr"/>
          <a:lstStyle/>
          <a:p>
            <a:pPr algn="ctr" indent="0" marL="0">
              <a:buNone/>
            </a:pPr>
            <a:r>
              <a:rPr lang="en-US" sz="1300" b="1" dirty="0">
                <a:solidFill>
                  <a:srgbClr val="1B2230"/>
                </a:solidFill>
                <a:latin typeface="Cambria" pitchFamily="34" charset="0"/>
                <a:ea typeface="Cambria" pitchFamily="34" charset="-122"/>
                <a:cs typeface="Cambria" pitchFamily="34" charset="-120"/>
              </a:rPr>
              <a:t>Diagnostic engine</a:t>
            </a:r>
            <a:endParaRPr lang="en-US" sz="1300" dirty="0"/>
          </a:p>
        </p:txBody>
      </p:sp>
      <p:sp>
        <p:nvSpPr>
          <p:cNvPr id="33" name="Text 25"/>
          <p:cNvSpPr txBox="1"/>
          <p:nvPr/>
        </p:nvSpPr>
        <p:spPr>
          <a:xfrm>
            <a:off x="3566160" y="4325112"/>
            <a:ext cx="2011680" cy="201168"/>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Rules · Pricing</a:t>
            </a:r>
            <a:endParaRPr lang="en-US" sz="1100" dirty="0"/>
          </a:p>
        </p:txBody>
      </p:sp>
      <p:sp>
        <p:nvSpPr>
          <p:cNvPr id="34" name="Shape 26"/>
          <p:cNvSpPr/>
          <p:nvPr/>
        </p:nvSpPr>
        <p:spPr>
          <a:xfrm>
            <a:off x="1188720" y="3364992"/>
            <a:ext cx="731520" cy="731520"/>
          </a:xfrm>
          <a:prstGeom prst="ellipse">
            <a:avLst/>
          </a:prstGeom>
          <a:solidFill>
            <a:srgbClr val="B8325F"/>
          </a:solidFill>
          <a:ln w="12700">
            <a:solidFill>
              <a:srgbClr val="B8325F"/>
            </a:solidFill>
            <a:prstDash val="solid"/>
          </a:ln>
        </p:spPr>
      </p:sp>
      <p:pic>
        <p:nvPicPr>
          <p:cNvPr id="35" name="Image 5" descr="preencoded.png">    </p:cNvPr>
          <p:cNvPicPr>
            <a:picLocks noChangeAspect="1"/>
          </p:cNvPicPr>
          <p:nvPr/>
        </p:nvPicPr>
        <p:blipFill>
          <a:blip r:embed="rId6"/>
          <a:stretch>
            <a:fillRect/>
          </a:stretch>
        </p:blipFill>
        <p:spPr>
          <a:xfrm>
            <a:off x="1371600" y="3547872"/>
            <a:ext cx="365760" cy="365760"/>
          </a:xfrm>
          <a:prstGeom prst="rect">
            <a:avLst/>
          </a:prstGeom>
        </p:spPr>
      </p:pic>
      <p:sp>
        <p:nvSpPr>
          <p:cNvPr id="36" name="Text 27"/>
          <p:cNvSpPr txBox="1"/>
          <p:nvPr/>
        </p:nvSpPr>
        <p:spPr>
          <a:xfrm>
            <a:off x="548640" y="4114800"/>
            <a:ext cx="2011680" cy="228600"/>
          </a:xfrm>
          <a:prstGeom prst="rect">
            <a:avLst/>
          </a:prstGeom>
          <a:noFill/>
          <a:ln/>
        </p:spPr>
        <p:txBody>
          <a:bodyPr wrap="square" lIns="0" tIns="0" rIns="0" bIns="0" rtlCol="0" anchor="ctr"/>
          <a:lstStyle/>
          <a:p>
            <a:pPr algn="ctr" indent="0" marL="0">
              <a:buNone/>
            </a:pPr>
            <a:r>
              <a:rPr lang="en-US" sz="1300" b="1" dirty="0">
                <a:solidFill>
                  <a:srgbClr val="1B2230"/>
                </a:solidFill>
                <a:latin typeface="Cambria" pitchFamily="34" charset="0"/>
                <a:ea typeface="Cambria" pitchFamily="34" charset="-122"/>
                <a:cs typeface="Cambria" pitchFamily="34" charset="-120"/>
              </a:rPr>
              <a:t>FlipValue</a:t>
            </a:r>
            <a:endParaRPr lang="en-US" sz="1300" dirty="0"/>
          </a:p>
        </p:txBody>
      </p:sp>
      <p:sp>
        <p:nvSpPr>
          <p:cNvPr id="37" name="Text 28"/>
          <p:cNvSpPr txBox="1"/>
          <p:nvPr/>
        </p:nvSpPr>
        <p:spPr>
          <a:xfrm>
            <a:off x="548640" y="4325112"/>
            <a:ext cx="2011680" cy="201168"/>
          </a:xfrm>
          <a:prstGeom prst="rect">
            <a:avLst/>
          </a:prstGeom>
          <a:noFill/>
          <a:ln/>
        </p:spPr>
        <p:txBody>
          <a:bodyPr wrap="square" lIns="0" tIns="0" rIns="0" bIns="0" rtlCol="0" anchor="ctr"/>
          <a:lstStyle/>
          <a:p>
            <a:pPr algn="ctr" indent="0" marL="0">
              <a:buNone/>
            </a:pPr>
            <a:r>
              <a:rPr lang="en-US" sz="1100" dirty="0">
                <a:solidFill>
                  <a:srgbClr val="5B6577"/>
                </a:solidFill>
                <a:latin typeface="Calibri" pitchFamily="34" charset="0"/>
                <a:ea typeface="Calibri" pitchFamily="34" charset="-122"/>
                <a:cs typeface="Calibri" pitchFamily="34" charset="-120"/>
              </a:rPr>
              <a:t>Resale values (partner)</a:t>
            </a:r>
            <a:endParaRPr lang="en-US" sz="1100" dirty="0"/>
          </a:p>
        </p:txBody>
      </p:sp>
      <p:sp>
        <p:nvSpPr>
          <p:cNvPr id="38" name="Shape 29"/>
          <p:cNvSpPr/>
          <p:nvPr/>
        </p:nvSpPr>
        <p:spPr>
          <a:xfrm flipH="1">
            <a:off x="5029200" y="3730752"/>
            <a:ext cx="2103120" cy="0"/>
          </a:xfrm>
          <a:prstGeom prst="line">
            <a:avLst/>
          </a:prstGeom>
          <a:noFill/>
          <a:ln w="25400">
            <a:solidFill>
              <a:srgbClr val="9A7418"/>
            </a:solidFill>
            <a:prstDash val="solid"/>
            <a:tailEnd type="triangle"/>
          </a:ln>
        </p:spPr>
      </p:sp>
      <p:sp>
        <p:nvSpPr>
          <p:cNvPr id="39" name="Shape 30"/>
          <p:cNvSpPr/>
          <p:nvPr/>
        </p:nvSpPr>
        <p:spPr>
          <a:xfrm flipH="1">
            <a:off x="2011680" y="3730752"/>
            <a:ext cx="2103120" cy="0"/>
          </a:xfrm>
          <a:prstGeom prst="line">
            <a:avLst/>
          </a:prstGeom>
          <a:noFill/>
          <a:ln w="25400">
            <a:solidFill>
              <a:srgbClr val="9A7418"/>
            </a:solidFill>
            <a:prstDash val="solid"/>
            <a:tailEnd type="triangle"/>
          </a:ln>
        </p:spPr>
      </p:sp>
      <p:sp>
        <p:nvSpPr>
          <p:cNvPr id="40" name="Shape 31"/>
          <p:cNvSpPr/>
          <p:nvPr/>
        </p:nvSpPr>
        <p:spPr>
          <a:xfrm>
            <a:off x="7589520" y="2926080"/>
            <a:ext cx="0" cy="420624"/>
          </a:xfrm>
          <a:prstGeom prst="line">
            <a:avLst/>
          </a:prstGeom>
          <a:noFill/>
          <a:ln w="25400">
            <a:solidFill>
              <a:srgbClr val="9A7418"/>
            </a:solidFill>
            <a:prstDash val="solid"/>
            <a:tailEnd type="triangle"/>
          </a:ln>
        </p:spPr>
      </p:sp>
      <p:sp>
        <p:nvSpPr>
          <p:cNvPr id="41" name="Text 32"/>
          <p:cNvSpPr txBox="1"/>
          <p:nvPr/>
        </p:nvSpPr>
        <p:spPr>
          <a:xfrm>
            <a:off x="7726680" y="2944368"/>
            <a:ext cx="914400" cy="228600"/>
          </a:xfrm>
          <a:prstGeom prst="rect">
            <a:avLst/>
          </a:prstGeom>
          <a:noFill/>
          <a:ln/>
        </p:spPr>
        <p:txBody>
          <a:bodyPr wrap="square" lIns="0" tIns="0" rIns="0" bIns="0" rtlCol="0" anchor="ctr"/>
          <a:lstStyle/>
          <a:p>
            <a:pPr indent="0" marL="0">
              <a:buNone/>
            </a:pPr>
            <a:r>
              <a:rPr lang="en-US" sz="1000" b="1" dirty="0">
                <a:solidFill>
                  <a:srgbClr val="9A7418"/>
                </a:solidFill>
                <a:latin typeface="Calibri" pitchFamily="34" charset="0"/>
                <a:ea typeface="Calibri" pitchFamily="34" charset="-122"/>
                <a:cs typeface="Calibri" pitchFamily="34" charset="-120"/>
              </a:rPr>
              <a:t>HTTPS / JSON</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ill"/>
          <p:cNvSpPr/>
          <p:nvPr/>
        </p:nvSpPr>
        <p:spPr>
          <a:xfrm>
            <a:off x="457200" y="320040"/>
            <a:ext cx="1708099" cy="292608"/>
          </a:xfrm>
          <a:prstGeom prst="roundRect">
            <a:avLst>
              <a:gd name="adj" fmla="val 50000"/>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708099" cy="292608"/>
          </a:xfrm>
          <a:prstGeom prst="rect">
            <a:avLst/>
          </a:prstGeom>
          <a:noFill/>
        </p:spPr>
        <p:txBody>
          <a:bodyPr wrap="square" lIns="0" rIns="0" tIns="0" bIns="0" anchor="ctr">
            <a:spAutoFit/>
          </a:bodyPr>
          <a:lstStyle/>
          <a:p>
            <a:pPr algn="ctr"/>
            <a:r>
              <a:rPr sz="1100" b="0" i="0" spc="100">
                <a:solidFill>
                  <a:srgbClr val="FFFFFF"/>
                </a:solidFill>
                <a:latin typeface="Calibri"/>
              </a:rPr>
              <a:t>UNDER THE HOOD</a:t>
            </a:r>
          </a:p>
        </p:txBody>
      </p:sp>
      <p:sp>
        <p:nvSpPr>
          <p:cNvPr id="4" name="Title"/>
          <p:cNvSpPr txBox="1"/>
          <p:nvPr/>
        </p:nvSpPr>
        <p:spPr>
          <a:xfrm>
            <a:off x="457200" y="685800"/>
            <a:ext cx="8229600" cy="640080"/>
          </a:xfrm>
          <a:prstGeom prst="rect">
            <a:avLst/>
          </a:prstGeom>
          <a:noFill/>
        </p:spPr>
        <p:txBody>
          <a:bodyPr wrap="square" lIns="0" rIns="0" tIns="0" bIns="0" anchor="ctr">
            <a:spAutoFit/>
          </a:bodyPr>
          <a:lstStyle/>
          <a:p>
            <a:pPr algn="l"/>
            <a:r>
              <a:rPr sz="3400" b="1" i="0">
                <a:solidFill>
                  <a:srgbClr val="1B2230"/>
                </a:solidFill>
                <a:latin typeface="Cambria"/>
              </a:rPr>
              <a:t>What each </a:t>
            </a:r>
            <a:r>
              <a:rPr sz="3400" b="1" i="0">
                <a:solidFill>
                  <a:srgbClr val="9A7418"/>
                </a:solidFill>
                <a:latin typeface="Cambria"/>
              </a:rPr>
              <a:t>part does</a:t>
            </a:r>
          </a:p>
        </p:txBody>
      </p:sp>
      <p:sp>
        <p:nvSpPr>
          <p:cNvPr id="5" name="Slide number"/>
          <p:cNvSpPr txBox="1"/>
          <p:nvPr/>
        </p:nvSpPr>
        <p:spPr>
          <a:xfrm>
            <a:off x="8229600" y="4754880"/>
            <a:ext cx="457200" cy="228600"/>
          </a:xfrm>
          <a:prstGeom prst="rect">
            <a:avLst/>
          </a:prstGeom>
          <a:noFill/>
        </p:spPr>
        <p:txBody>
          <a:bodyPr wrap="square" lIns="0" rIns="0" tIns="0" bIns="0" anchor="t">
            <a:spAutoFit/>
          </a:bodyPr>
          <a:lstStyle/>
          <a:p>
            <a:pPr algn="r"/>
            <a:r>
              <a:rPr sz="1000" b="0" i="0">
                <a:solidFill>
                  <a:srgbClr val="5B6577"/>
                </a:solidFill>
                <a:latin typeface="Calibri"/>
              </a:rPr>
              <a:t>5</a:t>
            </a:r>
          </a:p>
        </p:txBody>
      </p:sp>
      <p:sp>
        <p:nvSpPr>
          <p:cNvPr id="6" name="FixMyTech panel"/>
          <p:cNvSpPr/>
          <p:nvPr/>
        </p:nvSpPr>
        <p:spPr>
          <a:xfrm>
            <a:off x="137160" y="1325880"/>
            <a:ext cx="4343400" cy="3410712"/>
          </a:xfrm>
          <a:prstGeom prst="roundRect">
            <a:avLst>
              <a:gd name="adj" fmla="val 3753"/>
            </a:avLst>
          </a:prstGeom>
          <a:solidFill>
            <a:srgbClr val="ECE7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t.png"/>
          <p:cNvPicPr>
            <a:picLocks noChangeAspect="1"/>
          </p:cNvPicPr>
          <p:nvPr/>
        </p:nvPicPr>
        <p:blipFill>
          <a:blip r:embed="rId3"/>
          <a:stretch>
            <a:fillRect/>
          </a:stretch>
        </p:blipFill>
        <p:spPr>
          <a:xfrm>
            <a:off x="246888" y="1380744"/>
            <a:ext cx="274320" cy="274320"/>
          </a:xfrm>
          <a:prstGeom prst="rect">
            <a:avLst/>
          </a:prstGeom>
        </p:spPr>
      </p:pic>
      <p:sp>
        <p:nvSpPr>
          <p:cNvPr id="8" name="TextBox 7"/>
          <p:cNvSpPr txBox="1"/>
          <p:nvPr/>
        </p:nvSpPr>
        <p:spPr>
          <a:xfrm>
            <a:off x="594360" y="1362456"/>
            <a:ext cx="2743200" cy="201168"/>
          </a:xfrm>
          <a:prstGeom prst="rect">
            <a:avLst/>
          </a:prstGeom>
          <a:noFill/>
        </p:spPr>
        <p:txBody>
          <a:bodyPr wrap="square" lIns="0" rIns="0" tIns="0" bIns="0" anchor="t">
            <a:spAutoFit/>
          </a:bodyPr>
          <a:lstStyle/>
          <a:p>
            <a:pPr algn="l"/>
            <a:r>
              <a:rPr sz="1400" b="1" i="0">
                <a:solidFill>
                  <a:srgbClr val="17877B"/>
                </a:solidFill>
                <a:latin typeface="Cambria"/>
              </a:rPr>
              <a:t>FixMyTech</a:t>
            </a:r>
          </a:p>
        </p:txBody>
      </p:sp>
      <p:sp>
        <p:nvSpPr>
          <p:cNvPr id="9" name="TextBox 8"/>
          <p:cNvSpPr txBox="1"/>
          <p:nvPr/>
        </p:nvSpPr>
        <p:spPr>
          <a:xfrm>
            <a:off x="594360" y="1554480"/>
            <a:ext cx="3200400" cy="128016"/>
          </a:xfrm>
          <a:prstGeom prst="rect">
            <a:avLst/>
          </a:prstGeom>
          <a:noFill/>
        </p:spPr>
        <p:txBody>
          <a:bodyPr wrap="square" lIns="0" rIns="0" tIns="0" bIns="0" anchor="t">
            <a:spAutoFit/>
          </a:bodyPr>
          <a:lstStyle/>
          <a:p>
            <a:pPr algn="l"/>
            <a:r>
              <a:rPr sz="750" b="0" i="0" spc="150">
                <a:solidFill>
                  <a:srgbClr val="5B6577"/>
                </a:solidFill>
                <a:latin typeface="Calibri"/>
              </a:rPr>
              <a:t>PROJECT A  ·  DIAGNOSE &amp; DECIDE</a:t>
            </a:r>
          </a:p>
        </p:txBody>
      </p:sp>
      <p:sp>
        <p:nvSpPr>
          <p:cNvPr id="10" name="TextBox 9"/>
          <p:cNvSpPr txBox="1"/>
          <p:nvPr/>
        </p:nvSpPr>
        <p:spPr>
          <a:xfrm>
            <a:off x="2633472" y="1417320"/>
            <a:ext cx="1737360" cy="201168"/>
          </a:xfrm>
          <a:prstGeom prst="rect">
            <a:avLst/>
          </a:prstGeom>
          <a:noFill/>
        </p:spPr>
        <p:txBody>
          <a:bodyPr wrap="square" lIns="0" rIns="0" tIns="0" bIns="0" anchor="ctr">
            <a:spAutoFit/>
          </a:bodyPr>
          <a:lstStyle/>
          <a:p>
            <a:pPr algn="r"/>
            <a:r>
              <a:rPr sz="700" b="0" i="0" spc="100">
                <a:solidFill>
                  <a:srgbClr val="5B6577"/>
                </a:solidFill>
                <a:latin typeface="Calibri"/>
              </a:rPr>
              <a:t>FILES AND THEIR ROLES</a:t>
            </a:r>
          </a:p>
        </p:txBody>
      </p:sp>
      <p:sp>
        <p:nvSpPr>
          <p:cNvPr id="11" name="FixMyTech module 1"/>
          <p:cNvSpPr/>
          <p:nvPr/>
        </p:nvSpPr>
        <p:spPr>
          <a:xfrm>
            <a:off x="228600" y="1691640"/>
            <a:ext cx="1301495" cy="941832"/>
          </a:xfrm>
          <a:prstGeom prst="roundRect">
            <a:avLst>
              <a:gd name="adj" fmla="val 8737"/>
            </a:avLst>
          </a:prstGeom>
          <a:solidFill>
            <a:srgbClr val="E8F3F2"/>
          </a:solidFill>
          <a:ln w="9525">
            <a:solidFill>
              <a:srgbClr val="A2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2608" y="1737360"/>
            <a:ext cx="192024" cy="192024"/>
          </a:xfrm>
          <a:prstGeom prst="ellipse">
            <a:avLst/>
          </a:prstGeom>
          <a:solidFill>
            <a:srgbClr val="1787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 y="1737360"/>
            <a:ext cx="192024" cy="192024"/>
          </a:xfrm>
          <a:prstGeom prst="rect">
            <a:avLst/>
          </a:prstGeom>
          <a:noFill/>
        </p:spPr>
        <p:txBody>
          <a:bodyPr wrap="square" lIns="0" rIns="0" tIns="0" bIns="0" anchor="ctr">
            <a:spAutoFit/>
          </a:bodyPr>
          <a:lstStyle/>
          <a:p>
            <a:pPr algn="ctr"/>
            <a:r>
              <a:rPr sz="800" b="1" i="0">
                <a:solidFill>
                  <a:srgbClr val="FFFFFF"/>
                </a:solidFill>
                <a:latin typeface="Calibri"/>
              </a:rPr>
              <a:t>01</a:t>
            </a:r>
          </a:p>
        </p:txBody>
      </p:sp>
      <p:pic>
        <p:nvPicPr>
          <p:cNvPr id="14" name="Picture 13" descr="a1.png"/>
          <p:cNvPicPr>
            <a:picLocks noChangeAspect="1"/>
          </p:cNvPicPr>
          <p:nvPr/>
        </p:nvPicPr>
        <p:blipFill>
          <a:blip r:embed="rId4"/>
          <a:stretch>
            <a:fillRect/>
          </a:stretch>
        </p:blipFill>
        <p:spPr>
          <a:xfrm>
            <a:off x="1246631" y="1728216"/>
            <a:ext cx="219456" cy="219456"/>
          </a:xfrm>
          <a:prstGeom prst="rect">
            <a:avLst/>
          </a:prstGeom>
        </p:spPr>
      </p:pic>
      <p:sp>
        <p:nvSpPr>
          <p:cNvPr id="15" name="TextBox 14"/>
          <p:cNvSpPr txBox="1"/>
          <p:nvPr/>
        </p:nvSpPr>
        <p:spPr>
          <a:xfrm>
            <a:off x="292608" y="1920240"/>
            <a:ext cx="1210055" cy="164592"/>
          </a:xfrm>
          <a:prstGeom prst="rect">
            <a:avLst/>
          </a:prstGeom>
          <a:noFill/>
        </p:spPr>
        <p:txBody>
          <a:bodyPr wrap="square" lIns="0" rIns="0" tIns="0" bIns="0" anchor="t">
            <a:spAutoFit/>
          </a:bodyPr>
          <a:lstStyle/>
          <a:p>
            <a:pPr algn="l"/>
            <a:r>
              <a:rPr sz="1000" b="1" i="0">
                <a:solidFill>
                  <a:srgbClr val="17877B"/>
                </a:solidFill>
                <a:latin typeface="Calibri"/>
              </a:rPr>
              <a:t>collectors.py</a:t>
            </a:r>
          </a:p>
        </p:txBody>
      </p:sp>
      <p:sp>
        <p:nvSpPr>
          <p:cNvPr id="16" name="TextBox 15"/>
          <p:cNvSpPr txBox="1"/>
          <p:nvPr/>
        </p:nvSpPr>
        <p:spPr>
          <a:xfrm>
            <a:off x="292608" y="2084832"/>
            <a:ext cx="1191768" cy="128016"/>
          </a:xfrm>
          <a:prstGeom prst="rect">
            <a:avLst/>
          </a:prstGeom>
          <a:noFill/>
        </p:spPr>
        <p:txBody>
          <a:bodyPr wrap="square" lIns="0" rIns="0" tIns="0" bIns="0" anchor="t">
            <a:spAutoFit/>
          </a:bodyPr>
          <a:lstStyle/>
          <a:p>
            <a:pPr algn="l"/>
            <a:r>
              <a:rPr sz="850" b="0" i="0">
                <a:solidFill>
                  <a:srgbClr val="1B2230"/>
                </a:solidFill>
                <a:latin typeface="Calibri"/>
              </a:rPr>
              <a:t>Reads the phone</a:t>
            </a:r>
          </a:p>
        </p:txBody>
      </p:sp>
      <p:sp>
        <p:nvSpPr>
          <p:cNvPr id="17" name="TextBox 16"/>
          <p:cNvSpPr txBox="1"/>
          <p:nvPr/>
        </p:nvSpPr>
        <p:spPr>
          <a:xfrm>
            <a:off x="292608" y="2221992"/>
            <a:ext cx="1210055" cy="365760"/>
          </a:xfrm>
          <a:prstGeom prst="rect">
            <a:avLst/>
          </a:prstGeom>
          <a:noFill/>
        </p:spPr>
        <p:txBody>
          <a:bodyPr wrap="square" lIns="0" rIns="0" tIns="0" bIns="0" anchor="t">
            <a:spAutoFit/>
          </a:bodyPr>
          <a:lstStyle/>
          <a:p>
            <a:pPr marL="82296" indent="-82296">
              <a:buClr>
                <a:srgbClr val="17877B"/>
              </a:buClr>
              <a:buChar char="•"/>
            </a:pPr>
            <a:r>
              <a:rPr sz="800" b="0" i="0">
                <a:solidFill>
                  <a:srgbClr val="3A4454"/>
                </a:solidFill>
                <a:latin typeface="Calibri"/>
              </a:rPr>
              <a:t>15 read-only checks</a:t>
            </a:r>
          </a:p>
          <a:p>
            <a:pPr marL="82296" indent="-82296">
              <a:buClr>
                <a:srgbClr val="17877B"/>
              </a:buClr>
              <a:buChar char="•"/>
            </a:pPr>
            <a:r>
              <a:rPr sz="800" b="0" i="0">
                <a:solidFill>
                  <a:srgbClr val="3A4454"/>
                </a:solidFill>
                <a:latin typeface="Calibri"/>
              </a:rPr>
              <a:t>Battery and storage</a:t>
            </a:r>
          </a:p>
          <a:p>
            <a:pPr marL="82296" indent="-82296">
              <a:buClr>
                <a:srgbClr val="17877B"/>
              </a:buClr>
              <a:buChar char="•"/>
            </a:pPr>
            <a:r>
              <a:rPr sz="800" b="0" i="0">
                <a:solidFill>
                  <a:srgbClr val="3A4454"/>
                </a:solidFill>
                <a:latin typeface="Calibri"/>
              </a:rPr>
              <a:t>Changes nothing</a:t>
            </a:r>
          </a:p>
        </p:txBody>
      </p:sp>
      <p:sp>
        <p:nvSpPr>
          <p:cNvPr id="18" name="Isosceles Triangle 17"/>
          <p:cNvSpPr/>
          <p:nvPr/>
        </p:nvSpPr>
        <p:spPr>
          <a:xfrm rot="5400000">
            <a:off x="1552956" y="2121408"/>
            <a:ext cx="82296" cy="82296"/>
          </a:xfrm>
          <a:prstGeom prst="triangle">
            <a:avLst/>
          </a:prstGeom>
          <a:solidFill>
            <a:srgbClr val="1787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ixMyTech module 2"/>
          <p:cNvSpPr/>
          <p:nvPr/>
        </p:nvSpPr>
        <p:spPr>
          <a:xfrm>
            <a:off x="1658111" y="1691640"/>
            <a:ext cx="1301495" cy="941832"/>
          </a:xfrm>
          <a:prstGeom prst="roundRect">
            <a:avLst>
              <a:gd name="adj" fmla="val 8737"/>
            </a:avLst>
          </a:prstGeom>
          <a:solidFill>
            <a:srgbClr val="F9EFE8"/>
          </a:solidFill>
          <a:ln w="9525">
            <a:solidFill>
              <a:srgbClr val="E9B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722119" y="1737360"/>
            <a:ext cx="192024" cy="192024"/>
          </a:xfrm>
          <a:prstGeom prst="ellipse">
            <a:avLst/>
          </a:prstGeom>
          <a:solidFill>
            <a:srgbClr val="C75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22119" y="1737360"/>
            <a:ext cx="192024" cy="192024"/>
          </a:xfrm>
          <a:prstGeom prst="rect">
            <a:avLst/>
          </a:prstGeom>
          <a:noFill/>
        </p:spPr>
        <p:txBody>
          <a:bodyPr wrap="square" lIns="0" rIns="0" tIns="0" bIns="0" anchor="ctr">
            <a:spAutoFit/>
          </a:bodyPr>
          <a:lstStyle/>
          <a:p>
            <a:pPr algn="ctr"/>
            <a:r>
              <a:rPr sz="800" b="1" i="0">
                <a:solidFill>
                  <a:srgbClr val="FFFFFF"/>
                </a:solidFill>
                <a:latin typeface="Calibri"/>
              </a:rPr>
              <a:t>02</a:t>
            </a:r>
          </a:p>
        </p:txBody>
      </p:sp>
      <p:pic>
        <p:nvPicPr>
          <p:cNvPr id="22" name="Picture 21" descr="a2.png"/>
          <p:cNvPicPr>
            <a:picLocks noChangeAspect="1"/>
          </p:cNvPicPr>
          <p:nvPr/>
        </p:nvPicPr>
        <p:blipFill>
          <a:blip r:embed="rId5"/>
          <a:stretch>
            <a:fillRect/>
          </a:stretch>
        </p:blipFill>
        <p:spPr>
          <a:xfrm>
            <a:off x="2676143" y="1728216"/>
            <a:ext cx="219456" cy="219456"/>
          </a:xfrm>
          <a:prstGeom prst="rect">
            <a:avLst/>
          </a:prstGeom>
        </p:spPr>
      </p:pic>
      <p:sp>
        <p:nvSpPr>
          <p:cNvPr id="23" name="TextBox 22"/>
          <p:cNvSpPr txBox="1"/>
          <p:nvPr/>
        </p:nvSpPr>
        <p:spPr>
          <a:xfrm>
            <a:off x="1722119" y="1920240"/>
            <a:ext cx="1210055" cy="164592"/>
          </a:xfrm>
          <a:prstGeom prst="rect">
            <a:avLst/>
          </a:prstGeom>
          <a:noFill/>
        </p:spPr>
        <p:txBody>
          <a:bodyPr wrap="square" lIns="0" rIns="0" tIns="0" bIns="0" anchor="t">
            <a:spAutoFit/>
          </a:bodyPr>
          <a:lstStyle/>
          <a:p>
            <a:pPr algn="l"/>
            <a:r>
              <a:rPr sz="1000" b="1" i="0">
                <a:solidFill>
                  <a:srgbClr val="C75F1E"/>
                </a:solidFill>
                <a:latin typeface="Calibri"/>
              </a:rPr>
              <a:t>tests.js</a:t>
            </a:r>
          </a:p>
        </p:txBody>
      </p:sp>
      <p:sp>
        <p:nvSpPr>
          <p:cNvPr id="24" name="TextBox 23"/>
          <p:cNvSpPr txBox="1"/>
          <p:nvPr/>
        </p:nvSpPr>
        <p:spPr>
          <a:xfrm>
            <a:off x="1722119" y="2084832"/>
            <a:ext cx="1191768" cy="128016"/>
          </a:xfrm>
          <a:prstGeom prst="rect">
            <a:avLst/>
          </a:prstGeom>
          <a:noFill/>
        </p:spPr>
        <p:txBody>
          <a:bodyPr wrap="square" lIns="0" rIns="0" tIns="0" bIns="0" anchor="t">
            <a:spAutoFit/>
          </a:bodyPr>
          <a:lstStyle/>
          <a:p>
            <a:pPr algn="l"/>
            <a:r>
              <a:rPr sz="850" b="0" i="0">
                <a:solidFill>
                  <a:srgbClr val="1B2230"/>
                </a:solidFill>
                <a:latin typeface="Calibri"/>
              </a:rPr>
              <a:t>Hands-on tests screen</a:t>
            </a:r>
          </a:p>
        </p:txBody>
      </p:sp>
      <p:sp>
        <p:nvSpPr>
          <p:cNvPr id="25" name="TextBox 24"/>
          <p:cNvSpPr txBox="1"/>
          <p:nvPr/>
        </p:nvSpPr>
        <p:spPr>
          <a:xfrm>
            <a:off x="1722119" y="2221992"/>
            <a:ext cx="1210055" cy="365760"/>
          </a:xfrm>
          <a:prstGeom prst="rect">
            <a:avLst/>
          </a:prstGeom>
          <a:noFill/>
        </p:spPr>
        <p:txBody>
          <a:bodyPr wrap="square" lIns="0" rIns="0" tIns="0" bIns="0" anchor="t">
            <a:spAutoFit/>
          </a:bodyPr>
          <a:lstStyle/>
          <a:p>
            <a:pPr marL="82296" indent="-82296">
              <a:buClr>
                <a:srgbClr val="C75F1E"/>
              </a:buClr>
              <a:buChar char="•"/>
            </a:pPr>
            <a:r>
              <a:rPr sz="800" b="0" i="0">
                <a:solidFill>
                  <a:srgbClr val="3A4454"/>
                </a:solidFill>
                <a:latin typeface="Calibri"/>
              </a:rPr>
              <a:t>Touch, mic, camera</a:t>
            </a:r>
          </a:p>
          <a:p>
            <a:pPr marL="82296" indent="-82296">
              <a:buClr>
                <a:srgbClr val="C75F1E"/>
              </a:buClr>
              <a:buChar char="•"/>
            </a:pPr>
            <a:r>
              <a:rPr sz="800" b="0" i="0">
                <a:solidFill>
                  <a:srgbClr val="3A4454"/>
                </a:solidFill>
                <a:latin typeface="Calibri"/>
              </a:rPr>
              <a:t>One section at a time</a:t>
            </a:r>
          </a:p>
          <a:p>
            <a:pPr marL="82296" indent="-82296">
              <a:buClr>
                <a:srgbClr val="C75F1E"/>
              </a:buClr>
              <a:buChar char="•"/>
            </a:pPr>
            <a:r>
              <a:rPr sz="800" b="0" i="0">
                <a:solidFill>
                  <a:srgbClr val="3A4454"/>
                </a:solidFill>
                <a:latin typeface="Calibri"/>
              </a:rPr>
              <a:t>Progress bar on top</a:t>
            </a:r>
          </a:p>
        </p:txBody>
      </p:sp>
      <p:sp>
        <p:nvSpPr>
          <p:cNvPr id="26" name="Isosceles Triangle 25"/>
          <p:cNvSpPr/>
          <p:nvPr/>
        </p:nvSpPr>
        <p:spPr>
          <a:xfrm rot="5400000">
            <a:off x="2982467" y="2121408"/>
            <a:ext cx="82296" cy="82296"/>
          </a:xfrm>
          <a:prstGeom prst="triangle">
            <a:avLst/>
          </a:prstGeom>
          <a:solidFill>
            <a:srgbClr val="C75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ixMyTech module 3"/>
          <p:cNvSpPr/>
          <p:nvPr/>
        </p:nvSpPr>
        <p:spPr>
          <a:xfrm>
            <a:off x="3087623" y="1691640"/>
            <a:ext cx="1301495" cy="941832"/>
          </a:xfrm>
          <a:prstGeom prst="roundRect">
            <a:avLst>
              <a:gd name="adj" fmla="val 8737"/>
            </a:avLst>
          </a:prstGeom>
          <a:solidFill>
            <a:srgbClr val="F0EEF9"/>
          </a:solidFill>
          <a:ln w="9525">
            <a:solidFill>
              <a:srgbClr val="C5BA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151631" y="1737360"/>
            <a:ext cx="192024" cy="192024"/>
          </a:xfrm>
          <a:prstGeom prst="ellipse">
            <a:avLst/>
          </a:prstGeom>
          <a:solidFill>
            <a:srgbClr val="6E5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51631" y="1737360"/>
            <a:ext cx="192024" cy="192024"/>
          </a:xfrm>
          <a:prstGeom prst="rect">
            <a:avLst/>
          </a:prstGeom>
          <a:noFill/>
        </p:spPr>
        <p:txBody>
          <a:bodyPr wrap="square" lIns="0" rIns="0" tIns="0" bIns="0" anchor="ctr">
            <a:spAutoFit/>
          </a:bodyPr>
          <a:lstStyle/>
          <a:p>
            <a:pPr algn="ctr"/>
            <a:r>
              <a:rPr sz="800" b="1" i="0">
                <a:solidFill>
                  <a:srgbClr val="FFFFFF"/>
                </a:solidFill>
                <a:latin typeface="Calibri"/>
              </a:rPr>
              <a:t>03</a:t>
            </a:r>
          </a:p>
        </p:txBody>
      </p:sp>
      <p:pic>
        <p:nvPicPr>
          <p:cNvPr id="30" name="Picture 29" descr="a3.png"/>
          <p:cNvPicPr>
            <a:picLocks noChangeAspect="1"/>
          </p:cNvPicPr>
          <p:nvPr/>
        </p:nvPicPr>
        <p:blipFill>
          <a:blip r:embed="rId6"/>
          <a:stretch>
            <a:fillRect/>
          </a:stretch>
        </p:blipFill>
        <p:spPr>
          <a:xfrm>
            <a:off x="4105655" y="1728216"/>
            <a:ext cx="219456" cy="219456"/>
          </a:xfrm>
          <a:prstGeom prst="rect">
            <a:avLst/>
          </a:prstGeom>
        </p:spPr>
      </p:pic>
      <p:sp>
        <p:nvSpPr>
          <p:cNvPr id="31" name="TextBox 30"/>
          <p:cNvSpPr txBox="1"/>
          <p:nvPr/>
        </p:nvSpPr>
        <p:spPr>
          <a:xfrm>
            <a:off x="3151631" y="1920240"/>
            <a:ext cx="1210055" cy="164592"/>
          </a:xfrm>
          <a:prstGeom prst="rect">
            <a:avLst/>
          </a:prstGeom>
          <a:noFill/>
        </p:spPr>
        <p:txBody>
          <a:bodyPr wrap="square" lIns="0" rIns="0" tIns="0" bIns="0" anchor="t">
            <a:spAutoFit/>
          </a:bodyPr>
          <a:lstStyle/>
          <a:p>
            <a:pPr algn="l"/>
            <a:r>
              <a:rPr sz="1000" b="1" i="0">
                <a:solidFill>
                  <a:srgbClr val="6E52C2"/>
                </a:solidFill>
                <a:latin typeface="Calibri"/>
              </a:rPr>
              <a:t>api.py</a:t>
            </a:r>
          </a:p>
        </p:txBody>
      </p:sp>
      <p:sp>
        <p:nvSpPr>
          <p:cNvPr id="32" name="TextBox 31"/>
          <p:cNvSpPr txBox="1"/>
          <p:nvPr/>
        </p:nvSpPr>
        <p:spPr>
          <a:xfrm>
            <a:off x="3151631" y="2084832"/>
            <a:ext cx="1191768" cy="128016"/>
          </a:xfrm>
          <a:prstGeom prst="rect">
            <a:avLst/>
          </a:prstGeom>
          <a:noFill/>
        </p:spPr>
        <p:txBody>
          <a:bodyPr wrap="square" lIns="0" rIns="0" tIns="0" bIns="0" anchor="t">
            <a:spAutoFit/>
          </a:bodyPr>
          <a:lstStyle/>
          <a:p>
            <a:pPr algn="l"/>
            <a:r>
              <a:rPr sz="850" b="0" i="0">
                <a:solidFill>
                  <a:srgbClr val="1B2230"/>
                </a:solidFill>
                <a:latin typeface="Calibri"/>
              </a:rPr>
              <a:t>Handles every request</a:t>
            </a:r>
          </a:p>
        </p:txBody>
      </p:sp>
      <p:sp>
        <p:nvSpPr>
          <p:cNvPr id="33" name="TextBox 32"/>
          <p:cNvSpPr txBox="1"/>
          <p:nvPr/>
        </p:nvSpPr>
        <p:spPr>
          <a:xfrm>
            <a:off x="3151631" y="2221992"/>
            <a:ext cx="1210055" cy="365760"/>
          </a:xfrm>
          <a:prstGeom prst="rect">
            <a:avLst/>
          </a:prstGeom>
          <a:noFill/>
        </p:spPr>
        <p:txBody>
          <a:bodyPr wrap="square" lIns="0" rIns="0" tIns="0" bIns="0" anchor="t">
            <a:spAutoFit/>
          </a:bodyPr>
          <a:lstStyle/>
          <a:p>
            <a:pPr marL="82296" indent="-82296">
              <a:buClr>
                <a:srgbClr val="6E52C2"/>
              </a:buClr>
              <a:buChar char="•"/>
            </a:pPr>
            <a:r>
              <a:rPr sz="800" b="0" i="0">
                <a:solidFill>
                  <a:srgbClr val="3A4454"/>
                </a:solidFill>
                <a:latin typeface="Calibri"/>
              </a:rPr>
              <a:t>Sessions and tests</a:t>
            </a:r>
          </a:p>
          <a:p>
            <a:pPr marL="82296" indent="-82296">
              <a:buClr>
                <a:srgbClr val="6E52C2"/>
              </a:buClr>
              <a:buChar char="•"/>
            </a:pPr>
            <a:r>
              <a:rPr sz="800" b="0" i="0">
                <a:solidFill>
                  <a:srgbClr val="3A4454"/>
                </a:solidFill>
                <a:latin typeface="Calibri"/>
              </a:rPr>
              <a:t>Repair, resale, report</a:t>
            </a:r>
          </a:p>
          <a:p>
            <a:pPr marL="82296" indent="-82296">
              <a:buClr>
                <a:srgbClr val="6E52C2"/>
              </a:buClr>
              <a:buChar char="•"/>
            </a:pPr>
            <a:r>
              <a:rPr sz="800" b="0" i="0">
                <a:solidFill>
                  <a:srgbClr val="3A4454"/>
                </a:solidFill>
                <a:latin typeface="Calibri"/>
              </a:rPr>
              <a:t>Checks access tokens</a:t>
            </a:r>
          </a:p>
        </p:txBody>
      </p:sp>
      <p:cxnSp>
        <p:nvCxnSpPr>
          <p:cNvPr id="34" name="Connector 33"/>
          <p:cNvCxnSpPr/>
          <p:nvPr/>
        </p:nvCxnSpPr>
        <p:spPr>
          <a:xfrm>
            <a:off x="3738371" y="2633472"/>
            <a:ext cx="0" cy="41148"/>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879347" y="2674620"/>
            <a:ext cx="2859024" cy="0"/>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79347" y="2674620"/>
            <a:ext cx="0" cy="41148"/>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sp>
        <p:nvSpPr>
          <p:cNvPr id="37" name="Isosceles Triangle 36"/>
          <p:cNvSpPr/>
          <p:nvPr/>
        </p:nvSpPr>
        <p:spPr>
          <a:xfrm rot="10800000">
            <a:off x="842771" y="2670048"/>
            <a:ext cx="73152" cy="73152"/>
          </a:xfrm>
          <a:prstGeom prst="triangle">
            <a:avLst/>
          </a:prstGeom>
          <a:solidFill>
            <a:srgbClr val="5B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ixMyTech module 4"/>
          <p:cNvSpPr/>
          <p:nvPr/>
        </p:nvSpPr>
        <p:spPr>
          <a:xfrm>
            <a:off x="228600" y="2715768"/>
            <a:ext cx="1301495" cy="941832"/>
          </a:xfrm>
          <a:prstGeom prst="roundRect">
            <a:avLst>
              <a:gd name="adj" fmla="val 8737"/>
            </a:avLst>
          </a:prstGeom>
          <a:solidFill>
            <a:srgbClr val="F8EAEF"/>
          </a:solidFill>
          <a:ln w="9525">
            <a:solidFill>
              <a:srgbClr val="E3AD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92608" y="2761488"/>
            <a:ext cx="192024" cy="192024"/>
          </a:xfrm>
          <a:prstGeom prst="ellipse">
            <a:avLst/>
          </a:prstGeom>
          <a:solidFill>
            <a:srgbClr val="B83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2608" y="2761488"/>
            <a:ext cx="192024" cy="192024"/>
          </a:xfrm>
          <a:prstGeom prst="rect">
            <a:avLst/>
          </a:prstGeom>
          <a:noFill/>
        </p:spPr>
        <p:txBody>
          <a:bodyPr wrap="square" lIns="0" rIns="0" tIns="0" bIns="0" anchor="ctr">
            <a:spAutoFit/>
          </a:bodyPr>
          <a:lstStyle/>
          <a:p>
            <a:pPr algn="ctr"/>
            <a:r>
              <a:rPr sz="800" b="1" i="0">
                <a:solidFill>
                  <a:srgbClr val="FFFFFF"/>
                </a:solidFill>
                <a:latin typeface="Calibri"/>
              </a:rPr>
              <a:t>04</a:t>
            </a:r>
          </a:p>
        </p:txBody>
      </p:sp>
      <p:pic>
        <p:nvPicPr>
          <p:cNvPr id="41" name="Picture 40" descr="a4.png"/>
          <p:cNvPicPr>
            <a:picLocks noChangeAspect="1"/>
          </p:cNvPicPr>
          <p:nvPr/>
        </p:nvPicPr>
        <p:blipFill>
          <a:blip r:embed="rId7"/>
          <a:stretch>
            <a:fillRect/>
          </a:stretch>
        </p:blipFill>
        <p:spPr>
          <a:xfrm>
            <a:off x="1246631" y="2752344"/>
            <a:ext cx="219456" cy="219456"/>
          </a:xfrm>
          <a:prstGeom prst="rect">
            <a:avLst/>
          </a:prstGeom>
        </p:spPr>
      </p:pic>
      <p:sp>
        <p:nvSpPr>
          <p:cNvPr id="42" name="TextBox 41"/>
          <p:cNvSpPr txBox="1"/>
          <p:nvPr/>
        </p:nvSpPr>
        <p:spPr>
          <a:xfrm>
            <a:off x="292608" y="2944368"/>
            <a:ext cx="1210055" cy="164592"/>
          </a:xfrm>
          <a:prstGeom prst="rect">
            <a:avLst/>
          </a:prstGeom>
          <a:noFill/>
        </p:spPr>
        <p:txBody>
          <a:bodyPr wrap="square" lIns="0" rIns="0" tIns="0" bIns="0" anchor="t">
            <a:spAutoFit/>
          </a:bodyPr>
          <a:lstStyle/>
          <a:p>
            <a:pPr algn="l"/>
            <a:r>
              <a:rPr sz="1000" b="1" i="0">
                <a:solidFill>
                  <a:srgbClr val="B8325F"/>
                </a:solidFill>
                <a:latin typeface="Calibri"/>
              </a:rPr>
              <a:t>services.py</a:t>
            </a:r>
          </a:p>
        </p:txBody>
      </p:sp>
      <p:sp>
        <p:nvSpPr>
          <p:cNvPr id="43" name="TextBox 42"/>
          <p:cNvSpPr txBox="1"/>
          <p:nvPr/>
        </p:nvSpPr>
        <p:spPr>
          <a:xfrm>
            <a:off x="292608" y="3108960"/>
            <a:ext cx="1191768" cy="128016"/>
          </a:xfrm>
          <a:prstGeom prst="rect">
            <a:avLst/>
          </a:prstGeom>
          <a:noFill/>
        </p:spPr>
        <p:txBody>
          <a:bodyPr wrap="square" lIns="0" rIns="0" tIns="0" bIns="0" anchor="t">
            <a:spAutoFit/>
          </a:bodyPr>
          <a:lstStyle/>
          <a:p>
            <a:pPr algn="l"/>
            <a:r>
              <a:rPr sz="850" b="0" i="0">
                <a:solidFill>
                  <a:srgbClr val="1B2230"/>
                </a:solidFill>
                <a:latin typeface="Calibri"/>
              </a:rPr>
              <a:t>Joins it all together</a:t>
            </a:r>
          </a:p>
        </p:txBody>
      </p:sp>
      <p:sp>
        <p:nvSpPr>
          <p:cNvPr id="44" name="TextBox 43"/>
          <p:cNvSpPr txBox="1"/>
          <p:nvPr/>
        </p:nvSpPr>
        <p:spPr>
          <a:xfrm>
            <a:off x="292608" y="3246120"/>
            <a:ext cx="1210055" cy="365760"/>
          </a:xfrm>
          <a:prstGeom prst="rect">
            <a:avLst/>
          </a:prstGeom>
          <a:noFill/>
        </p:spPr>
        <p:txBody>
          <a:bodyPr wrap="square" lIns="0" rIns="0" tIns="0" bIns="0" anchor="t">
            <a:spAutoFit/>
          </a:bodyPr>
          <a:lstStyle/>
          <a:p>
            <a:pPr marL="82296" indent="-82296">
              <a:buClr>
                <a:srgbClr val="B8325F"/>
              </a:buClr>
              <a:buChar char="•"/>
            </a:pPr>
            <a:r>
              <a:rPr sz="800" b="0" i="0">
                <a:solidFill>
                  <a:srgbClr val="3A4454"/>
                </a:solidFill>
                <a:latin typeface="Calibri"/>
              </a:rPr>
              <a:t>Builds the diagnosis</a:t>
            </a:r>
          </a:p>
          <a:p>
            <a:pPr marL="82296" indent="-82296">
              <a:buClr>
                <a:srgbClr val="B8325F"/>
              </a:buClr>
              <a:buChar char="•"/>
            </a:pPr>
            <a:r>
              <a:rPr sz="800" b="0" i="0">
                <a:solidFill>
                  <a:srgbClr val="3A4454"/>
                </a:solidFill>
                <a:latin typeface="Calibri"/>
              </a:rPr>
              <a:t>Prices the repair</a:t>
            </a:r>
          </a:p>
          <a:p>
            <a:pPr marL="82296" indent="-82296">
              <a:buClr>
                <a:srgbClr val="B8325F"/>
              </a:buClr>
              <a:buChar char="•"/>
            </a:pPr>
            <a:r>
              <a:rPr sz="800" b="0" i="0">
                <a:solidFill>
                  <a:srgbClr val="3A4454"/>
                </a:solidFill>
                <a:latin typeface="Calibri"/>
              </a:rPr>
              <a:t>Prepares the decision</a:t>
            </a:r>
          </a:p>
        </p:txBody>
      </p:sp>
      <p:sp>
        <p:nvSpPr>
          <p:cNvPr id="45" name="Isosceles Triangle 44"/>
          <p:cNvSpPr/>
          <p:nvPr/>
        </p:nvSpPr>
        <p:spPr>
          <a:xfrm rot="5400000">
            <a:off x="1552956" y="3145536"/>
            <a:ext cx="82296" cy="82296"/>
          </a:xfrm>
          <a:prstGeom prst="triangle">
            <a:avLst/>
          </a:prstGeom>
          <a:solidFill>
            <a:srgbClr val="B83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ixMyTech module 5"/>
          <p:cNvSpPr/>
          <p:nvPr/>
        </p:nvSpPr>
        <p:spPr>
          <a:xfrm>
            <a:off x="1658111" y="2715768"/>
            <a:ext cx="1301495" cy="941832"/>
          </a:xfrm>
          <a:prstGeom prst="roundRect">
            <a:avLst>
              <a:gd name="adj" fmla="val 8737"/>
            </a:avLst>
          </a:prstGeom>
          <a:solidFill>
            <a:srgbClr val="EAF0F9"/>
          </a:solidFill>
          <a:ln w="9525">
            <a:solidFill>
              <a:srgbClr val="ABC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722119" y="2761488"/>
            <a:ext cx="192024" cy="192024"/>
          </a:xfrm>
          <a:prstGeom prst="ellipse">
            <a:avLst/>
          </a:prstGeom>
          <a:solidFill>
            <a:srgbClr val="2E6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722119" y="2761488"/>
            <a:ext cx="192024" cy="192024"/>
          </a:xfrm>
          <a:prstGeom prst="rect">
            <a:avLst/>
          </a:prstGeom>
          <a:noFill/>
        </p:spPr>
        <p:txBody>
          <a:bodyPr wrap="square" lIns="0" rIns="0" tIns="0" bIns="0" anchor="ctr">
            <a:spAutoFit/>
          </a:bodyPr>
          <a:lstStyle/>
          <a:p>
            <a:pPr algn="ctr"/>
            <a:r>
              <a:rPr sz="800" b="1" i="0">
                <a:solidFill>
                  <a:srgbClr val="FFFFFF"/>
                </a:solidFill>
                <a:latin typeface="Calibri"/>
              </a:rPr>
              <a:t>05</a:t>
            </a:r>
          </a:p>
        </p:txBody>
      </p:sp>
      <p:pic>
        <p:nvPicPr>
          <p:cNvPr id="49" name="Picture 48" descr="a5.png"/>
          <p:cNvPicPr>
            <a:picLocks noChangeAspect="1"/>
          </p:cNvPicPr>
          <p:nvPr/>
        </p:nvPicPr>
        <p:blipFill>
          <a:blip r:embed="rId8"/>
          <a:stretch>
            <a:fillRect/>
          </a:stretch>
        </p:blipFill>
        <p:spPr>
          <a:xfrm>
            <a:off x="2676143" y="2752344"/>
            <a:ext cx="219456" cy="219456"/>
          </a:xfrm>
          <a:prstGeom prst="rect">
            <a:avLst/>
          </a:prstGeom>
        </p:spPr>
      </p:pic>
      <p:sp>
        <p:nvSpPr>
          <p:cNvPr id="50" name="TextBox 49"/>
          <p:cNvSpPr txBox="1"/>
          <p:nvPr/>
        </p:nvSpPr>
        <p:spPr>
          <a:xfrm>
            <a:off x="1722119" y="2944368"/>
            <a:ext cx="1210055" cy="164592"/>
          </a:xfrm>
          <a:prstGeom prst="rect">
            <a:avLst/>
          </a:prstGeom>
          <a:noFill/>
        </p:spPr>
        <p:txBody>
          <a:bodyPr wrap="square" lIns="0" rIns="0" tIns="0" bIns="0" anchor="t">
            <a:spAutoFit/>
          </a:bodyPr>
          <a:lstStyle/>
          <a:p>
            <a:pPr algn="l"/>
            <a:r>
              <a:rPr sz="1000" b="1" i="0">
                <a:solidFill>
                  <a:srgbClr val="2E6BC6"/>
                </a:solidFill>
                <a:latin typeface="Calibri"/>
              </a:rPr>
              <a:t>diagnosis.py</a:t>
            </a:r>
          </a:p>
        </p:txBody>
      </p:sp>
      <p:sp>
        <p:nvSpPr>
          <p:cNvPr id="51" name="TextBox 50"/>
          <p:cNvSpPr txBox="1"/>
          <p:nvPr/>
        </p:nvSpPr>
        <p:spPr>
          <a:xfrm>
            <a:off x="1722119" y="3108960"/>
            <a:ext cx="1191768" cy="128016"/>
          </a:xfrm>
          <a:prstGeom prst="rect">
            <a:avLst/>
          </a:prstGeom>
          <a:noFill/>
        </p:spPr>
        <p:txBody>
          <a:bodyPr wrap="square" lIns="0" rIns="0" tIns="0" bIns="0" anchor="t">
            <a:spAutoFit/>
          </a:bodyPr>
          <a:lstStyle/>
          <a:p>
            <a:pPr algn="l"/>
            <a:r>
              <a:rPr sz="850" b="0" i="0">
                <a:solidFill>
                  <a:srgbClr val="1B2230"/>
                </a:solidFill>
                <a:latin typeface="Calibri"/>
              </a:rPr>
              <a:t>Finds the likely fault</a:t>
            </a:r>
          </a:p>
        </p:txBody>
      </p:sp>
      <p:sp>
        <p:nvSpPr>
          <p:cNvPr id="52" name="TextBox 51"/>
          <p:cNvSpPr txBox="1"/>
          <p:nvPr/>
        </p:nvSpPr>
        <p:spPr>
          <a:xfrm>
            <a:off x="1722119" y="3246120"/>
            <a:ext cx="1210055" cy="365760"/>
          </a:xfrm>
          <a:prstGeom prst="rect">
            <a:avLst/>
          </a:prstGeom>
          <a:noFill/>
        </p:spPr>
        <p:txBody>
          <a:bodyPr wrap="square" lIns="0" rIns="0" tIns="0" bIns="0" anchor="t">
            <a:spAutoFit/>
          </a:bodyPr>
          <a:lstStyle/>
          <a:p>
            <a:pPr marL="82296" indent="-82296">
              <a:buClr>
                <a:srgbClr val="2E6BC6"/>
              </a:buClr>
              <a:buChar char="•"/>
            </a:pPr>
            <a:r>
              <a:rPr sz="800" b="0" i="0">
                <a:solidFill>
                  <a:srgbClr val="3A4454"/>
                </a:solidFill>
                <a:latin typeface="Calibri"/>
              </a:rPr>
              <a:t>Uses 113 rules</a:t>
            </a:r>
          </a:p>
          <a:p>
            <a:pPr marL="82296" indent="-82296">
              <a:buClr>
                <a:srgbClr val="2E6BC6"/>
              </a:buClr>
              <a:buChar char="•"/>
            </a:pPr>
            <a:r>
              <a:rPr sz="800" b="0" i="0">
                <a:solidFill>
                  <a:srgbClr val="3A4454"/>
                </a:solidFill>
                <a:latin typeface="Calibri"/>
              </a:rPr>
              <a:t>Measured, tested, told</a:t>
            </a:r>
          </a:p>
          <a:p>
            <a:pPr marL="82296" indent="-82296">
              <a:buClr>
                <a:srgbClr val="2E6BC6"/>
              </a:buClr>
              <a:buChar char="•"/>
            </a:pPr>
            <a:r>
              <a:rPr sz="800" b="0" i="0">
                <a:solidFill>
                  <a:srgbClr val="3A4454"/>
                </a:solidFill>
                <a:latin typeface="Calibri"/>
              </a:rPr>
              <a:t>Shows why it decided</a:t>
            </a:r>
          </a:p>
        </p:txBody>
      </p:sp>
      <p:sp>
        <p:nvSpPr>
          <p:cNvPr id="53" name="Isosceles Triangle 52"/>
          <p:cNvSpPr/>
          <p:nvPr/>
        </p:nvSpPr>
        <p:spPr>
          <a:xfrm rot="5400000">
            <a:off x="2982467" y="3145536"/>
            <a:ext cx="82296" cy="82296"/>
          </a:xfrm>
          <a:prstGeom prst="triangle">
            <a:avLst/>
          </a:prstGeom>
          <a:solidFill>
            <a:srgbClr val="2E6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ixMyTech module 6"/>
          <p:cNvSpPr/>
          <p:nvPr/>
        </p:nvSpPr>
        <p:spPr>
          <a:xfrm>
            <a:off x="3087623" y="2715768"/>
            <a:ext cx="1301495" cy="941832"/>
          </a:xfrm>
          <a:prstGeom prst="roundRect">
            <a:avLst>
              <a:gd name="adj" fmla="val 8737"/>
            </a:avLst>
          </a:prstGeom>
          <a:solidFill>
            <a:srgbClr val="EAF3EE"/>
          </a:solidFill>
          <a:ln w="9525">
            <a:solidFill>
              <a:srgbClr val="ABD1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151631" y="2761488"/>
            <a:ext cx="192024" cy="192024"/>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151631" y="2761488"/>
            <a:ext cx="192024" cy="192024"/>
          </a:xfrm>
          <a:prstGeom prst="rect">
            <a:avLst/>
          </a:prstGeom>
          <a:noFill/>
        </p:spPr>
        <p:txBody>
          <a:bodyPr wrap="square" lIns="0" rIns="0" tIns="0" bIns="0" anchor="ctr">
            <a:spAutoFit/>
          </a:bodyPr>
          <a:lstStyle/>
          <a:p>
            <a:pPr algn="ctr"/>
            <a:r>
              <a:rPr sz="800" b="1" i="0">
                <a:solidFill>
                  <a:srgbClr val="FFFFFF"/>
                </a:solidFill>
                <a:latin typeface="Calibri"/>
              </a:rPr>
              <a:t>06</a:t>
            </a:r>
          </a:p>
        </p:txBody>
      </p:sp>
      <p:pic>
        <p:nvPicPr>
          <p:cNvPr id="57" name="Picture 56" descr="a6.png"/>
          <p:cNvPicPr>
            <a:picLocks noChangeAspect="1"/>
          </p:cNvPicPr>
          <p:nvPr/>
        </p:nvPicPr>
        <p:blipFill>
          <a:blip r:embed="rId9"/>
          <a:stretch>
            <a:fillRect/>
          </a:stretch>
        </p:blipFill>
        <p:spPr>
          <a:xfrm>
            <a:off x="4105655" y="2752344"/>
            <a:ext cx="219456" cy="219456"/>
          </a:xfrm>
          <a:prstGeom prst="rect">
            <a:avLst/>
          </a:prstGeom>
        </p:spPr>
      </p:pic>
      <p:sp>
        <p:nvSpPr>
          <p:cNvPr id="58" name="TextBox 57"/>
          <p:cNvSpPr txBox="1"/>
          <p:nvPr/>
        </p:nvSpPr>
        <p:spPr>
          <a:xfrm>
            <a:off x="3151631" y="2944368"/>
            <a:ext cx="1210055" cy="164592"/>
          </a:xfrm>
          <a:prstGeom prst="rect">
            <a:avLst/>
          </a:prstGeom>
          <a:noFill/>
        </p:spPr>
        <p:txBody>
          <a:bodyPr wrap="square" lIns="0" rIns="0" tIns="0" bIns="0" anchor="t">
            <a:spAutoFit/>
          </a:bodyPr>
          <a:lstStyle/>
          <a:p>
            <a:pPr algn="l"/>
            <a:r>
              <a:rPr sz="1000" b="1" i="0">
                <a:solidFill>
                  <a:srgbClr val="2E8B57"/>
                </a:solidFill>
                <a:latin typeface="Calibri"/>
              </a:rPr>
              <a:t>estimate.py</a:t>
            </a:r>
          </a:p>
        </p:txBody>
      </p:sp>
      <p:sp>
        <p:nvSpPr>
          <p:cNvPr id="59" name="TextBox 58"/>
          <p:cNvSpPr txBox="1"/>
          <p:nvPr/>
        </p:nvSpPr>
        <p:spPr>
          <a:xfrm>
            <a:off x="3151631" y="3108960"/>
            <a:ext cx="1191768" cy="128016"/>
          </a:xfrm>
          <a:prstGeom prst="rect">
            <a:avLst/>
          </a:prstGeom>
          <a:noFill/>
        </p:spPr>
        <p:txBody>
          <a:bodyPr wrap="square" lIns="0" rIns="0" tIns="0" bIns="0" anchor="t">
            <a:spAutoFit/>
          </a:bodyPr>
          <a:lstStyle/>
          <a:p>
            <a:pPr algn="l"/>
            <a:r>
              <a:rPr sz="850" b="0" i="0">
                <a:solidFill>
                  <a:srgbClr val="1B2230"/>
                </a:solidFill>
                <a:latin typeface="Calibri"/>
              </a:rPr>
              <a:t>Finds the repair price</a:t>
            </a:r>
          </a:p>
        </p:txBody>
      </p:sp>
      <p:sp>
        <p:nvSpPr>
          <p:cNvPr id="60" name="TextBox 59"/>
          <p:cNvSpPr txBox="1"/>
          <p:nvPr/>
        </p:nvSpPr>
        <p:spPr>
          <a:xfrm>
            <a:off x="3151631" y="3246120"/>
            <a:ext cx="1210055" cy="365760"/>
          </a:xfrm>
          <a:prstGeom prst="rect">
            <a:avLst/>
          </a:prstGeom>
          <a:noFill/>
        </p:spPr>
        <p:txBody>
          <a:bodyPr wrap="square" lIns="0" rIns="0" tIns="0" bIns="0" anchor="t">
            <a:spAutoFit/>
          </a:bodyPr>
          <a:lstStyle/>
          <a:p>
            <a:pPr marL="82296" indent="-82296">
              <a:buClr>
                <a:srgbClr val="2E8B57"/>
              </a:buClr>
              <a:buChar char="•"/>
            </a:pPr>
            <a:r>
              <a:rPr sz="800" b="0" i="0">
                <a:solidFill>
                  <a:srgbClr val="3A4454"/>
                </a:solidFill>
                <a:latin typeface="Calibri"/>
              </a:rPr>
              <a:t>Official brand prices</a:t>
            </a:r>
          </a:p>
          <a:p>
            <a:pPr marL="82296" indent="-82296">
              <a:buClr>
                <a:srgbClr val="2E8B57"/>
              </a:buClr>
              <a:buChar char="•"/>
            </a:pPr>
            <a:r>
              <a:rPr sz="800" b="0" i="0">
                <a:solidFill>
                  <a:srgbClr val="3A4454"/>
                </a:solidFill>
                <a:latin typeface="Calibri"/>
              </a:rPr>
              <a:t>Source link and date</a:t>
            </a:r>
          </a:p>
          <a:p>
            <a:pPr marL="82296" indent="-82296">
              <a:buClr>
                <a:srgbClr val="2E8B57"/>
              </a:buClr>
              <a:buChar char="•"/>
            </a:pPr>
            <a:r>
              <a:rPr sz="800" b="0" i="0">
                <a:solidFill>
                  <a:srgbClr val="3A4454"/>
                </a:solidFill>
                <a:latin typeface="Calibri"/>
              </a:rPr>
              <a:t>No source, no number</a:t>
            </a:r>
          </a:p>
        </p:txBody>
      </p:sp>
      <p:cxnSp>
        <p:nvCxnSpPr>
          <p:cNvPr id="61" name="Connector 60"/>
          <p:cNvCxnSpPr/>
          <p:nvPr/>
        </p:nvCxnSpPr>
        <p:spPr>
          <a:xfrm>
            <a:off x="3738371" y="3657600"/>
            <a:ext cx="0" cy="41148"/>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879347" y="3698748"/>
            <a:ext cx="2859024" cy="0"/>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79347" y="3698748"/>
            <a:ext cx="0" cy="41148"/>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sp>
        <p:nvSpPr>
          <p:cNvPr id="64" name="Isosceles Triangle 63"/>
          <p:cNvSpPr/>
          <p:nvPr/>
        </p:nvSpPr>
        <p:spPr>
          <a:xfrm rot="10800000">
            <a:off x="842771" y="3694176"/>
            <a:ext cx="73152" cy="73152"/>
          </a:xfrm>
          <a:prstGeom prst="triangle">
            <a:avLst/>
          </a:prstGeom>
          <a:solidFill>
            <a:srgbClr val="5B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ixMyTech module 7"/>
          <p:cNvSpPr/>
          <p:nvPr/>
        </p:nvSpPr>
        <p:spPr>
          <a:xfrm>
            <a:off x="228600" y="3739896"/>
            <a:ext cx="1301495" cy="941832"/>
          </a:xfrm>
          <a:prstGeom prst="roundRect">
            <a:avLst>
              <a:gd name="adj" fmla="val 8737"/>
            </a:avLst>
          </a:prstGeom>
          <a:solidFill>
            <a:srgbClr val="F5F1E8"/>
          </a:solidFill>
          <a:ln w="9525">
            <a:solidFill>
              <a:srgbClr val="D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92608" y="3785615"/>
            <a:ext cx="192024" cy="192024"/>
          </a:xfrm>
          <a:prstGeom prst="ellipse">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92608" y="3785615"/>
            <a:ext cx="192024" cy="192024"/>
          </a:xfrm>
          <a:prstGeom prst="rect">
            <a:avLst/>
          </a:prstGeom>
          <a:noFill/>
        </p:spPr>
        <p:txBody>
          <a:bodyPr wrap="square" lIns="0" rIns="0" tIns="0" bIns="0" anchor="ctr">
            <a:spAutoFit/>
          </a:bodyPr>
          <a:lstStyle/>
          <a:p>
            <a:pPr algn="ctr"/>
            <a:r>
              <a:rPr sz="800" b="1" i="0">
                <a:solidFill>
                  <a:srgbClr val="FFFFFF"/>
                </a:solidFill>
                <a:latin typeface="Calibri"/>
              </a:rPr>
              <a:t>07</a:t>
            </a:r>
          </a:p>
        </p:txBody>
      </p:sp>
      <p:pic>
        <p:nvPicPr>
          <p:cNvPr id="68" name="Picture 67" descr="a7.png"/>
          <p:cNvPicPr>
            <a:picLocks noChangeAspect="1"/>
          </p:cNvPicPr>
          <p:nvPr/>
        </p:nvPicPr>
        <p:blipFill>
          <a:blip r:embed="rId10"/>
          <a:stretch>
            <a:fillRect/>
          </a:stretch>
        </p:blipFill>
        <p:spPr>
          <a:xfrm>
            <a:off x="1246631" y="3776472"/>
            <a:ext cx="219456" cy="219456"/>
          </a:xfrm>
          <a:prstGeom prst="rect">
            <a:avLst/>
          </a:prstGeom>
        </p:spPr>
      </p:pic>
      <p:sp>
        <p:nvSpPr>
          <p:cNvPr id="69" name="TextBox 68"/>
          <p:cNvSpPr txBox="1"/>
          <p:nvPr/>
        </p:nvSpPr>
        <p:spPr>
          <a:xfrm>
            <a:off x="292608" y="3968496"/>
            <a:ext cx="1210055" cy="164592"/>
          </a:xfrm>
          <a:prstGeom prst="rect">
            <a:avLst/>
          </a:prstGeom>
          <a:noFill/>
        </p:spPr>
        <p:txBody>
          <a:bodyPr wrap="square" lIns="0" rIns="0" tIns="0" bIns="0" anchor="t">
            <a:spAutoFit/>
          </a:bodyPr>
          <a:lstStyle/>
          <a:p>
            <a:pPr algn="l"/>
            <a:r>
              <a:rPr sz="1000" b="1" i="0">
                <a:solidFill>
                  <a:srgbClr val="9A7418"/>
                </a:solidFill>
                <a:latin typeface="Calibri"/>
              </a:rPr>
              <a:t>decision.py</a:t>
            </a:r>
          </a:p>
        </p:txBody>
      </p:sp>
      <p:sp>
        <p:nvSpPr>
          <p:cNvPr id="70" name="TextBox 69"/>
          <p:cNvSpPr txBox="1"/>
          <p:nvPr/>
        </p:nvSpPr>
        <p:spPr>
          <a:xfrm>
            <a:off x="292608" y="4133087"/>
            <a:ext cx="1191768" cy="128016"/>
          </a:xfrm>
          <a:prstGeom prst="rect">
            <a:avLst/>
          </a:prstGeom>
          <a:noFill/>
        </p:spPr>
        <p:txBody>
          <a:bodyPr wrap="square" lIns="0" rIns="0" tIns="0" bIns="0" anchor="t">
            <a:spAutoFit/>
          </a:bodyPr>
          <a:lstStyle/>
          <a:p>
            <a:pPr algn="l"/>
            <a:r>
              <a:rPr sz="850" b="0" i="0">
                <a:solidFill>
                  <a:srgbClr val="1B2230"/>
                </a:solidFill>
                <a:latin typeface="Calibri"/>
              </a:rPr>
              <a:t>Repair, sell, replace?</a:t>
            </a:r>
          </a:p>
        </p:txBody>
      </p:sp>
      <p:sp>
        <p:nvSpPr>
          <p:cNvPr id="71" name="TextBox 70"/>
          <p:cNvSpPr txBox="1"/>
          <p:nvPr/>
        </p:nvSpPr>
        <p:spPr>
          <a:xfrm>
            <a:off x="292608" y="4270248"/>
            <a:ext cx="1210055" cy="365760"/>
          </a:xfrm>
          <a:prstGeom prst="rect">
            <a:avLst/>
          </a:prstGeom>
          <a:noFill/>
        </p:spPr>
        <p:txBody>
          <a:bodyPr wrap="square" lIns="0" rIns="0" tIns="0" bIns="0" anchor="t">
            <a:spAutoFit/>
          </a:bodyPr>
          <a:lstStyle/>
          <a:p>
            <a:pPr marL="82296" indent="-82296">
              <a:buClr>
                <a:srgbClr val="9A7418"/>
              </a:buClr>
              <a:buChar char="•"/>
            </a:pPr>
            <a:r>
              <a:rPr sz="800" b="0" i="0">
                <a:solidFill>
                  <a:srgbClr val="3A4454"/>
                </a:solidFill>
                <a:latin typeface="Calibri"/>
              </a:rPr>
              <a:t>Compares every option</a:t>
            </a:r>
          </a:p>
          <a:p>
            <a:pPr marL="82296" indent="-82296">
              <a:buClr>
                <a:srgbClr val="9A7418"/>
              </a:buClr>
              <a:buChar char="•"/>
            </a:pPr>
            <a:r>
              <a:rPr sz="800" b="0" i="0">
                <a:solidFill>
                  <a:srgbClr val="3A4454"/>
                </a:solidFill>
                <a:latin typeface="Calibri"/>
              </a:rPr>
              <a:t>Shows a low-high range</a:t>
            </a:r>
          </a:p>
          <a:p>
            <a:pPr marL="82296" indent="-82296">
              <a:buClr>
                <a:srgbClr val="9A7418"/>
              </a:buClr>
              <a:buChar char="•"/>
            </a:pPr>
            <a:r>
              <a:rPr sz="800" b="0" i="0">
                <a:solidFill>
                  <a:srgbClr val="3A4454"/>
                </a:solidFill>
                <a:latin typeface="Calibri"/>
              </a:rPr>
              <a:t>Lists missing inputs</a:t>
            </a:r>
          </a:p>
        </p:txBody>
      </p:sp>
      <p:sp>
        <p:nvSpPr>
          <p:cNvPr id="72" name="Isosceles Triangle 71"/>
          <p:cNvSpPr/>
          <p:nvPr/>
        </p:nvSpPr>
        <p:spPr>
          <a:xfrm rot="5400000">
            <a:off x="1552956" y="4169663"/>
            <a:ext cx="82296" cy="82296"/>
          </a:xfrm>
          <a:prstGeom prst="triangle">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ixMyTech module 8"/>
          <p:cNvSpPr/>
          <p:nvPr/>
        </p:nvSpPr>
        <p:spPr>
          <a:xfrm>
            <a:off x="1658111" y="3739896"/>
            <a:ext cx="1301495" cy="941832"/>
          </a:xfrm>
          <a:prstGeom prst="roundRect">
            <a:avLst>
              <a:gd name="adj" fmla="val 8737"/>
            </a:avLst>
          </a:prstGeom>
          <a:solidFill>
            <a:srgbClr val="F9EAEC"/>
          </a:solidFill>
          <a:ln w="9525">
            <a:solidFill>
              <a:srgbClr val="E6AD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722119" y="3785615"/>
            <a:ext cx="192024" cy="192024"/>
          </a:xfrm>
          <a:prstGeom prst="ellipse">
            <a:avLst/>
          </a:prstGeom>
          <a:solidFill>
            <a:srgbClr val="C0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722119" y="3785615"/>
            <a:ext cx="192024" cy="192024"/>
          </a:xfrm>
          <a:prstGeom prst="rect">
            <a:avLst/>
          </a:prstGeom>
          <a:noFill/>
        </p:spPr>
        <p:txBody>
          <a:bodyPr wrap="square" lIns="0" rIns="0" tIns="0" bIns="0" anchor="ctr">
            <a:spAutoFit/>
          </a:bodyPr>
          <a:lstStyle/>
          <a:p>
            <a:pPr algn="ctr"/>
            <a:r>
              <a:rPr sz="800" b="1" i="0">
                <a:solidFill>
                  <a:srgbClr val="FFFFFF"/>
                </a:solidFill>
                <a:latin typeface="Calibri"/>
              </a:rPr>
              <a:t>08</a:t>
            </a:r>
          </a:p>
        </p:txBody>
      </p:sp>
      <p:pic>
        <p:nvPicPr>
          <p:cNvPr id="76" name="Picture 75" descr="a8.png"/>
          <p:cNvPicPr>
            <a:picLocks noChangeAspect="1"/>
          </p:cNvPicPr>
          <p:nvPr/>
        </p:nvPicPr>
        <p:blipFill>
          <a:blip r:embed="rId11"/>
          <a:stretch>
            <a:fillRect/>
          </a:stretch>
        </p:blipFill>
        <p:spPr>
          <a:xfrm>
            <a:off x="2676143" y="3776472"/>
            <a:ext cx="219456" cy="219456"/>
          </a:xfrm>
          <a:prstGeom prst="rect">
            <a:avLst/>
          </a:prstGeom>
        </p:spPr>
      </p:pic>
      <p:sp>
        <p:nvSpPr>
          <p:cNvPr id="77" name="TextBox 76"/>
          <p:cNvSpPr txBox="1"/>
          <p:nvPr/>
        </p:nvSpPr>
        <p:spPr>
          <a:xfrm>
            <a:off x="1722119" y="3968496"/>
            <a:ext cx="1210055" cy="164592"/>
          </a:xfrm>
          <a:prstGeom prst="rect">
            <a:avLst/>
          </a:prstGeom>
          <a:noFill/>
        </p:spPr>
        <p:txBody>
          <a:bodyPr wrap="square" lIns="0" rIns="0" tIns="0" bIns="0" anchor="t">
            <a:spAutoFit/>
          </a:bodyPr>
          <a:lstStyle/>
          <a:p>
            <a:pPr algn="l"/>
            <a:r>
              <a:rPr sz="1000" b="1" i="0">
                <a:solidFill>
                  <a:srgbClr val="C0313C"/>
                </a:solidFill>
                <a:latin typeface="Calibri"/>
              </a:rPr>
              <a:t>market.py</a:t>
            </a:r>
          </a:p>
        </p:txBody>
      </p:sp>
      <p:sp>
        <p:nvSpPr>
          <p:cNvPr id="78" name="TextBox 77"/>
          <p:cNvSpPr txBox="1"/>
          <p:nvPr/>
        </p:nvSpPr>
        <p:spPr>
          <a:xfrm>
            <a:off x="1722119" y="4133087"/>
            <a:ext cx="1191768" cy="128016"/>
          </a:xfrm>
          <a:prstGeom prst="rect">
            <a:avLst/>
          </a:prstGeom>
          <a:noFill/>
        </p:spPr>
        <p:txBody>
          <a:bodyPr wrap="square" lIns="0" rIns="0" tIns="0" bIns="0" anchor="t">
            <a:spAutoFit/>
          </a:bodyPr>
          <a:lstStyle/>
          <a:p>
            <a:pPr algn="l"/>
            <a:r>
              <a:rPr sz="850" b="0" i="0">
                <a:solidFill>
                  <a:srgbClr val="1B2230"/>
                </a:solidFill>
                <a:latin typeface="Calibri"/>
              </a:rPr>
              <a:t>Gets market data</a:t>
            </a:r>
          </a:p>
        </p:txBody>
      </p:sp>
      <p:sp>
        <p:nvSpPr>
          <p:cNvPr id="79" name="TextBox 78"/>
          <p:cNvSpPr txBox="1"/>
          <p:nvPr/>
        </p:nvSpPr>
        <p:spPr>
          <a:xfrm>
            <a:off x="1722119" y="4270248"/>
            <a:ext cx="1210055" cy="365760"/>
          </a:xfrm>
          <a:prstGeom prst="rect">
            <a:avLst/>
          </a:prstGeom>
          <a:noFill/>
        </p:spPr>
        <p:txBody>
          <a:bodyPr wrap="square" lIns="0" rIns="0" tIns="0" bIns="0" anchor="t">
            <a:spAutoFit/>
          </a:bodyPr>
          <a:lstStyle/>
          <a:p>
            <a:pPr marL="82296" indent="-82296">
              <a:buClr>
                <a:srgbClr val="C0313C"/>
              </a:buClr>
              <a:buChar char="•"/>
            </a:pPr>
            <a:r>
              <a:rPr sz="800" b="0" i="0">
                <a:solidFill>
                  <a:srgbClr val="3A4454"/>
                </a:solidFill>
                <a:latin typeface="Calibri"/>
              </a:rPr>
              <a:t>Price trend charts</a:t>
            </a:r>
          </a:p>
          <a:p>
            <a:pPr marL="82296" indent="-82296">
              <a:buClr>
                <a:srgbClr val="C0313C"/>
              </a:buClr>
              <a:buChar char="•"/>
            </a:pPr>
            <a:r>
              <a:rPr sz="800" b="0" i="0">
                <a:solidFill>
                  <a:srgbClr val="3A4454"/>
                </a:solidFill>
                <a:latin typeface="Calibri"/>
              </a:rPr>
              <a:t>Store and used prices</a:t>
            </a:r>
          </a:p>
          <a:p>
            <a:pPr marL="82296" indent="-82296">
              <a:buClr>
                <a:srgbClr val="C0313C"/>
              </a:buClr>
              <a:buChar char="•"/>
            </a:pPr>
            <a:r>
              <a:rPr sz="800" b="0" i="0">
                <a:solidFill>
                  <a:srgbClr val="3A4454"/>
                </a:solidFill>
                <a:latin typeface="Calibri"/>
              </a:rPr>
              <a:t>Says no data if none</a:t>
            </a:r>
          </a:p>
        </p:txBody>
      </p:sp>
      <p:sp>
        <p:nvSpPr>
          <p:cNvPr id="80" name="Isosceles Triangle 79"/>
          <p:cNvSpPr/>
          <p:nvPr/>
        </p:nvSpPr>
        <p:spPr>
          <a:xfrm rot="5400000">
            <a:off x="2982467" y="4169663"/>
            <a:ext cx="82296" cy="82296"/>
          </a:xfrm>
          <a:prstGeom prst="triangle">
            <a:avLst/>
          </a:prstGeom>
          <a:solidFill>
            <a:srgbClr val="C0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ixMyTech module 9"/>
          <p:cNvSpPr/>
          <p:nvPr/>
        </p:nvSpPr>
        <p:spPr>
          <a:xfrm>
            <a:off x="3087623" y="3739896"/>
            <a:ext cx="1301495" cy="941832"/>
          </a:xfrm>
          <a:prstGeom prst="roundRect">
            <a:avLst>
              <a:gd name="adj" fmla="val 8737"/>
            </a:avLst>
          </a:prstGeom>
          <a:solidFill>
            <a:srgbClr val="F0EEF9"/>
          </a:solidFill>
          <a:ln w="9525">
            <a:solidFill>
              <a:srgbClr val="C5BA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151631" y="3785615"/>
            <a:ext cx="192024" cy="192024"/>
          </a:xfrm>
          <a:prstGeom prst="ellipse">
            <a:avLst/>
          </a:prstGeom>
          <a:solidFill>
            <a:srgbClr val="6E5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151631" y="3785615"/>
            <a:ext cx="192024" cy="192024"/>
          </a:xfrm>
          <a:prstGeom prst="rect">
            <a:avLst/>
          </a:prstGeom>
          <a:noFill/>
        </p:spPr>
        <p:txBody>
          <a:bodyPr wrap="square" lIns="0" rIns="0" tIns="0" bIns="0" anchor="ctr">
            <a:spAutoFit/>
          </a:bodyPr>
          <a:lstStyle/>
          <a:p>
            <a:pPr algn="ctr"/>
            <a:r>
              <a:rPr sz="800" b="1" i="0">
                <a:solidFill>
                  <a:srgbClr val="FFFFFF"/>
                </a:solidFill>
                <a:latin typeface="Calibri"/>
              </a:rPr>
              <a:t>09</a:t>
            </a:r>
          </a:p>
        </p:txBody>
      </p:sp>
      <p:pic>
        <p:nvPicPr>
          <p:cNvPr id="84" name="Picture 83" descr="a9.png"/>
          <p:cNvPicPr>
            <a:picLocks noChangeAspect="1"/>
          </p:cNvPicPr>
          <p:nvPr/>
        </p:nvPicPr>
        <p:blipFill>
          <a:blip r:embed="rId12"/>
          <a:stretch>
            <a:fillRect/>
          </a:stretch>
        </p:blipFill>
        <p:spPr>
          <a:xfrm>
            <a:off x="4105655" y="3776472"/>
            <a:ext cx="219456" cy="219456"/>
          </a:xfrm>
          <a:prstGeom prst="rect">
            <a:avLst/>
          </a:prstGeom>
        </p:spPr>
      </p:pic>
      <p:sp>
        <p:nvSpPr>
          <p:cNvPr id="85" name="TextBox 84"/>
          <p:cNvSpPr txBox="1"/>
          <p:nvPr/>
        </p:nvSpPr>
        <p:spPr>
          <a:xfrm>
            <a:off x="3151631" y="3968496"/>
            <a:ext cx="1210055" cy="164592"/>
          </a:xfrm>
          <a:prstGeom prst="rect">
            <a:avLst/>
          </a:prstGeom>
          <a:noFill/>
        </p:spPr>
        <p:txBody>
          <a:bodyPr wrap="square" lIns="0" rIns="0" tIns="0" bIns="0" anchor="t">
            <a:spAutoFit/>
          </a:bodyPr>
          <a:lstStyle/>
          <a:p>
            <a:pPr algn="l"/>
            <a:r>
              <a:rPr sz="1000" b="1" i="0">
                <a:solidFill>
                  <a:srgbClr val="6E52C2"/>
                </a:solidFill>
                <a:latin typeface="Calibri"/>
              </a:rPr>
              <a:t>client.py</a:t>
            </a:r>
          </a:p>
        </p:txBody>
      </p:sp>
      <p:sp>
        <p:nvSpPr>
          <p:cNvPr id="86" name="TextBox 85"/>
          <p:cNvSpPr txBox="1"/>
          <p:nvPr/>
        </p:nvSpPr>
        <p:spPr>
          <a:xfrm>
            <a:off x="3151631" y="4133087"/>
            <a:ext cx="1191768" cy="128016"/>
          </a:xfrm>
          <a:prstGeom prst="rect">
            <a:avLst/>
          </a:prstGeom>
          <a:noFill/>
        </p:spPr>
        <p:txBody>
          <a:bodyPr wrap="square" lIns="0" rIns="0" tIns="0" bIns="0" anchor="t">
            <a:spAutoFit/>
          </a:bodyPr>
          <a:lstStyle/>
          <a:p>
            <a:pPr algn="l"/>
            <a:r>
              <a:rPr sz="850" b="0" i="0">
                <a:solidFill>
                  <a:srgbClr val="1B2230"/>
                </a:solidFill>
                <a:latin typeface="Calibri"/>
              </a:rPr>
              <a:t>Gets the resale value</a:t>
            </a:r>
          </a:p>
        </p:txBody>
      </p:sp>
      <p:sp>
        <p:nvSpPr>
          <p:cNvPr id="87" name="TextBox 86"/>
          <p:cNvSpPr txBox="1"/>
          <p:nvPr/>
        </p:nvSpPr>
        <p:spPr>
          <a:xfrm>
            <a:off x="3151631" y="4270248"/>
            <a:ext cx="1210055" cy="365760"/>
          </a:xfrm>
          <a:prstGeom prst="rect">
            <a:avLst/>
          </a:prstGeom>
          <a:noFill/>
        </p:spPr>
        <p:txBody>
          <a:bodyPr wrap="square" lIns="0" rIns="0" tIns="0" bIns="0" anchor="t">
            <a:spAutoFit/>
          </a:bodyPr>
          <a:lstStyle/>
          <a:p>
            <a:pPr marL="82296" indent="-82296">
              <a:buClr>
                <a:srgbClr val="6E52C2"/>
              </a:buClr>
              <a:buChar char="•"/>
            </a:pPr>
            <a:r>
              <a:rPr sz="800" b="0" i="0">
                <a:solidFill>
                  <a:srgbClr val="3A4454"/>
                </a:solidFill>
                <a:latin typeface="Calibri"/>
              </a:rPr>
              <a:t>Sends model + condition</a:t>
            </a:r>
          </a:p>
          <a:p>
            <a:pPr marL="82296" indent="-82296">
              <a:buClr>
                <a:srgbClr val="6E52C2"/>
              </a:buClr>
              <a:buChar char="•"/>
            </a:pPr>
            <a:r>
              <a:rPr sz="800" b="0" i="0">
                <a:solidFill>
                  <a:srgbClr val="3A4454"/>
                </a:solidFill>
                <a:latin typeface="Calibri"/>
              </a:rPr>
              <a:t>Uses a secret API key</a:t>
            </a:r>
          </a:p>
          <a:p>
            <a:pPr marL="82296" indent="-82296">
              <a:buClr>
                <a:srgbClr val="6E52C2"/>
              </a:buClr>
              <a:buChar char="•"/>
            </a:pPr>
            <a:r>
              <a:rPr sz="800" b="0" i="0">
                <a:solidFill>
                  <a:srgbClr val="3A4454"/>
                </a:solidFill>
                <a:latin typeface="Calibri"/>
              </a:rPr>
              <a:t>Retries if it fails</a:t>
            </a:r>
          </a:p>
        </p:txBody>
      </p:sp>
      <p:sp>
        <p:nvSpPr>
          <p:cNvPr id="88" name="FlipValue panel"/>
          <p:cNvSpPr/>
          <p:nvPr/>
        </p:nvSpPr>
        <p:spPr>
          <a:xfrm>
            <a:off x="4663440" y="1325880"/>
            <a:ext cx="4343400" cy="3410712"/>
          </a:xfrm>
          <a:prstGeom prst="roundRect">
            <a:avLst>
              <a:gd name="adj" fmla="val 3753"/>
            </a:avLst>
          </a:prstGeom>
          <a:solidFill>
            <a:srgbClr val="ECE7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9" name="Picture 88" descr="fv.png"/>
          <p:cNvPicPr>
            <a:picLocks noChangeAspect="1"/>
          </p:cNvPicPr>
          <p:nvPr/>
        </p:nvPicPr>
        <p:blipFill>
          <a:blip r:embed="rId13"/>
          <a:stretch>
            <a:fillRect/>
          </a:stretch>
        </p:blipFill>
        <p:spPr>
          <a:xfrm>
            <a:off x="4773168" y="1380744"/>
            <a:ext cx="274320" cy="274320"/>
          </a:xfrm>
          <a:prstGeom prst="rect">
            <a:avLst/>
          </a:prstGeom>
        </p:spPr>
      </p:pic>
      <p:sp>
        <p:nvSpPr>
          <p:cNvPr id="90" name="TextBox 89"/>
          <p:cNvSpPr txBox="1"/>
          <p:nvPr/>
        </p:nvSpPr>
        <p:spPr>
          <a:xfrm>
            <a:off x="5120640" y="1362456"/>
            <a:ext cx="2743200" cy="201168"/>
          </a:xfrm>
          <a:prstGeom prst="rect">
            <a:avLst/>
          </a:prstGeom>
          <a:noFill/>
        </p:spPr>
        <p:txBody>
          <a:bodyPr wrap="square" lIns="0" rIns="0" tIns="0" bIns="0" anchor="t">
            <a:spAutoFit/>
          </a:bodyPr>
          <a:lstStyle/>
          <a:p>
            <a:pPr algn="l"/>
            <a:r>
              <a:rPr sz="1400" b="1" i="0">
                <a:solidFill>
                  <a:srgbClr val="B8325F"/>
                </a:solidFill>
                <a:latin typeface="Cambria"/>
              </a:rPr>
              <a:t>FlipValue</a:t>
            </a:r>
          </a:p>
        </p:txBody>
      </p:sp>
      <p:sp>
        <p:nvSpPr>
          <p:cNvPr id="91" name="TextBox 90"/>
          <p:cNvSpPr txBox="1"/>
          <p:nvPr/>
        </p:nvSpPr>
        <p:spPr>
          <a:xfrm>
            <a:off x="5120640" y="1554480"/>
            <a:ext cx="3200400" cy="128016"/>
          </a:xfrm>
          <a:prstGeom prst="rect">
            <a:avLst/>
          </a:prstGeom>
          <a:noFill/>
        </p:spPr>
        <p:txBody>
          <a:bodyPr wrap="square" lIns="0" rIns="0" tIns="0" bIns="0" anchor="t">
            <a:spAutoFit/>
          </a:bodyPr>
          <a:lstStyle/>
          <a:p>
            <a:pPr algn="l"/>
            <a:r>
              <a:rPr sz="750" b="0" i="0" spc="150">
                <a:solidFill>
                  <a:srgbClr val="5B6577"/>
                </a:solidFill>
                <a:latin typeface="Calibri"/>
              </a:rPr>
              <a:t>PROJECT B  ·  PRICE THE MARKET</a:t>
            </a:r>
          </a:p>
        </p:txBody>
      </p:sp>
      <p:sp>
        <p:nvSpPr>
          <p:cNvPr id="92" name="TextBox 91"/>
          <p:cNvSpPr txBox="1"/>
          <p:nvPr/>
        </p:nvSpPr>
        <p:spPr>
          <a:xfrm>
            <a:off x="7159752" y="1417320"/>
            <a:ext cx="1737360" cy="201168"/>
          </a:xfrm>
          <a:prstGeom prst="rect">
            <a:avLst/>
          </a:prstGeom>
          <a:noFill/>
        </p:spPr>
        <p:txBody>
          <a:bodyPr wrap="square" lIns="0" rIns="0" tIns="0" bIns="0" anchor="ctr">
            <a:spAutoFit/>
          </a:bodyPr>
          <a:lstStyle/>
          <a:p>
            <a:pPr algn="r"/>
            <a:r>
              <a:rPr sz="700" b="0" i="0" spc="100">
                <a:solidFill>
                  <a:srgbClr val="5B6577"/>
                </a:solidFill>
                <a:latin typeface="Calibri"/>
              </a:rPr>
              <a:t>FILES AND THEIR ROLES</a:t>
            </a:r>
          </a:p>
        </p:txBody>
      </p:sp>
      <p:sp>
        <p:nvSpPr>
          <p:cNvPr id="93" name="FlipValue module 1"/>
          <p:cNvSpPr/>
          <p:nvPr/>
        </p:nvSpPr>
        <p:spPr>
          <a:xfrm>
            <a:off x="4754879" y="1691640"/>
            <a:ext cx="1301495" cy="941832"/>
          </a:xfrm>
          <a:prstGeom prst="roundRect">
            <a:avLst>
              <a:gd name="adj" fmla="val 8737"/>
            </a:avLst>
          </a:prstGeom>
          <a:solidFill>
            <a:srgbClr val="E8F3F2"/>
          </a:solidFill>
          <a:ln w="9525">
            <a:solidFill>
              <a:srgbClr val="A2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818888" y="1737360"/>
            <a:ext cx="192024" cy="192024"/>
          </a:xfrm>
          <a:prstGeom prst="ellipse">
            <a:avLst/>
          </a:prstGeom>
          <a:solidFill>
            <a:srgbClr val="1787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818888" y="1737360"/>
            <a:ext cx="192024" cy="192024"/>
          </a:xfrm>
          <a:prstGeom prst="rect">
            <a:avLst/>
          </a:prstGeom>
          <a:noFill/>
        </p:spPr>
        <p:txBody>
          <a:bodyPr wrap="square" lIns="0" rIns="0" tIns="0" bIns="0" anchor="ctr">
            <a:spAutoFit/>
          </a:bodyPr>
          <a:lstStyle/>
          <a:p>
            <a:pPr algn="ctr"/>
            <a:r>
              <a:rPr sz="800" b="1" i="0">
                <a:solidFill>
                  <a:srgbClr val="FFFFFF"/>
                </a:solidFill>
                <a:latin typeface="Calibri"/>
              </a:rPr>
              <a:t>01</a:t>
            </a:r>
          </a:p>
        </p:txBody>
      </p:sp>
      <p:pic>
        <p:nvPicPr>
          <p:cNvPr id="96" name="Picture 95" descr="b1.png"/>
          <p:cNvPicPr>
            <a:picLocks noChangeAspect="1"/>
          </p:cNvPicPr>
          <p:nvPr/>
        </p:nvPicPr>
        <p:blipFill>
          <a:blip r:embed="rId14"/>
          <a:stretch>
            <a:fillRect/>
          </a:stretch>
        </p:blipFill>
        <p:spPr>
          <a:xfrm>
            <a:off x="5772911" y="1728216"/>
            <a:ext cx="219456" cy="219456"/>
          </a:xfrm>
          <a:prstGeom prst="rect">
            <a:avLst/>
          </a:prstGeom>
        </p:spPr>
      </p:pic>
      <p:sp>
        <p:nvSpPr>
          <p:cNvPr id="97" name="TextBox 96"/>
          <p:cNvSpPr txBox="1"/>
          <p:nvPr/>
        </p:nvSpPr>
        <p:spPr>
          <a:xfrm>
            <a:off x="4818888" y="1920240"/>
            <a:ext cx="1210055" cy="164592"/>
          </a:xfrm>
          <a:prstGeom prst="rect">
            <a:avLst/>
          </a:prstGeom>
          <a:noFill/>
        </p:spPr>
        <p:txBody>
          <a:bodyPr wrap="square" lIns="0" rIns="0" tIns="0" bIns="0" anchor="t">
            <a:spAutoFit/>
          </a:bodyPr>
          <a:lstStyle/>
          <a:p>
            <a:pPr algn="l"/>
            <a:r>
              <a:rPr sz="1000" b="1" i="0">
                <a:solidFill>
                  <a:srgbClr val="17877B"/>
                </a:solidFill>
                <a:latin typeface="Calibri"/>
              </a:rPr>
              <a:t>providers.py</a:t>
            </a:r>
          </a:p>
        </p:txBody>
      </p:sp>
      <p:sp>
        <p:nvSpPr>
          <p:cNvPr id="98" name="TextBox 97"/>
          <p:cNvSpPr txBox="1"/>
          <p:nvPr/>
        </p:nvSpPr>
        <p:spPr>
          <a:xfrm>
            <a:off x="4818888" y="2084832"/>
            <a:ext cx="1191768" cy="128016"/>
          </a:xfrm>
          <a:prstGeom prst="rect">
            <a:avLst/>
          </a:prstGeom>
          <a:noFill/>
        </p:spPr>
        <p:txBody>
          <a:bodyPr wrap="square" lIns="0" rIns="0" tIns="0" bIns="0" anchor="t">
            <a:spAutoFit/>
          </a:bodyPr>
          <a:lstStyle/>
          <a:p>
            <a:pPr algn="l"/>
            <a:r>
              <a:rPr sz="850" b="0" i="0">
                <a:solidFill>
                  <a:srgbClr val="1B2230"/>
                </a:solidFill>
                <a:latin typeface="Calibri"/>
              </a:rPr>
              <a:t>Store price adapters</a:t>
            </a:r>
          </a:p>
        </p:txBody>
      </p:sp>
      <p:sp>
        <p:nvSpPr>
          <p:cNvPr id="99" name="TextBox 98"/>
          <p:cNvSpPr txBox="1"/>
          <p:nvPr/>
        </p:nvSpPr>
        <p:spPr>
          <a:xfrm>
            <a:off x="4818888" y="2221992"/>
            <a:ext cx="1210055" cy="365760"/>
          </a:xfrm>
          <a:prstGeom prst="rect">
            <a:avLst/>
          </a:prstGeom>
          <a:noFill/>
        </p:spPr>
        <p:txBody>
          <a:bodyPr wrap="square" lIns="0" rIns="0" tIns="0" bIns="0" anchor="t">
            <a:spAutoFit/>
          </a:bodyPr>
          <a:lstStyle/>
          <a:p>
            <a:pPr marL="82296" indent="-82296">
              <a:buClr>
                <a:srgbClr val="17877B"/>
              </a:buClr>
              <a:buChar char="•"/>
            </a:pPr>
            <a:r>
              <a:rPr sz="800" b="0" i="0">
                <a:solidFill>
                  <a:srgbClr val="3A4454"/>
                </a:solidFill>
                <a:latin typeface="Calibri"/>
              </a:rPr>
              <a:t>Flipkart and Amazon</a:t>
            </a:r>
          </a:p>
          <a:p>
            <a:pPr marL="82296" indent="-82296">
              <a:buClr>
                <a:srgbClr val="17877B"/>
              </a:buClr>
              <a:buChar char="•"/>
            </a:pPr>
            <a:r>
              <a:rPr sz="800" b="0" i="0">
                <a:solidFill>
                  <a:srgbClr val="3A4454"/>
                </a:solidFill>
                <a:latin typeface="Calibri"/>
              </a:rPr>
              <a:t>Manual Cashify entries</a:t>
            </a:r>
          </a:p>
          <a:p>
            <a:pPr marL="82296" indent="-82296">
              <a:buClr>
                <a:srgbClr val="17877B"/>
              </a:buClr>
              <a:buChar char="•"/>
            </a:pPr>
            <a:r>
              <a:rPr sz="800" b="0" i="0">
                <a:solidFill>
                  <a:srgbClr val="3A4454"/>
                </a:solidFill>
                <a:latin typeface="Calibri"/>
              </a:rPr>
              <a:t>Feeds the price store</a:t>
            </a:r>
          </a:p>
        </p:txBody>
      </p:sp>
      <p:sp>
        <p:nvSpPr>
          <p:cNvPr id="100" name="Isosceles Triangle 99"/>
          <p:cNvSpPr/>
          <p:nvPr/>
        </p:nvSpPr>
        <p:spPr>
          <a:xfrm rot="5400000">
            <a:off x="6079235" y="2121408"/>
            <a:ext cx="82296" cy="82296"/>
          </a:xfrm>
          <a:prstGeom prst="triangle">
            <a:avLst/>
          </a:prstGeom>
          <a:solidFill>
            <a:srgbClr val="1787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lipValue module 2"/>
          <p:cNvSpPr/>
          <p:nvPr/>
        </p:nvSpPr>
        <p:spPr>
          <a:xfrm>
            <a:off x="6184391" y="1691640"/>
            <a:ext cx="1301495" cy="941832"/>
          </a:xfrm>
          <a:prstGeom prst="roundRect">
            <a:avLst>
              <a:gd name="adj" fmla="val 8737"/>
            </a:avLst>
          </a:prstGeom>
          <a:solidFill>
            <a:srgbClr val="F9EFE8"/>
          </a:solidFill>
          <a:ln w="9525">
            <a:solidFill>
              <a:srgbClr val="E9B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6248399" y="1737360"/>
            <a:ext cx="192024" cy="192024"/>
          </a:xfrm>
          <a:prstGeom prst="ellipse">
            <a:avLst/>
          </a:prstGeom>
          <a:solidFill>
            <a:srgbClr val="C75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8399" y="1737360"/>
            <a:ext cx="192024" cy="192024"/>
          </a:xfrm>
          <a:prstGeom prst="rect">
            <a:avLst/>
          </a:prstGeom>
          <a:noFill/>
        </p:spPr>
        <p:txBody>
          <a:bodyPr wrap="square" lIns="0" rIns="0" tIns="0" bIns="0" anchor="ctr">
            <a:spAutoFit/>
          </a:bodyPr>
          <a:lstStyle/>
          <a:p>
            <a:pPr algn="ctr"/>
            <a:r>
              <a:rPr sz="800" b="1" i="0">
                <a:solidFill>
                  <a:srgbClr val="FFFFFF"/>
                </a:solidFill>
                <a:latin typeface="Calibri"/>
              </a:rPr>
              <a:t>02</a:t>
            </a:r>
          </a:p>
        </p:txBody>
      </p:sp>
      <p:pic>
        <p:nvPicPr>
          <p:cNvPr id="104" name="Picture 103" descr="b2.png"/>
          <p:cNvPicPr>
            <a:picLocks noChangeAspect="1"/>
          </p:cNvPicPr>
          <p:nvPr/>
        </p:nvPicPr>
        <p:blipFill>
          <a:blip r:embed="rId15"/>
          <a:stretch>
            <a:fillRect/>
          </a:stretch>
        </p:blipFill>
        <p:spPr>
          <a:xfrm>
            <a:off x="7202423" y="1728216"/>
            <a:ext cx="219456" cy="219456"/>
          </a:xfrm>
          <a:prstGeom prst="rect">
            <a:avLst/>
          </a:prstGeom>
        </p:spPr>
      </p:pic>
      <p:sp>
        <p:nvSpPr>
          <p:cNvPr id="105" name="TextBox 104"/>
          <p:cNvSpPr txBox="1"/>
          <p:nvPr/>
        </p:nvSpPr>
        <p:spPr>
          <a:xfrm>
            <a:off x="6248399" y="1920240"/>
            <a:ext cx="1210055" cy="164592"/>
          </a:xfrm>
          <a:prstGeom prst="rect">
            <a:avLst/>
          </a:prstGeom>
          <a:noFill/>
        </p:spPr>
        <p:txBody>
          <a:bodyPr wrap="square" lIns="0" rIns="0" tIns="0" bIns="0" anchor="t">
            <a:spAutoFit/>
          </a:bodyPr>
          <a:lstStyle/>
          <a:p>
            <a:pPr algn="l"/>
            <a:r>
              <a:rPr sz="1000" b="1" i="0">
                <a:solidFill>
                  <a:srgbClr val="C75F1E"/>
                </a:solidFill>
                <a:latin typeface="Calibri"/>
              </a:rPr>
              <a:t>matching.py</a:t>
            </a:r>
          </a:p>
        </p:txBody>
      </p:sp>
      <p:sp>
        <p:nvSpPr>
          <p:cNvPr id="106" name="TextBox 105"/>
          <p:cNvSpPr txBox="1"/>
          <p:nvPr/>
        </p:nvSpPr>
        <p:spPr>
          <a:xfrm>
            <a:off x="6248399" y="2084832"/>
            <a:ext cx="1191768" cy="128016"/>
          </a:xfrm>
          <a:prstGeom prst="rect">
            <a:avLst/>
          </a:prstGeom>
          <a:noFill/>
        </p:spPr>
        <p:txBody>
          <a:bodyPr wrap="square" lIns="0" rIns="0" tIns="0" bIns="0" anchor="t">
            <a:spAutoFit/>
          </a:bodyPr>
          <a:lstStyle/>
          <a:p>
            <a:pPr algn="l"/>
            <a:r>
              <a:rPr sz="850" b="0" i="0">
                <a:solidFill>
                  <a:srgbClr val="1B2230"/>
                </a:solidFill>
                <a:latin typeface="Calibri"/>
              </a:rPr>
              <a:t>Is it the same phone?</a:t>
            </a:r>
          </a:p>
        </p:txBody>
      </p:sp>
      <p:sp>
        <p:nvSpPr>
          <p:cNvPr id="107" name="TextBox 106"/>
          <p:cNvSpPr txBox="1"/>
          <p:nvPr/>
        </p:nvSpPr>
        <p:spPr>
          <a:xfrm>
            <a:off x="6248399" y="2221992"/>
            <a:ext cx="1210055" cy="365760"/>
          </a:xfrm>
          <a:prstGeom prst="rect">
            <a:avLst/>
          </a:prstGeom>
          <a:noFill/>
        </p:spPr>
        <p:txBody>
          <a:bodyPr wrap="square" lIns="0" rIns="0" tIns="0" bIns="0" anchor="t">
            <a:spAutoFit/>
          </a:bodyPr>
          <a:lstStyle/>
          <a:p>
            <a:pPr marL="82296" indent="-82296">
              <a:buClr>
                <a:srgbClr val="C75F1E"/>
              </a:buClr>
              <a:buChar char="•"/>
            </a:pPr>
            <a:r>
              <a:rPr sz="800" b="0" i="0">
                <a:solidFill>
                  <a:srgbClr val="3A4454"/>
                </a:solidFill>
                <a:latin typeface="Calibri"/>
              </a:rPr>
              <a:t>Checks model + storage</a:t>
            </a:r>
          </a:p>
          <a:p>
            <a:pPr marL="82296" indent="-82296">
              <a:buClr>
                <a:srgbClr val="C75F1E"/>
              </a:buClr>
              <a:buChar char="•"/>
            </a:pPr>
            <a:r>
              <a:rPr sz="800" b="0" i="0">
                <a:solidFill>
                  <a:srgbClr val="3A4454"/>
                </a:solidFill>
                <a:latin typeface="Calibri"/>
              </a:rPr>
              <a:t>Exact, strong, variant</a:t>
            </a:r>
          </a:p>
          <a:p>
            <a:pPr marL="82296" indent="-82296">
              <a:buClr>
                <a:srgbClr val="C75F1E"/>
              </a:buClr>
              <a:buChar char="•"/>
            </a:pPr>
            <a:r>
              <a:rPr sz="800" b="0" i="0">
                <a:solidFill>
                  <a:srgbClr val="3A4454"/>
                </a:solidFill>
                <a:latin typeface="Calibri"/>
              </a:rPr>
              <a:t>Marks the weak matches</a:t>
            </a:r>
          </a:p>
        </p:txBody>
      </p:sp>
      <p:sp>
        <p:nvSpPr>
          <p:cNvPr id="108" name="Isosceles Triangle 107"/>
          <p:cNvSpPr/>
          <p:nvPr/>
        </p:nvSpPr>
        <p:spPr>
          <a:xfrm rot="5400000">
            <a:off x="7508747" y="2121408"/>
            <a:ext cx="82296" cy="82296"/>
          </a:xfrm>
          <a:prstGeom prst="triangle">
            <a:avLst/>
          </a:prstGeom>
          <a:solidFill>
            <a:srgbClr val="C75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lipValue module 3"/>
          <p:cNvSpPr/>
          <p:nvPr/>
        </p:nvSpPr>
        <p:spPr>
          <a:xfrm>
            <a:off x="7613903" y="1691640"/>
            <a:ext cx="1301495" cy="941832"/>
          </a:xfrm>
          <a:prstGeom prst="roundRect">
            <a:avLst>
              <a:gd name="adj" fmla="val 8737"/>
            </a:avLst>
          </a:prstGeom>
          <a:solidFill>
            <a:srgbClr val="F0EEF9"/>
          </a:solidFill>
          <a:ln w="9525">
            <a:solidFill>
              <a:srgbClr val="C5BA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7677911" y="1737360"/>
            <a:ext cx="192024" cy="192024"/>
          </a:xfrm>
          <a:prstGeom prst="ellipse">
            <a:avLst/>
          </a:prstGeom>
          <a:solidFill>
            <a:srgbClr val="6E5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677911" y="1737360"/>
            <a:ext cx="192024" cy="192024"/>
          </a:xfrm>
          <a:prstGeom prst="rect">
            <a:avLst/>
          </a:prstGeom>
          <a:noFill/>
        </p:spPr>
        <p:txBody>
          <a:bodyPr wrap="square" lIns="0" rIns="0" tIns="0" bIns="0" anchor="ctr">
            <a:spAutoFit/>
          </a:bodyPr>
          <a:lstStyle/>
          <a:p>
            <a:pPr algn="ctr"/>
            <a:r>
              <a:rPr sz="800" b="1" i="0">
                <a:solidFill>
                  <a:srgbClr val="FFFFFF"/>
                </a:solidFill>
                <a:latin typeface="Calibri"/>
              </a:rPr>
              <a:t>03</a:t>
            </a:r>
          </a:p>
        </p:txBody>
      </p:sp>
      <p:pic>
        <p:nvPicPr>
          <p:cNvPr id="112" name="Picture 111" descr="b3.png"/>
          <p:cNvPicPr>
            <a:picLocks noChangeAspect="1"/>
          </p:cNvPicPr>
          <p:nvPr/>
        </p:nvPicPr>
        <p:blipFill>
          <a:blip r:embed="rId16"/>
          <a:stretch>
            <a:fillRect/>
          </a:stretch>
        </p:blipFill>
        <p:spPr>
          <a:xfrm>
            <a:off x="8631935" y="1728216"/>
            <a:ext cx="219456" cy="219456"/>
          </a:xfrm>
          <a:prstGeom prst="rect">
            <a:avLst/>
          </a:prstGeom>
        </p:spPr>
      </p:pic>
      <p:sp>
        <p:nvSpPr>
          <p:cNvPr id="113" name="TextBox 112"/>
          <p:cNvSpPr txBox="1"/>
          <p:nvPr/>
        </p:nvSpPr>
        <p:spPr>
          <a:xfrm>
            <a:off x="7677911" y="1920240"/>
            <a:ext cx="1210055" cy="164592"/>
          </a:xfrm>
          <a:prstGeom prst="rect">
            <a:avLst/>
          </a:prstGeom>
          <a:noFill/>
        </p:spPr>
        <p:txBody>
          <a:bodyPr wrap="square" lIns="0" rIns="0" tIns="0" bIns="0" anchor="t">
            <a:spAutoFit/>
          </a:bodyPr>
          <a:lstStyle/>
          <a:p>
            <a:pPr algn="l"/>
            <a:r>
              <a:rPr sz="1000" b="1" i="0">
                <a:solidFill>
                  <a:srgbClr val="6E52C2"/>
                </a:solidFill>
                <a:latin typeface="Calibri"/>
              </a:rPr>
              <a:t>estimates.py</a:t>
            </a:r>
          </a:p>
        </p:txBody>
      </p:sp>
      <p:sp>
        <p:nvSpPr>
          <p:cNvPr id="114" name="TextBox 113"/>
          <p:cNvSpPr txBox="1"/>
          <p:nvPr/>
        </p:nvSpPr>
        <p:spPr>
          <a:xfrm>
            <a:off x="7677911" y="2084832"/>
            <a:ext cx="1191768" cy="128016"/>
          </a:xfrm>
          <a:prstGeom prst="rect">
            <a:avLst/>
          </a:prstGeom>
          <a:noFill/>
        </p:spPr>
        <p:txBody>
          <a:bodyPr wrap="square" lIns="0" rIns="0" tIns="0" bIns="0" anchor="t">
            <a:spAutoFit/>
          </a:bodyPr>
          <a:lstStyle/>
          <a:p>
            <a:pPr algn="l"/>
            <a:r>
              <a:rPr sz="850" b="0" i="0">
                <a:solidFill>
                  <a:srgbClr val="1B2230"/>
                </a:solidFill>
                <a:latin typeface="Calibri"/>
              </a:rPr>
              <a:t>Modelled estimates</a:t>
            </a:r>
          </a:p>
        </p:txBody>
      </p:sp>
      <p:sp>
        <p:nvSpPr>
          <p:cNvPr id="115" name="TextBox 114"/>
          <p:cNvSpPr txBox="1"/>
          <p:nvPr/>
        </p:nvSpPr>
        <p:spPr>
          <a:xfrm>
            <a:off x="7677911" y="2221992"/>
            <a:ext cx="1210055" cy="365760"/>
          </a:xfrm>
          <a:prstGeom prst="rect">
            <a:avLst/>
          </a:prstGeom>
          <a:noFill/>
        </p:spPr>
        <p:txBody>
          <a:bodyPr wrap="square" lIns="0" rIns="0" tIns="0" bIns="0" anchor="t">
            <a:spAutoFit/>
          </a:bodyPr>
          <a:lstStyle/>
          <a:p>
            <a:pPr marL="82296" indent="-82296">
              <a:buClr>
                <a:srgbClr val="6E52C2"/>
              </a:buClr>
              <a:buChar char="•"/>
            </a:pPr>
            <a:r>
              <a:rPr sz="800" b="0" i="0">
                <a:solidFill>
                  <a:srgbClr val="3A4454"/>
                </a:solidFill>
                <a:latin typeface="Calibri"/>
              </a:rPr>
              <a:t>Reads price_bands.csv</a:t>
            </a:r>
          </a:p>
          <a:p>
            <a:pPr marL="82296" indent="-82296">
              <a:buClr>
                <a:srgbClr val="6E52C2"/>
              </a:buClr>
              <a:buChar char="•"/>
            </a:pPr>
            <a:r>
              <a:rPr sz="800" b="0" i="0">
                <a:solidFill>
                  <a:srgbClr val="3A4454"/>
                </a:solidFill>
                <a:latin typeface="Calibri"/>
              </a:rPr>
              <a:t>Resale and buyback</a:t>
            </a:r>
          </a:p>
          <a:p>
            <a:pPr marL="82296" indent="-82296">
              <a:buClr>
                <a:srgbClr val="6E52C2"/>
              </a:buClr>
              <a:buChar char="•"/>
            </a:pPr>
            <a:r>
              <a:rPr sz="800" b="0" i="0">
                <a:solidFill>
                  <a:srgbClr val="3A4454"/>
                </a:solidFill>
                <a:latin typeface="Calibri"/>
              </a:rPr>
              <a:t>Labelled as estimates</a:t>
            </a:r>
          </a:p>
        </p:txBody>
      </p:sp>
      <p:cxnSp>
        <p:nvCxnSpPr>
          <p:cNvPr id="116" name="Connector 115"/>
          <p:cNvCxnSpPr/>
          <p:nvPr/>
        </p:nvCxnSpPr>
        <p:spPr>
          <a:xfrm>
            <a:off x="8264651" y="2633472"/>
            <a:ext cx="0" cy="41148"/>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5405628" y="2674620"/>
            <a:ext cx="2859023" cy="0"/>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5405628" y="2674620"/>
            <a:ext cx="0" cy="41148"/>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sp>
        <p:nvSpPr>
          <p:cNvPr id="119" name="Isosceles Triangle 118"/>
          <p:cNvSpPr/>
          <p:nvPr/>
        </p:nvSpPr>
        <p:spPr>
          <a:xfrm rot="10800000">
            <a:off x="5369051" y="2670048"/>
            <a:ext cx="73152" cy="73152"/>
          </a:xfrm>
          <a:prstGeom prst="triangle">
            <a:avLst/>
          </a:prstGeom>
          <a:solidFill>
            <a:srgbClr val="5B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lipValue module 4"/>
          <p:cNvSpPr/>
          <p:nvPr/>
        </p:nvSpPr>
        <p:spPr>
          <a:xfrm>
            <a:off x="4754879" y="2715768"/>
            <a:ext cx="1301495" cy="941832"/>
          </a:xfrm>
          <a:prstGeom prst="roundRect">
            <a:avLst>
              <a:gd name="adj" fmla="val 8737"/>
            </a:avLst>
          </a:prstGeom>
          <a:solidFill>
            <a:srgbClr val="F8EAEF"/>
          </a:solidFill>
          <a:ln w="9525">
            <a:solidFill>
              <a:srgbClr val="E3AD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4818888" y="2761488"/>
            <a:ext cx="192024" cy="192024"/>
          </a:xfrm>
          <a:prstGeom prst="ellipse">
            <a:avLst/>
          </a:prstGeom>
          <a:solidFill>
            <a:srgbClr val="B83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818888" y="2761488"/>
            <a:ext cx="192024" cy="192024"/>
          </a:xfrm>
          <a:prstGeom prst="rect">
            <a:avLst/>
          </a:prstGeom>
          <a:noFill/>
        </p:spPr>
        <p:txBody>
          <a:bodyPr wrap="square" lIns="0" rIns="0" tIns="0" bIns="0" anchor="ctr">
            <a:spAutoFit/>
          </a:bodyPr>
          <a:lstStyle/>
          <a:p>
            <a:pPr algn="ctr"/>
            <a:r>
              <a:rPr sz="800" b="1" i="0">
                <a:solidFill>
                  <a:srgbClr val="FFFFFF"/>
                </a:solidFill>
                <a:latin typeface="Calibri"/>
              </a:rPr>
              <a:t>04</a:t>
            </a:r>
          </a:p>
        </p:txBody>
      </p:sp>
      <p:pic>
        <p:nvPicPr>
          <p:cNvPr id="123" name="Picture 122" descr="b4.png"/>
          <p:cNvPicPr>
            <a:picLocks noChangeAspect="1"/>
          </p:cNvPicPr>
          <p:nvPr/>
        </p:nvPicPr>
        <p:blipFill>
          <a:blip r:embed="rId2"/>
          <a:stretch>
            <a:fillRect/>
          </a:stretch>
        </p:blipFill>
        <p:spPr>
          <a:xfrm>
            <a:off x="5772911" y="2752344"/>
            <a:ext cx="219456" cy="219456"/>
          </a:xfrm>
          <a:prstGeom prst="rect">
            <a:avLst/>
          </a:prstGeom>
        </p:spPr>
      </p:pic>
      <p:sp>
        <p:nvSpPr>
          <p:cNvPr id="124" name="TextBox 123"/>
          <p:cNvSpPr txBox="1"/>
          <p:nvPr/>
        </p:nvSpPr>
        <p:spPr>
          <a:xfrm>
            <a:off x="4818888" y="2944368"/>
            <a:ext cx="1210055" cy="164592"/>
          </a:xfrm>
          <a:prstGeom prst="rect">
            <a:avLst/>
          </a:prstGeom>
          <a:noFill/>
        </p:spPr>
        <p:txBody>
          <a:bodyPr wrap="square" lIns="0" rIns="0" tIns="0" bIns="0" anchor="t">
            <a:spAutoFit/>
          </a:bodyPr>
          <a:lstStyle/>
          <a:p>
            <a:pPr algn="l"/>
            <a:r>
              <a:rPr sz="1000" b="1" i="0">
                <a:solidFill>
                  <a:srgbClr val="B8325F"/>
                </a:solidFill>
                <a:latin typeface="Calibri"/>
              </a:rPr>
              <a:t>catalogue.py</a:t>
            </a:r>
          </a:p>
        </p:txBody>
      </p:sp>
      <p:sp>
        <p:nvSpPr>
          <p:cNvPr id="125" name="TextBox 124"/>
          <p:cNvSpPr txBox="1"/>
          <p:nvPr/>
        </p:nvSpPr>
        <p:spPr>
          <a:xfrm>
            <a:off x="4818888" y="3108960"/>
            <a:ext cx="1191768" cy="128016"/>
          </a:xfrm>
          <a:prstGeom prst="rect">
            <a:avLst/>
          </a:prstGeom>
          <a:noFill/>
        </p:spPr>
        <p:txBody>
          <a:bodyPr wrap="square" lIns="0" rIns="0" tIns="0" bIns="0" anchor="t">
            <a:spAutoFit/>
          </a:bodyPr>
          <a:lstStyle/>
          <a:p>
            <a:pPr algn="l"/>
            <a:r>
              <a:rPr sz="850" b="0" i="0">
                <a:solidFill>
                  <a:srgbClr val="1B2230"/>
                </a:solidFill>
                <a:latin typeface="Calibri"/>
              </a:rPr>
              <a:t>Phone catalogue</a:t>
            </a:r>
          </a:p>
        </p:txBody>
      </p:sp>
      <p:sp>
        <p:nvSpPr>
          <p:cNvPr id="126" name="TextBox 125"/>
          <p:cNvSpPr txBox="1"/>
          <p:nvPr/>
        </p:nvSpPr>
        <p:spPr>
          <a:xfrm>
            <a:off x="4818888" y="3246120"/>
            <a:ext cx="1210055" cy="365760"/>
          </a:xfrm>
          <a:prstGeom prst="rect">
            <a:avLst/>
          </a:prstGeom>
          <a:noFill/>
        </p:spPr>
        <p:txBody>
          <a:bodyPr wrap="square" lIns="0" rIns="0" tIns="0" bIns="0" anchor="t">
            <a:spAutoFit/>
          </a:bodyPr>
          <a:lstStyle/>
          <a:p>
            <a:pPr marL="82296" indent="-82296">
              <a:buClr>
                <a:srgbClr val="B8325F"/>
              </a:buClr>
              <a:buChar char="•"/>
            </a:pPr>
            <a:r>
              <a:rPr sz="800" b="0" i="0">
                <a:solidFill>
                  <a:srgbClr val="3A4454"/>
                </a:solidFill>
                <a:latin typeface="Calibri"/>
              </a:rPr>
              <a:t>31 catalogued phones</a:t>
            </a:r>
          </a:p>
          <a:p>
            <a:pPr marL="82296" indent="-82296">
              <a:buClr>
                <a:srgbClr val="B8325F"/>
              </a:buClr>
              <a:buChar char="•"/>
            </a:pPr>
            <a:r>
              <a:rPr sz="800" b="0" i="0">
                <a:solidFill>
                  <a:srgbClr val="3A4454"/>
                </a:solidFill>
                <a:latin typeface="Calibri"/>
              </a:rPr>
              <a:t>Names and model codes</a:t>
            </a:r>
          </a:p>
          <a:p>
            <a:pPr marL="82296" indent="-82296">
              <a:buClr>
                <a:srgbClr val="B8325F"/>
              </a:buClr>
              <a:buChar char="•"/>
            </a:pPr>
            <a:r>
              <a:rPr sz="800" b="0" i="0">
                <a:solidFill>
                  <a:srgbClr val="3A4454"/>
                </a:solidFill>
                <a:latin typeface="Calibri"/>
              </a:rPr>
              <a:t>Handles codes like /DS</a:t>
            </a:r>
          </a:p>
        </p:txBody>
      </p:sp>
      <p:sp>
        <p:nvSpPr>
          <p:cNvPr id="127" name="Isosceles Triangle 126"/>
          <p:cNvSpPr/>
          <p:nvPr/>
        </p:nvSpPr>
        <p:spPr>
          <a:xfrm rot="5400000">
            <a:off x="6079235" y="3145536"/>
            <a:ext cx="82296" cy="82296"/>
          </a:xfrm>
          <a:prstGeom prst="triangle">
            <a:avLst/>
          </a:prstGeom>
          <a:solidFill>
            <a:srgbClr val="B832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lipValue module 5"/>
          <p:cNvSpPr/>
          <p:nvPr/>
        </p:nvSpPr>
        <p:spPr>
          <a:xfrm>
            <a:off x="6184391" y="2715768"/>
            <a:ext cx="1301495" cy="941832"/>
          </a:xfrm>
          <a:prstGeom prst="roundRect">
            <a:avLst>
              <a:gd name="adj" fmla="val 8737"/>
            </a:avLst>
          </a:prstGeom>
          <a:solidFill>
            <a:srgbClr val="EAF0F9"/>
          </a:solidFill>
          <a:ln w="9525">
            <a:solidFill>
              <a:srgbClr val="ABC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6248399" y="2761488"/>
            <a:ext cx="192024" cy="192024"/>
          </a:xfrm>
          <a:prstGeom prst="ellipse">
            <a:avLst/>
          </a:prstGeom>
          <a:solidFill>
            <a:srgbClr val="2E6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248399" y="2761488"/>
            <a:ext cx="192024" cy="192024"/>
          </a:xfrm>
          <a:prstGeom prst="rect">
            <a:avLst/>
          </a:prstGeom>
          <a:noFill/>
        </p:spPr>
        <p:txBody>
          <a:bodyPr wrap="square" lIns="0" rIns="0" tIns="0" bIns="0" anchor="ctr">
            <a:spAutoFit/>
          </a:bodyPr>
          <a:lstStyle/>
          <a:p>
            <a:pPr algn="ctr"/>
            <a:r>
              <a:rPr sz="800" b="1" i="0">
                <a:solidFill>
                  <a:srgbClr val="FFFFFF"/>
                </a:solidFill>
                <a:latin typeface="Calibri"/>
              </a:rPr>
              <a:t>05</a:t>
            </a:r>
          </a:p>
        </p:txBody>
      </p:sp>
      <p:pic>
        <p:nvPicPr>
          <p:cNvPr id="131" name="Picture 130" descr="b5.png"/>
          <p:cNvPicPr>
            <a:picLocks noChangeAspect="1"/>
          </p:cNvPicPr>
          <p:nvPr/>
        </p:nvPicPr>
        <p:blipFill>
          <a:blip r:embed="rId18"/>
          <a:stretch>
            <a:fillRect/>
          </a:stretch>
        </p:blipFill>
        <p:spPr>
          <a:xfrm>
            <a:off x="7202423" y="2752344"/>
            <a:ext cx="219456" cy="219456"/>
          </a:xfrm>
          <a:prstGeom prst="rect">
            <a:avLst/>
          </a:prstGeom>
        </p:spPr>
      </p:pic>
      <p:sp>
        <p:nvSpPr>
          <p:cNvPr id="132" name="TextBox 131"/>
          <p:cNvSpPr txBox="1"/>
          <p:nvPr/>
        </p:nvSpPr>
        <p:spPr>
          <a:xfrm>
            <a:off x="6248399" y="2944368"/>
            <a:ext cx="1210055" cy="164592"/>
          </a:xfrm>
          <a:prstGeom prst="rect">
            <a:avLst/>
          </a:prstGeom>
          <a:noFill/>
        </p:spPr>
        <p:txBody>
          <a:bodyPr wrap="square" lIns="0" rIns="0" tIns="0" bIns="0" anchor="t">
            <a:spAutoFit/>
          </a:bodyPr>
          <a:lstStyle/>
          <a:p>
            <a:pPr algn="l"/>
            <a:r>
              <a:rPr sz="1000" b="1" i="0">
                <a:solidFill>
                  <a:srgbClr val="2E6BC6"/>
                </a:solidFill>
                <a:latin typeface="Calibri"/>
              </a:rPr>
              <a:t>engine.py</a:t>
            </a:r>
          </a:p>
        </p:txBody>
      </p:sp>
      <p:sp>
        <p:nvSpPr>
          <p:cNvPr id="133" name="TextBox 132"/>
          <p:cNvSpPr txBox="1"/>
          <p:nvPr/>
        </p:nvSpPr>
        <p:spPr>
          <a:xfrm>
            <a:off x="6248399" y="3108960"/>
            <a:ext cx="1191768" cy="128016"/>
          </a:xfrm>
          <a:prstGeom prst="rect">
            <a:avLst/>
          </a:prstGeom>
          <a:noFill/>
        </p:spPr>
        <p:txBody>
          <a:bodyPr wrap="square" lIns="0" rIns="0" tIns="0" bIns="0" anchor="t">
            <a:spAutoFit/>
          </a:bodyPr>
          <a:lstStyle/>
          <a:p>
            <a:pPr algn="l"/>
            <a:r>
              <a:rPr sz="850" b="0" i="0">
                <a:solidFill>
                  <a:srgbClr val="1B2230"/>
                </a:solidFill>
                <a:latin typeface="Calibri"/>
              </a:rPr>
              <a:t>Valuation engine</a:t>
            </a:r>
          </a:p>
        </p:txBody>
      </p:sp>
      <p:sp>
        <p:nvSpPr>
          <p:cNvPr id="134" name="TextBox 133"/>
          <p:cNvSpPr txBox="1"/>
          <p:nvPr/>
        </p:nvSpPr>
        <p:spPr>
          <a:xfrm>
            <a:off x="6248399" y="3246120"/>
            <a:ext cx="1210055" cy="365760"/>
          </a:xfrm>
          <a:prstGeom prst="rect">
            <a:avLst/>
          </a:prstGeom>
          <a:noFill/>
        </p:spPr>
        <p:txBody>
          <a:bodyPr wrap="square" lIns="0" rIns="0" tIns="0" bIns="0" anchor="t">
            <a:spAutoFit/>
          </a:bodyPr>
          <a:lstStyle/>
          <a:p>
            <a:pPr marL="82296" indent="-82296">
              <a:buClr>
                <a:srgbClr val="2E6BC6"/>
              </a:buClr>
              <a:buChar char="•"/>
            </a:pPr>
            <a:r>
              <a:rPr sz="800" b="0" i="0">
                <a:solidFill>
                  <a:srgbClr val="3A4454"/>
                </a:solidFill>
                <a:latin typeface="Calibri"/>
              </a:rPr>
              <a:t>Picks comparables</a:t>
            </a:r>
          </a:p>
          <a:p>
            <a:pPr marL="82296" indent="-82296">
              <a:buClr>
                <a:srgbClr val="2E6BC6"/>
              </a:buClr>
              <a:buChar char="•"/>
            </a:pPr>
            <a:r>
              <a:rPr sz="800" b="0" i="0">
                <a:solidFill>
                  <a:srgbClr val="3A4454"/>
                </a:solidFill>
                <a:latin typeface="Calibri"/>
              </a:rPr>
              <a:t>Median value + range</a:t>
            </a:r>
          </a:p>
          <a:p>
            <a:pPr marL="82296" indent="-82296">
              <a:buClr>
                <a:srgbClr val="2E6BC6"/>
              </a:buClr>
              <a:buChar char="•"/>
            </a:pPr>
            <a:r>
              <a:rPr sz="800" b="0" i="0">
                <a:solidFill>
                  <a:srgbClr val="3A4454"/>
                </a:solidFill>
                <a:latin typeface="Calibri"/>
              </a:rPr>
              <a:t>The only price maths</a:t>
            </a:r>
          </a:p>
        </p:txBody>
      </p:sp>
      <p:sp>
        <p:nvSpPr>
          <p:cNvPr id="135" name="Isosceles Triangle 134"/>
          <p:cNvSpPr/>
          <p:nvPr/>
        </p:nvSpPr>
        <p:spPr>
          <a:xfrm rot="5400000">
            <a:off x="7508747" y="3145536"/>
            <a:ext cx="82296" cy="82296"/>
          </a:xfrm>
          <a:prstGeom prst="triangle">
            <a:avLst/>
          </a:prstGeom>
          <a:solidFill>
            <a:srgbClr val="2E6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lipValue module 6"/>
          <p:cNvSpPr/>
          <p:nvPr/>
        </p:nvSpPr>
        <p:spPr>
          <a:xfrm>
            <a:off x="7613903" y="2715768"/>
            <a:ext cx="1301495" cy="941832"/>
          </a:xfrm>
          <a:prstGeom prst="roundRect">
            <a:avLst>
              <a:gd name="adj" fmla="val 8737"/>
            </a:avLst>
          </a:prstGeom>
          <a:solidFill>
            <a:srgbClr val="EAF3EE"/>
          </a:solidFill>
          <a:ln w="9525">
            <a:solidFill>
              <a:srgbClr val="ABD1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7677911" y="2761488"/>
            <a:ext cx="192024" cy="192024"/>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677911" y="2761488"/>
            <a:ext cx="192024" cy="192024"/>
          </a:xfrm>
          <a:prstGeom prst="rect">
            <a:avLst/>
          </a:prstGeom>
          <a:noFill/>
        </p:spPr>
        <p:txBody>
          <a:bodyPr wrap="square" lIns="0" rIns="0" tIns="0" bIns="0" anchor="ctr">
            <a:spAutoFit/>
          </a:bodyPr>
          <a:lstStyle/>
          <a:p>
            <a:pPr algn="ctr"/>
            <a:r>
              <a:rPr sz="800" b="1" i="0">
                <a:solidFill>
                  <a:srgbClr val="FFFFFF"/>
                </a:solidFill>
                <a:latin typeface="Calibri"/>
              </a:rPr>
              <a:t>06</a:t>
            </a:r>
          </a:p>
        </p:txBody>
      </p:sp>
      <p:pic>
        <p:nvPicPr>
          <p:cNvPr id="139" name="Picture 138" descr="b6.png"/>
          <p:cNvPicPr>
            <a:picLocks noChangeAspect="1"/>
          </p:cNvPicPr>
          <p:nvPr/>
        </p:nvPicPr>
        <p:blipFill>
          <a:blip r:embed="rId19"/>
          <a:stretch>
            <a:fillRect/>
          </a:stretch>
        </p:blipFill>
        <p:spPr>
          <a:xfrm>
            <a:off x="8631935" y="2752344"/>
            <a:ext cx="219456" cy="219456"/>
          </a:xfrm>
          <a:prstGeom prst="rect">
            <a:avLst/>
          </a:prstGeom>
        </p:spPr>
      </p:pic>
      <p:sp>
        <p:nvSpPr>
          <p:cNvPr id="140" name="TextBox 139"/>
          <p:cNvSpPr txBox="1"/>
          <p:nvPr/>
        </p:nvSpPr>
        <p:spPr>
          <a:xfrm>
            <a:off x="7677911" y="2944368"/>
            <a:ext cx="1210055" cy="164592"/>
          </a:xfrm>
          <a:prstGeom prst="rect">
            <a:avLst/>
          </a:prstGeom>
          <a:noFill/>
        </p:spPr>
        <p:txBody>
          <a:bodyPr wrap="square" lIns="0" rIns="0" tIns="0" bIns="0" anchor="t">
            <a:spAutoFit/>
          </a:bodyPr>
          <a:lstStyle/>
          <a:p>
            <a:pPr algn="l"/>
            <a:r>
              <a:rPr sz="1000" b="1" i="0">
                <a:solidFill>
                  <a:srgbClr val="2E8B57"/>
                </a:solidFill>
                <a:latin typeface="Calibri"/>
              </a:rPr>
              <a:t>decision.py</a:t>
            </a:r>
          </a:p>
        </p:txBody>
      </p:sp>
      <p:sp>
        <p:nvSpPr>
          <p:cNvPr id="141" name="TextBox 140"/>
          <p:cNvSpPr txBox="1"/>
          <p:nvPr/>
        </p:nvSpPr>
        <p:spPr>
          <a:xfrm>
            <a:off x="7677911" y="3108960"/>
            <a:ext cx="1191768" cy="128016"/>
          </a:xfrm>
          <a:prstGeom prst="rect">
            <a:avLst/>
          </a:prstGeom>
          <a:noFill/>
        </p:spPr>
        <p:txBody>
          <a:bodyPr wrap="square" lIns="0" rIns="0" tIns="0" bIns="0" anchor="t">
            <a:spAutoFit/>
          </a:bodyPr>
          <a:lstStyle/>
          <a:p>
            <a:pPr algn="l"/>
            <a:r>
              <a:rPr sz="850" b="0" i="0">
                <a:solidFill>
                  <a:srgbClr val="1B2230"/>
                </a:solidFill>
                <a:latin typeface="Calibri"/>
              </a:rPr>
              <a:t>Repair or sell?</a:t>
            </a:r>
          </a:p>
        </p:txBody>
      </p:sp>
      <p:sp>
        <p:nvSpPr>
          <p:cNvPr id="142" name="TextBox 141"/>
          <p:cNvSpPr txBox="1"/>
          <p:nvPr/>
        </p:nvSpPr>
        <p:spPr>
          <a:xfrm>
            <a:off x="7677911" y="3246120"/>
            <a:ext cx="1210055" cy="365760"/>
          </a:xfrm>
          <a:prstGeom prst="rect">
            <a:avLst/>
          </a:prstGeom>
          <a:noFill/>
        </p:spPr>
        <p:txBody>
          <a:bodyPr wrap="square" lIns="0" rIns="0" tIns="0" bIns="0" anchor="t">
            <a:spAutoFit/>
          </a:bodyPr>
          <a:lstStyle/>
          <a:p>
            <a:pPr marL="82296" indent="-82296">
              <a:buClr>
                <a:srgbClr val="2E8B57"/>
              </a:buClr>
              <a:buChar char="•"/>
            </a:pPr>
            <a:r>
              <a:rPr sz="800" b="0" i="0">
                <a:solidFill>
                  <a:srgbClr val="3A4454"/>
                </a:solidFill>
                <a:latin typeface="Calibri"/>
              </a:rPr>
              <a:t>4 options compared</a:t>
            </a:r>
          </a:p>
          <a:p>
            <a:pPr marL="82296" indent="-82296">
              <a:buClr>
                <a:srgbClr val="2E8B57"/>
              </a:buClr>
              <a:buChar char="•"/>
            </a:pPr>
            <a:r>
              <a:rPr sz="800" b="0" i="0">
                <a:solidFill>
                  <a:srgbClr val="3A4454"/>
                </a:solidFill>
                <a:latin typeface="Calibri"/>
              </a:rPr>
              <a:t>Net cash for each</a:t>
            </a:r>
          </a:p>
          <a:p>
            <a:pPr marL="82296" indent="-82296">
              <a:buClr>
                <a:srgbClr val="2E8B57"/>
              </a:buClr>
              <a:buChar char="•"/>
            </a:pPr>
            <a:r>
              <a:rPr sz="800" b="0" i="0">
                <a:solidFill>
                  <a:srgbClr val="3A4454"/>
                </a:solidFill>
                <a:latin typeface="Calibri"/>
              </a:rPr>
              <a:t>FixMyTech can call it</a:t>
            </a:r>
          </a:p>
        </p:txBody>
      </p:sp>
      <p:cxnSp>
        <p:nvCxnSpPr>
          <p:cNvPr id="143" name="Connector 142"/>
          <p:cNvCxnSpPr/>
          <p:nvPr/>
        </p:nvCxnSpPr>
        <p:spPr>
          <a:xfrm>
            <a:off x="8264651" y="3657600"/>
            <a:ext cx="0" cy="41148"/>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5405628" y="3698748"/>
            <a:ext cx="2859023" cy="0"/>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5405628" y="3698748"/>
            <a:ext cx="0" cy="41148"/>
          </a:xfrm>
          <a:prstGeom prst="line">
            <a:avLst/>
          </a:prstGeom>
          <a:ln w="12700">
            <a:solidFill>
              <a:srgbClr val="5B6577"/>
            </a:solidFill>
          </a:ln>
        </p:spPr>
        <p:style>
          <a:lnRef idx="2">
            <a:schemeClr val="accent1"/>
          </a:lnRef>
          <a:fillRef idx="0">
            <a:schemeClr val="accent1"/>
          </a:fillRef>
          <a:effectRef idx="1">
            <a:schemeClr val="accent1"/>
          </a:effectRef>
          <a:fontRef idx="minor">
            <a:schemeClr val="tx1"/>
          </a:fontRef>
        </p:style>
      </p:cxnSp>
      <p:sp>
        <p:nvSpPr>
          <p:cNvPr id="146" name="Isosceles Triangle 145"/>
          <p:cNvSpPr/>
          <p:nvPr/>
        </p:nvSpPr>
        <p:spPr>
          <a:xfrm rot="10800000">
            <a:off x="5369051" y="3694176"/>
            <a:ext cx="73152" cy="73152"/>
          </a:xfrm>
          <a:prstGeom prst="triangle">
            <a:avLst/>
          </a:prstGeom>
          <a:solidFill>
            <a:srgbClr val="5B6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lipValue module 7"/>
          <p:cNvSpPr/>
          <p:nvPr/>
        </p:nvSpPr>
        <p:spPr>
          <a:xfrm>
            <a:off x="4754879" y="3739896"/>
            <a:ext cx="1301495" cy="941832"/>
          </a:xfrm>
          <a:prstGeom prst="roundRect">
            <a:avLst>
              <a:gd name="adj" fmla="val 8737"/>
            </a:avLst>
          </a:prstGeom>
          <a:solidFill>
            <a:srgbClr val="F5F1E8"/>
          </a:solidFill>
          <a:ln w="9525">
            <a:solidFill>
              <a:srgbClr val="D7C7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4818888" y="3785615"/>
            <a:ext cx="192024" cy="192024"/>
          </a:xfrm>
          <a:prstGeom prst="ellipse">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4818888" y="3785615"/>
            <a:ext cx="192024" cy="192024"/>
          </a:xfrm>
          <a:prstGeom prst="rect">
            <a:avLst/>
          </a:prstGeom>
          <a:noFill/>
        </p:spPr>
        <p:txBody>
          <a:bodyPr wrap="square" lIns="0" rIns="0" tIns="0" bIns="0" anchor="ctr">
            <a:spAutoFit/>
          </a:bodyPr>
          <a:lstStyle/>
          <a:p>
            <a:pPr algn="ctr"/>
            <a:r>
              <a:rPr sz="800" b="1" i="0">
                <a:solidFill>
                  <a:srgbClr val="FFFFFF"/>
                </a:solidFill>
                <a:latin typeface="Calibri"/>
              </a:rPr>
              <a:t>07</a:t>
            </a:r>
          </a:p>
        </p:txBody>
      </p:sp>
      <p:pic>
        <p:nvPicPr>
          <p:cNvPr id="150" name="Picture 149" descr="b7.png"/>
          <p:cNvPicPr>
            <a:picLocks noChangeAspect="1"/>
          </p:cNvPicPr>
          <p:nvPr/>
        </p:nvPicPr>
        <p:blipFill>
          <a:blip r:embed="rId20"/>
          <a:stretch>
            <a:fillRect/>
          </a:stretch>
        </p:blipFill>
        <p:spPr>
          <a:xfrm>
            <a:off x="5772911" y="3776472"/>
            <a:ext cx="219456" cy="219456"/>
          </a:xfrm>
          <a:prstGeom prst="rect">
            <a:avLst/>
          </a:prstGeom>
        </p:spPr>
      </p:pic>
      <p:sp>
        <p:nvSpPr>
          <p:cNvPr id="151" name="TextBox 150"/>
          <p:cNvSpPr txBox="1"/>
          <p:nvPr/>
        </p:nvSpPr>
        <p:spPr>
          <a:xfrm>
            <a:off x="4818888" y="3968496"/>
            <a:ext cx="1210055" cy="164592"/>
          </a:xfrm>
          <a:prstGeom prst="rect">
            <a:avLst/>
          </a:prstGeom>
          <a:noFill/>
        </p:spPr>
        <p:txBody>
          <a:bodyPr wrap="square" lIns="0" rIns="0" tIns="0" bIns="0" anchor="t">
            <a:spAutoFit/>
          </a:bodyPr>
          <a:lstStyle/>
          <a:p>
            <a:pPr algn="l"/>
            <a:r>
              <a:rPr sz="1000" b="1" i="0">
                <a:solidFill>
                  <a:srgbClr val="9A7418"/>
                </a:solidFill>
                <a:latin typeface="Calibri"/>
              </a:rPr>
              <a:t>partner.py</a:t>
            </a:r>
          </a:p>
        </p:txBody>
      </p:sp>
      <p:sp>
        <p:nvSpPr>
          <p:cNvPr id="152" name="TextBox 151"/>
          <p:cNvSpPr txBox="1"/>
          <p:nvPr/>
        </p:nvSpPr>
        <p:spPr>
          <a:xfrm>
            <a:off x="4818888" y="4133087"/>
            <a:ext cx="1191768" cy="128016"/>
          </a:xfrm>
          <a:prstGeom prst="rect">
            <a:avLst/>
          </a:prstGeom>
          <a:noFill/>
        </p:spPr>
        <p:txBody>
          <a:bodyPr wrap="square" lIns="0" rIns="0" tIns="0" bIns="0" anchor="t">
            <a:spAutoFit/>
          </a:bodyPr>
          <a:lstStyle/>
          <a:p>
            <a:pPr algn="l"/>
            <a:r>
              <a:rPr sz="850" b="0" i="0">
                <a:solidFill>
                  <a:srgbClr val="1B2230"/>
                </a:solidFill>
                <a:latin typeface="Calibri"/>
              </a:rPr>
              <a:t>FixMyTech's front door</a:t>
            </a:r>
          </a:p>
        </p:txBody>
      </p:sp>
      <p:sp>
        <p:nvSpPr>
          <p:cNvPr id="153" name="TextBox 152"/>
          <p:cNvSpPr txBox="1"/>
          <p:nvPr/>
        </p:nvSpPr>
        <p:spPr>
          <a:xfrm>
            <a:off x="4818888" y="4270248"/>
            <a:ext cx="1210055" cy="365760"/>
          </a:xfrm>
          <a:prstGeom prst="rect">
            <a:avLst/>
          </a:prstGeom>
          <a:noFill/>
        </p:spPr>
        <p:txBody>
          <a:bodyPr wrap="square" lIns="0" rIns="0" tIns="0" bIns="0" anchor="t">
            <a:spAutoFit/>
          </a:bodyPr>
          <a:lstStyle/>
          <a:p>
            <a:pPr marL="82296" indent="-82296">
              <a:buClr>
                <a:srgbClr val="9A7418"/>
              </a:buClr>
              <a:buChar char="•"/>
            </a:pPr>
            <a:r>
              <a:rPr sz="800" b="0" i="0">
                <a:solidFill>
                  <a:srgbClr val="3A4454"/>
                </a:solidFill>
                <a:latin typeface="Calibri"/>
              </a:rPr>
              <a:t>POST /v1/valuations</a:t>
            </a:r>
          </a:p>
          <a:p>
            <a:pPr marL="82296" indent="-82296">
              <a:buClr>
                <a:srgbClr val="9A7418"/>
              </a:buClr>
              <a:buChar char="•"/>
            </a:pPr>
            <a:r>
              <a:rPr sz="800" b="0" i="0">
                <a:solidFill>
                  <a:srgbClr val="3A4454"/>
                </a:solidFill>
                <a:latin typeface="Calibri"/>
              </a:rPr>
              <a:t>Follows our contract</a:t>
            </a:r>
          </a:p>
          <a:p>
            <a:pPr marL="82296" indent="-82296">
              <a:buClr>
                <a:srgbClr val="9A7418"/>
              </a:buClr>
              <a:buChar char="•"/>
            </a:pPr>
            <a:r>
              <a:rPr sz="800" b="0" i="0">
                <a:solidFill>
                  <a:srgbClr val="3A4454"/>
                </a:solidFill>
                <a:latin typeface="Calibri"/>
              </a:rPr>
              <a:t>Safe to retry</a:t>
            </a:r>
          </a:p>
        </p:txBody>
      </p:sp>
      <p:sp>
        <p:nvSpPr>
          <p:cNvPr id="154" name="Isosceles Triangle 153"/>
          <p:cNvSpPr/>
          <p:nvPr/>
        </p:nvSpPr>
        <p:spPr>
          <a:xfrm rot="5400000">
            <a:off x="6079235" y="4169663"/>
            <a:ext cx="82296" cy="82296"/>
          </a:xfrm>
          <a:prstGeom prst="triangle">
            <a:avLst/>
          </a:prstGeom>
          <a:solidFill>
            <a:srgbClr val="9A74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lipValue module 8"/>
          <p:cNvSpPr/>
          <p:nvPr/>
        </p:nvSpPr>
        <p:spPr>
          <a:xfrm>
            <a:off x="6184391" y="3739896"/>
            <a:ext cx="1301495" cy="941832"/>
          </a:xfrm>
          <a:prstGeom prst="roundRect">
            <a:avLst>
              <a:gd name="adj" fmla="val 8737"/>
            </a:avLst>
          </a:prstGeom>
          <a:solidFill>
            <a:srgbClr val="F9EAEC"/>
          </a:solidFill>
          <a:ln w="9525">
            <a:solidFill>
              <a:srgbClr val="E6AD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6248399" y="3785615"/>
            <a:ext cx="192024" cy="192024"/>
          </a:xfrm>
          <a:prstGeom prst="ellipse">
            <a:avLst/>
          </a:prstGeom>
          <a:solidFill>
            <a:srgbClr val="C0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6248399" y="3785615"/>
            <a:ext cx="192024" cy="192024"/>
          </a:xfrm>
          <a:prstGeom prst="rect">
            <a:avLst/>
          </a:prstGeom>
          <a:noFill/>
        </p:spPr>
        <p:txBody>
          <a:bodyPr wrap="square" lIns="0" rIns="0" tIns="0" bIns="0" anchor="ctr">
            <a:spAutoFit/>
          </a:bodyPr>
          <a:lstStyle/>
          <a:p>
            <a:pPr algn="ctr"/>
            <a:r>
              <a:rPr sz="800" b="1" i="0">
                <a:solidFill>
                  <a:srgbClr val="FFFFFF"/>
                </a:solidFill>
                <a:latin typeface="Calibri"/>
              </a:rPr>
              <a:t>08</a:t>
            </a:r>
          </a:p>
        </p:txBody>
      </p:sp>
      <p:pic>
        <p:nvPicPr>
          <p:cNvPr id="158" name="Picture 157" descr="b8.png"/>
          <p:cNvPicPr>
            <a:picLocks noChangeAspect="1"/>
          </p:cNvPicPr>
          <p:nvPr/>
        </p:nvPicPr>
        <p:blipFill>
          <a:blip r:embed="rId21"/>
          <a:stretch>
            <a:fillRect/>
          </a:stretch>
        </p:blipFill>
        <p:spPr>
          <a:xfrm>
            <a:off x="7202423" y="3776472"/>
            <a:ext cx="219456" cy="219456"/>
          </a:xfrm>
          <a:prstGeom prst="rect">
            <a:avLst/>
          </a:prstGeom>
        </p:spPr>
      </p:pic>
      <p:sp>
        <p:nvSpPr>
          <p:cNvPr id="159" name="TextBox 158"/>
          <p:cNvSpPr txBox="1"/>
          <p:nvPr/>
        </p:nvSpPr>
        <p:spPr>
          <a:xfrm>
            <a:off x="6248399" y="3968496"/>
            <a:ext cx="1210055" cy="164592"/>
          </a:xfrm>
          <a:prstGeom prst="rect">
            <a:avLst/>
          </a:prstGeom>
          <a:noFill/>
        </p:spPr>
        <p:txBody>
          <a:bodyPr wrap="square" lIns="0" rIns="0" tIns="0" bIns="0" anchor="t">
            <a:spAutoFit/>
          </a:bodyPr>
          <a:lstStyle/>
          <a:p>
            <a:pPr algn="l"/>
            <a:r>
              <a:rPr sz="1000" b="1" i="0">
                <a:solidFill>
                  <a:srgbClr val="C0313C"/>
                </a:solidFill>
                <a:latin typeface="Calibri"/>
              </a:rPr>
              <a:t>security.py</a:t>
            </a:r>
          </a:p>
        </p:txBody>
      </p:sp>
      <p:sp>
        <p:nvSpPr>
          <p:cNvPr id="160" name="TextBox 159"/>
          <p:cNvSpPr txBox="1"/>
          <p:nvPr/>
        </p:nvSpPr>
        <p:spPr>
          <a:xfrm>
            <a:off x="6248399" y="4133087"/>
            <a:ext cx="1191768" cy="128016"/>
          </a:xfrm>
          <a:prstGeom prst="rect">
            <a:avLst/>
          </a:prstGeom>
          <a:noFill/>
        </p:spPr>
        <p:txBody>
          <a:bodyPr wrap="square" lIns="0" rIns="0" tIns="0" bIns="0" anchor="t">
            <a:spAutoFit/>
          </a:bodyPr>
          <a:lstStyle/>
          <a:p>
            <a:pPr algn="l"/>
            <a:r>
              <a:rPr sz="850" b="0" i="0">
                <a:solidFill>
                  <a:srgbClr val="1B2230"/>
                </a:solidFill>
                <a:latin typeface="Calibri"/>
              </a:rPr>
              <a:t>Keys and limits</a:t>
            </a:r>
          </a:p>
        </p:txBody>
      </p:sp>
      <p:sp>
        <p:nvSpPr>
          <p:cNvPr id="161" name="TextBox 160"/>
          <p:cNvSpPr txBox="1"/>
          <p:nvPr/>
        </p:nvSpPr>
        <p:spPr>
          <a:xfrm>
            <a:off x="6248399" y="4270248"/>
            <a:ext cx="1210055" cy="365760"/>
          </a:xfrm>
          <a:prstGeom prst="rect">
            <a:avLst/>
          </a:prstGeom>
          <a:noFill/>
        </p:spPr>
        <p:txBody>
          <a:bodyPr wrap="square" lIns="0" rIns="0" tIns="0" bIns="0" anchor="t">
            <a:spAutoFit/>
          </a:bodyPr>
          <a:lstStyle/>
          <a:p>
            <a:pPr marL="82296" indent="-82296">
              <a:buClr>
                <a:srgbClr val="C0313C"/>
              </a:buClr>
              <a:buChar char="•"/>
            </a:pPr>
            <a:r>
              <a:rPr sz="800" b="0" i="0">
                <a:solidFill>
                  <a:srgbClr val="3A4454"/>
                </a:solidFill>
                <a:latin typeface="Calibri"/>
              </a:rPr>
              <a:t>Keys stored hashed</a:t>
            </a:r>
          </a:p>
          <a:p>
            <a:pPr marL="82296" indent="-82296">
              <a:buClr>
                <a:srgbClr val="C0313C"/>
              </a:buClr>
              <a:buChar char="•"/>
            </a:pPr>
            <a:r>
              <a:rPr sz="800" b="0" i="0">
                <a:solidFill>
                  <a:srgbClr val="3A4454"/>
                </a:solidFill>
                <a:latin typeface="Calibri"/>
              </a:rPr>
              <a:t>Scopes per key</a:t>
            </a:r>
          </a:p>
          <a:p>
            <a:pPr marL="82296" indent="-82296">
              <a:buClr>
                <a:srgbClr val="C0313C"/>
              </a:buClr>
              <a:buChar char="•"/>
            </a:pPr>
            <a:r>
              <a:rPr sz="800" b="0" i="0">
                <a:solidFill>
                  <a:srgbClr val="3A4454"/>
                </a:solidFill>
                <a:latin typeface="Calibri"/>
              </a:rPr>
              <a:t>Rate limits per key</a:t>
            </a:r>
          </a:p>
        </p:txBody>
      </p:sp>
      <p:sp>
        <p:nvSpPr>
          <p:cNvPr id="162" name="Isosceles Triangle 161"/>
          <p:cNvSpPr/>
          <p:nvPr/>
        </p:nvSpPr>
        <p:spPr>
          <a:xfrm rot="5400000">
            <a:off x="7508747" y="4169663"/>
            <a:ext cx="82296" cy="82296"/>
          </a:xfrm>
          <a:prstGeom prst="triangle">
            <a:avLst/>
          </a:prstGeom>
          <a:solidFill>
            <a:srgbClr val="C03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lipValue module 9"/>
          <p:cNvSpPr/>
          <p:nvPr/>
        </p:nvSpPr>
        <p:spPr>
          <a:xfrm>
            <a:off x="7613903" y="3739896"/>
            <a:ext cx="1301495" cy="941832"/>
          </a:xfrm>
          <a:prstGeom prst="roundRect">
            <a:avLst>
              <a:gd name="adj" fmla="val 8737"/>
            </a:avLst>
          </a:prstGeom>
          <a:solidFill>
            <a:srgbClr val="F0EEF9"/>
          </a:solidFill>
          <a:ln w="9525">
            <a:solidFill>
              <a:srgbClr val="C5BA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7677911" y="3785615"/>
            <a:ext cx="192024" cy="192024"/>
          </a:xfrm>
          <a:prstGeom prst="ellipse">
            <a:avLst/>
          </a:prstGeom>
          <a:solidFill>
            <a:srgbClr val="6E5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7677911" y="3785615"/>
            <a:ext cx="192024" cy="192024"/>
          </a:xfrm>
          <a:prstGeom prst="rect">
            <a:avLst/>
          </a:prstGeom>
          <a:noFill/>
        </p:spPr>
        <p:txBody>
          <a:bodyPr wrap="square" lIns="0" rIns="0" tIns="0" bIns="0" anchor="ctr">
            <a:spAutoFit/>
          </a:bodyPr>
          <a:lstStyle/>
          <a:p>
            <a:pPr algn="ctr"/>
            <a:r>
              <a:rPr sz="800" b="1" i="0">
                <a:solidFill>
                  <a:srgbClr val="FFFFFF"/>
                </a:solidFill>
                <a:latin typeface="Calibri"/>
              </a:rPr>
              <a:t>09</a:t>
            </a:r>
          </a:p>
        </p:txBody>
      </p:sp>
      <p:pic>
        <p:nvPicPr>
          <p:cNvPr id="166" name="Picture 165" descr="b9.png"/>
          <p:cNvPicPr>
            <a:picLocks noChangeAspect="1"/>
          </p:cNvPicPr>
          <p:nvPr/>
        </p:nvPicPr>
        <p:blipFill>
          <a:blip r:embed="rId22"/>
          <a:stretch>
            <a:fillRect/>
          </a:stretch>
        </p:blipFill>
        <p:spPr>
          <a:xfrm>
            <a:off x="8631935" y="3776472"/>
            <a:ext cx="219456" cy="219456"/>
          </a:xfrm>
          <a:prstGeom prst="rect">
            <a:avLst/>
          </a:prstGeom>
        </p:spPr>
      </p:pic>
      <p:sp>
        <p:nvSpPr>
          <p:cNvPr id="167" name="TextBox 166"/>
          <p:cNvSpPr txBox="1"/>
          <p:nvPr/>
        </p:nvSpPr>
        <p:spPr>
          <a:xfrm>
            <a:off x="7677911" y="3968496"/>
            <a:ext cx="1210055" cy="164592"/>
          </a:xfrm>
          <a:prstGeom prst="rect">
            <a:avLst/>
          </a:prstGeom>
          <a:noFill/>
        </p:spPr>
        <p:txBody>
          <a:bodyPr wrap="square" lIns="0" rIns="0" tIns="0" bIns="0" anchor="t">
            <a:spAutoFit/>
          </a:bodyPr>
          <a:lstStyle/>
          <a:p>
            <a:pPr algn="l"/>
            <a:r>
              <a:rPr sz="1000" b="1" i="0">
                <a:solidFill>
                  <a:srgbClr val="6E52C2"/>
                </a:solidFill>
                <a:latin typeface="Calibri"/>
              </a:rPr>
              <a:t>ValuePage.tsx</a:t>
            </a:r>
          </a:p>
        </p:txBody>
      </p:sp>
      <p:sp>
        <p:nvSpPr>
          <p:cNvPr id="168" name="TextBox 167"/>
          <p:cNvSpPr txBox="1"/>
          <p:nvPr/>
        </p:nvSpPr>
        <p:spPr>
          <a:xfrm>
            <a:off x="7677911" y="4133087"/>
            <a:ext cx="1191768" cy="128016"/>
          </a:xfrm>
          <a:prstGeom prst="rect">
            <a:avLst/>
          </a:prstGeom>
          <a:noFill/>
        </p:spPr>
        <p:txBody>
          <a:bodyPr wrap="square" lIns="0" rIns="0" tIns="0" bIns="0" anchor="t">
            <a:spAutoFit/>
          </a:bodyPr>
          <a:lstStyle/>
          <a:p>
            <a:pPr algn="l"/>
            <a:r>
              <a:rPr sz="850" b="0" i="0">
                <a:solidFill>
                  <a:srgbClr val="1B2230"/>
                </a:solidFill>
                <a:latin typeface="Calibri"/>
              </a:rPr>
              <a:t>Website value wizard</a:t>
            </a:r>
          </a:p>
        </p:txBody>
      </p:sp>
      <p:sp>
        <p:nvSpPr>
          <p:cNvPr id="169" name="TextBox 168"/>
          <p:cNvSpPr txBox="1"/>
          <p:nvPr/>
        </p:nvSpPr>
        <p:spPr>
          <a:xfrm>
            <a:off x="7677911" y="4270248"/>
            <a:ext cx="1210055" cy="365760"/>
          </a:xfrm>
          <a:prstGeom prst="rect">
            <a:avLst/>
          </a:prstGeom>
          <a:noFill/>
        </p:spPr>
        <p:txBody>
          <a:bodyPr wrap="square" lIns="0" rIns="0" tIns="0" bIns="0" anchor="t">
            <a:spAutoFit/>
          </a:bodyPr>
          <a:lstStyle/>
          <a:p>
            <a:pPr marL="82296" indent="-82296">
              <a:buClr>
                <a:srgbClr val="6E52C2"/>
              </a:buClr>
              <a:buChar char="•"/>
            </a:pPr>
            <a:r>
              <a:rPr sz="800" b="0" i="0">
                <a:solidFill>
                  <a:srgbClr val="3A4454"/>
                </a:solidFill>
                <a:latin typeface="Calibri"/>
              </a:rPr>
              <a:t>5 steps to a value</a:t>
            </a:r>
          </a:p>
          <a:p>
            <a:pPr marL="82296" indent="-82296">
              <a:buClr>
                <a:srgbClr val="6E52C2"/>
              </a:buClr>
              <a:buChar char="•"/>
            </a:pPr>
            <a:r>
              <a:rPr sz="800" b="0" i="0">
                <a:solidFill>
                  <a:srgbClr val="3A4454"/>
                </a:solidFill>
                <a:latin typeface="Calibri"/>
              </a:rPr>
              <a:t>Shows estimate notices</a:t>
            </a:r>
          </a:p>
          <a:p>
            <a:pPr marL="82296" indent="-82296">
              <a:buClr>
                <a:srgbClr val="6E52C2"/>
              </a:buClr>
              <a:buChar char="•"/>
            </a:pPr>
            <a:r>
              <a:rPr sz="800" b="0" i="0">
                <a:solidFill>
                  <a:srgbClr val="3A4454"/>
                </a:solidFill>
                <a:latin typeface="Calibri"/>
              </a:rPr>
              <a:t>Real vs modelled shown</a:t>
            </a:r>
          </a:p>
        </p:txBody>
      </p:sp>
      <p:cxnSp>
        <p:nvCxnSpPr>
          <p:cNvPr id="170" name="Connector 169"/>
          <p:cNvCxnSpPr/>
          <p:nvPr/>
        </p:nvCxnSpPr>
        <p:spPr>
          <a:xfrm>
            <a:off x="4434840" y="4210812"/>
            <a:ext cx="274320" cy="0"/>
          </a:xfrm>
          <a:prstGeom prst="line">
            <a:avLst/>
          </a:prstGeom>
          <a:ln w="25400">
            <a:solidFill>
              <a:srgbClr val="9A741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71" name="TextBox 170"/>
          <p:cNvSpPr txBox="1"/>
          <p:nvPr/>
        </p:nvSpPr>
        <p:spPr>
          <a:xfrm>
            <a:off x="4297680" y="4027931"/>
            <a:ext cx="548640" cy="118872"/>
          </a:xfrm>
          <a:prstGeom prst="rect">
            <a:avLst/>
          </a:prstGeom>
          <a:noFill/>
        </p:spPr>
        <p:txBody>
          <a:bodyPr wrap="square" lIns="0" rIns="0" tIns="0" bIns="0" anchor="t">
            <a:spAutoFit/>
          </a:bodyPr>
          <a:lstStyle/>
          <a:p>
            <a:pPr algn="ctr"/>
            <a:r>
              <a:rPr sz="700" b="1" i="0">
                <a:solidFill>
                  <a:srgbClr val="9A7418"/>
                </a:solidFill>
                <a:latin typeface="Calibri"/>
              </a:rPr>
              <a:t>HTTPS</a:t>
            </a:r>
          </a:p>
        </p:txBody>
      </p:sp>
      <p:sp>
        <p:nvSpPr>
          <p:cNvPr id="172" name="TextBox 171"/>
          <p:cNvSpPr txBox="1"/>
          <p:nvPr/>
        </p:nvSpPr>
        <p:spPr>
          <a:xfrm>
            <a:off x="4297680" y="4265675"/>
            <a:ext cx="548640" cy="118872"/>
          </a:xfrm>
          <a:prstGeom prst="rect">
            <a:avLst/>
          </a:prstGeom>
          <a:noFill/>
        </p:spPr>
        <p:txBody>
          <a:bodyPr wrap="square" lIns="0" rIns="0" tIns="0" bIns="0" anchor="t">
            <a:spAutoFit/>
          </a:bodyPr>
          <a:lstStyle/>
          <a:p>
            <a:pPr algn="ctr"/>
            <a:r>
              <a:rPr sz="700" b="1" i="0">
                <a:solidFill>
                  <a:srgbClr val="9A7418"/>
                </a:solidFill>
                <a:latin typeface="Calibri"/>
              </a:rPr>
              <a:t>API key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ection pill"/>
          <p:cNvSpPr/>
          <p:nvPr/>
        </p:nvSpPr>
        <p:spPr>
          <a:xfrm>
            <a:off x="457200" y="320040"/>
            <a:ext cx="1796796" cy="292608"/>
          </a:xfrm>
          <a:prstGeom prst="roundRect">
            <a:avLst>
              <a:gd name="adj" fmla="val 50000"/>
            </a:avLst>
          </a:prstGeom>
          <a:solidFill>
            <a:srgbClr val="9A7418"/>
          </a:solidFill>
          <a:ln w="12700">
            <a:solidFill>
              <a:srgbClr val="9A7418"/>
            </a:solidFill>
            <a:prstDash val="solid"/>
          </a:ln>
        </p:spPr>
        <p:txBody>
          <a:bodyPr/>
          <a:p/>
        </p:txBody>
      </p:sp>
      <p:sp>
        <p:nvSpPr>
          <p:cNvPr id="4" name="Text 1"/>
          <p:cNvSpPr txBox="1"/>
          <p:nvPr/>
        </p:nvSpPr>
        <p:spPr>
          <a:xfrm>
            <a:off x="457200" y="320040"/>
            <a:ext cx="1796796" cy="292608"/>
          </a:xfrm>
          <a:prstGeom prst="rect">
            <a:avLst/>
          </a:prstGeom>
          <a:noFill/>
          <a:ln/>
        </p:spPr>
        <p:txBody>
          <a:bodyPr wrap="square" lIns="0" tIns="0" rIns="0" bIns="0" rtlCol="0" anchor="ctr"/>
          <a:lstStyle/>
          <a:p>
            <a:pPr algn="ctr" indent="0" marL="0">
              <a:buNone/>
            </a:pPr>
            <a:r>
              <a:rPr lang="en-US" sz="1100" spc="100" kern="0" dirty="0">
                <a:solidFill>
                  <a:srgbClr val="FFFFFF"/>
                </a:solidFill>
                <a:latin typeface="Calibri" pitchFamily="34" charset="0"/>
                <a:ea typeface="Calibri" pitchFamily="34" charset="-122"/>
                <a:cs typeface="Calibri" pitchFamily="34" charset="-120"/>
              </a:rPr>
              <a:t>DIAGNOSTIC ENGINE</a:t>
            </a:r>
            <a:endParaRPr lang="en-US" sz="1100" dirty="0"/>
          </a:p>
        </p:txBody>
      </p:sp>
      <p:sp>
        <p:nvSpPr>
          <p:cNvPr id="5" name="Text 2"/>
          <p:cNvSpPr txBox="1"/>
          <p:nvPr/>
        </p:nvSpPr>
        <p:spPr>
          <a:xfrm>
            <a:off x="457200" y="685800"/>
            <a:ext cx="8229600" cy="640080"/>
          </a:xfrm>
          <a:prstGeom prst="rect">
            <a:avLst/>
          </a:prstGeom>
          <a:noFill/>
          <a:ln/>
        </p:spPr>
        <p:txBody>
          <a:bodyPr wrap="square" lIns="0" tIns="0" rIns="0" bIns="0" rtlCol="0" anchor="ctr"/>
          <a:lstStyle/>
          <a:p>
            <a:pPr indent="0" marL="0">
              <a:buNone/>
            </a:pPr>
            <a:r>
              <a:rPr lang="en-US" sz="3400" b="1" dirty="0">
                <a:solidFill>
                  <a:srgbClr val="1B2230"/>
                </a:solidFill>
                <a:latin typeface="Cambria" pitchFamily="34" charset="0"/>
                <a:ea typeface="Cambria" pitchFamily="34" charset="-122"/>
                <a:cs typeface="Cambria" pitchFamily="34" charset="-120"/>
              </a:rPr>
              <a:t>Evidence in, explainable </a:t>
            </a:r>
            <a:pPr indent="0" marL="0">
              <a:buNone/>
            </a:pPr>
            <a:r>
              <a:rPr lang="en-US" sz="3400" b="1" dirty="0">
                <a:solidFill>
                  <a:srgbClr val="9A7418"/>
                </a:solidFill>
                <a:latin typeface="Cambria" pitchFamily="34" charset="0"/>
                <a:ea typeface="Cambria" pitchFamily="34" charset="-122"/>
                <a:cs typeface="Cambria" pitchFamily="34" charset="-120"/>
              </a:rPr>
              <a:t>answers out</a:t>
            </a:r>
            <a:endParaRPr lang="en-US" sz="3400" dirty="0"/>
          </a:p>
        </p:txBody>
      </p:sp>
      <p:sp>
        <p:nvSpPr>
          <p:cNvPr id="6" name="Text 3"/>
          <p:cNvSpPr txBox="1"/>
          <p:nvPr/>
        </p:nvSpPr>
        <p:spPr>
          <a:xfrm>
            <a:off x="457200" y="1463040"/>
            <a:ext cx="1920240" cy="1005840"/>
          </a:xfrm>
          <a:prstGeom prst="rect">
            <a:avLst/>
          </a:prstGeom>
          <a:noFill/>
          <a:ln/>
        </p:spPr>
        <p:txBody>
          <a:bodyPr wrap="square" lIns="0" tIns="0" rIns="0" bIns="0" rtlCol="0" anchor="ctr"/>
          <a:lstStyle/>
          <a:p>
            <a:pPr indent="0" marL="0">
              <a:buNone/>
            </a:pPr>
            <a:r>
              <a:rPr lang="en-US" sz="6400" b="1" dirty="0">
                <a:solidFill>
                  <a:srgbClr val="C0313C"/>
                </a:solidFill>
                <a:latin typeface="Cambria" pitchFamily="34" charset="0"/>
                <a:ea typeface="Cambria" pitchFamily="34" charset="-122"/>
                <a:cs typeface="Cambria" pitchFamily="34" charset="-120"/>
              </a:rPr>
              <a:t>113</a:t>
            </a:r>
            <a:endParaRPr lang="en-US" sz="6400" dirty="0"/>
          </a:p>
        </p:txBody>
      </p:sp>
      <p:sp>
        <p:nvSpPr>
          <p:cNvPr id="7" name="Text 4"/>
          <p:cNvSpPr txBox="1"/>
          <p:nvPr/>
        </p:nvSpPr>
        <p:spPr>
          <a:xfrm>
            <a:off x="457200" y="2468880"/>
            <a:ext cx="1920240" cy="320040"/>
          </a:xfrm>
          <a:prstGeom prst="rect">
            <a:avLst/>
          </a:prstGeom>
          <a:noFill/>
          <a:ln/>
        </p:spPr>
        <p:txBody>
          <a:bodyPr wrap="square" lIns="0" tIns="0" rIns="0" bIns="0" rtlCol="0" anchor="ctr"/>
          <a:lstStyle/>
          <a:p>
            <a:pPr indent="0" marL="0">
              <a:buNone/>
            </a:pPr>
            <a:r>
              <a:rPr lang="en-US" sz="1500" dirty="0">
                <a:solidFill>
                  <a:srgbClr val="1B2230"/>
                </a:solidFill>
                <a:latin typeface="Calibri" pitchFamily="34" charset="0"/>
                <a:ea typeface="Calibri" pitchFamily="34" charset="-122"/>
                <a:cs typeface="Calibri" pitchFamily="34" charset="-120"/>
              </a:rPr>
              <a:t>rules</a:t>
            </a:r>
            <a:endParaRPr lang="en-US" sz="1500" dirty="0"/>
          </a:p>
        </p:txBody>
      </p:sp>
      <p:sp>
        <p:nvSpPr>
          <p:cNvPr id="8" name="Text 5"/>
          <p:cNvSpPr txBox="1"/>
          <p:nvPr/>
        </p:nvSpPr>
        <p:spPr>
          <a:xfrm>
            <a:off x="2560320" y="1463040"/>
            <a:ext cx="1920240" cy="1005840"/>
          </a:xfrm>
          <a:prstGeom prst="rect">
            <a:avLst/>
          </a:prstGeom>
          <a:noFill/>
          <a:ln/>
        </p:spPr>
        <p:txBody>
          <a:bodyPr wrap="square" lIns="0" tIns="0" rIns="0" bIns="0" rtlCol="0" anchor="ctr"/>
          <a:lstStyle/>
          <a:p>
            <a:pPr indent="0" marL="0">
              <a:buNone/>
            </a:pPr>
            <a:r>
              <a:rPr lang="en-US" sz="6400" b="1" dirty="0">
                <a:solidFill>
                  <a:srgbClr val="B8325F"/>
                </a:solidFill>
                <a:latin typeface="Cambria" pitchFamily="34" charset="0"/>
                <a:ea typeface="Cambria" pitchFamily="34" charset="-122"/>
                <a:cs typeface="Cambria" pitchFamily="34" charset="-120"/>
              </a:rPr>
              <a:t>25</a:t>
            </a:r>
            <a:endParaRPr lang="en-US" sz="6400" dirty="0"/>
          </a:p>
        </p:txBody>
      </p:sp>
      <p:sp>
        <p:nvSpPr>
          <p:cNvPr id="9" name="Text 6"/>
          <p:cNvSpPr txBox="1"/>
          <p:nvPr/>
        </p:nvSpPr>
        <p:spPr>
          <a:xfrm>
            <a:off x="2560320" y="2468880"/>
            <a:ext cx="1920240" cy="320040"/>
          </a:xfrm>
          <a:prstGeom prst="rect">
            <a:avLst/>
          </a:prstGeom>
          <a:noFill/>
          <a:ln/>
        </p:spPr>
        <p:txBody>
          <a:bodyPr wrap="square" lIns="0" tIns="0" rIns="0" bIns="0" rtlCol="0" anchor="ctr"/>
          <a:lstStyle/>
          <a:p>
            <a:pPr indent="0" marL="0">
              <a:buNone/>
            </a:pPr>
            <a:r>
              <a:rPr lang="en-US" sz="1500" dirty="0">
                <a:solidFill>
                  <a:srgbClr val="1B2230"/>
                </a:solidFill>
                <a:latin typeface="Calibri" pitchFamily="34" charset="0"/>
                <a:ea typeface="Calibri" pitchFamily="34" charset="-122"/>
                <a:cs typeface="Calibri" pitchFamily="34" charset="-120"/>
              </a:rPr>
              <a:t>adaptive questions</a:t>
            </a:r>
            <a:endParaRPr lang="en-US" sz="1500" dirty="0"/>
          </a:p>
        </p:txBody>
      </p:sp>
      <p:sp>
        <p:nvSpPr>
          <p:cNvPr id="10" name="Shape 7"/>
          <p:cNvSpPr/>
          <p:nvPr/>
        </p:nvSpPr>
        <p:spPr>
          <a:xfrm>
            <a:off x="2450592" y="1600200"/>
            <a:ext cx="0" cy="1097280"/>
          </a:xfrm>
          <a:prstGeom prst="line">
            <a:avLst/>
          </a:prstGeom>
          <a:noFill/>
          <a:ln w="12700">
            <a:solidFill>
              <a:srgbClr val="DDD8CC"/>
            </a:solidFill>
            <a:prstDash val="solid"/>
          </a:ln>
        </p:spPr>
        <p:txBody>
          <a:bodyPr/>
          <a:p/>
        </p:txBody>
      </p:sp>
      <p:sp>
        <p:nvSpPr>
          <p:cNvPr id="11" name="Text 8"/>
          <p:cNvSpPr txBox="1"/>
          <p:nvPr/>
        </p:nvSpPr>
        <p:spPr>
          <a:xfrm>
            <a:off x="4663440" y="1463040"/>
            <a:ext cx="1920240" cy="1005840"/>
          </a:xfrm>
          <a:prstGeom prst="rect">
            <a:avLst/>
          </a:prstGeom>
          <a:noFill/>
          <a:ln/>
        </p:spPr>
        <p:txBody>
          <a:bodyPr wrap="square" lIns="0" tIns="0" rIns="0" bIns="0" rtlCol="0" anchor="ctr"/>
          <a:lstStyle/>
          <a:p>
            <a:pPr indent="0" marL="0">
              <a:buNone/>
            </a:pPr>
            <a:r>
              <a:rPr lang="en-US" sz="6400" b="1" dirty="0">
                <a:solidFill>
                  <a:srgbClr val="B7791A"/>
                </a:solidFill>
                <a:latin typeface="Cambria" pitchFamily="34" charset="0"/>
                <a:ea typeface="Cambria" pitchFamily="34" charset="-122"/>
                <a:cs typeface="Cambria" pitchFamily="34" charset="-120"/>
              </a:rPr>
              <a:t>12</a:t>
            </a:r>
            <a:endParaRPr lang="en-US" sz="6400" dirty="0"/>
          </a:p>
        </p:txBody>
      </p:sp>
      <p:sp>
        <p:nvSpPr>
          <p:cNvPr id="12" name="Text 9"/>
          <p:cNvSpPr txBox="1"/>
          <p:nvPr/>
        </p:nvSpPr>
        <p:spPr>
          <a:xfrm>
            <a:off x="4663440" y="2468880"/>
            <a:ext cx="1920240" cy="320040"/>
          </a:xfrm>
          <a:prstGeom prst="rect">
            <a:avLst/>
          </a:prstGeom>
          <a:noFill/>
          <a:ln/>
        </p:spPr>
        <p:txBody>
          <a:bodyPr wrap="square" lIns="0" tIns="0" rIns="0" bIns="0" rtlCol="0" anchor="ctr"/>
          <a:lstStyle/>
          <a:p>
            <a:pPr indent="0" marL="0">
              <a:buNone/>
            </a:pPr>
            <a:r>
              <a:rPr lang="en-US" sz="1500" dirty="0">
                <a:solidFill>
                  <a:srgbClr val="1B2230"/>
                </a:solidFill>
                <a:latin typeface="Calibri" pitchFamily="34" charset="0"/>
                <a:ea typeface="Calibri" pitchFamily="34" charset="-122"/>
                <a:cs typeface="Calibri" pitchFamily="34" charset="-120"/>
              </a:rPr>
              <a:t>guided tests</a:t>
            </a:r>
            <a:endParaRPr lang="en-US" sz="1500" dirty="0"/>
          </a:p>
        </p:txBody>
      </p:sp>
      <p:sp>
        <p:nvSpPr>
          <p:cNvPr id="13" name="Shape 10"/>
          <p:cNvSpPr/>
          <p:nvPr/>
        </p:nvSpPr>
        <p:spPr>
          <a:xfrm>
            <a:off x="4553712" y="1600200"/>
            <a:ext cx="0" cy="1097280"/>
          </a:xfrm>
          <a:prstGeom prst="line">
            <a:avLst/>
          </a:prstGeom>
          <a:noFill/>
          <a:ln w="12700">
            <a:solidFill>
              <a:srgbClr val="DDD8CC"/>
            </a:solidFill>
            <a:prstDash val="solid"/>
          </a:ln>
        </p:spPr>
        <p:txBody>
          <a:bodyPr/>
          <a:p/>
        </p:txBody>
      </p:sp>
      <p:sp>
        <p:nvSpPr>
          <p:cNvPr id="14" name="Text 11"/>
          <p:cNvSpPr txBox="1"/>
          <p:nvPr/>
        </p:nvSpPr>
        <p:spPr>
          <a:xfrm>
            <a:off x="6766560" y="1463040"/>
            <a:ext cx="1920240" cy="1005840"/>
          </a:xfrm>
          <a:prstGeom prst="rect">
            <a:avLst/>
          </a:prstGeom>
          <a:noFill/>
          <a:ln/>
        </p:spPr>
        <p:txBody>
          <a:bodyPr wrap="square" lIns="0" tIns="0" rIns="0" bIns="0" rtlCol="0" anchor="ctr"/>
          <a:lstStyle/>
          <a:p>
            <a:pPr indent="0" marL="0">
              <a:buNone/>
            </a:pPr>
            <a:r>
              <a:rPr lang="en-US" sz="6400" b="1" dirty="0">
                <a:solidFill>
                  <a:srgbClr val="17877B"/>
                </a:solidFill>
                <a:latin typeface="Cambria" pitchFamily="34" charset="0"/>
                <a:ea typeface="Cambria" pitchFamily="34" charset="-122"/>
                <a:cs typeface="Cambria" pitchFamily="34" charset="-120"/>
              </a:rPr>
              <a:t>15</a:t>
            </a:r>
            <a:endParaRPr lang="en-US" sz="6400" dirty="0"/>
          </a:p>
        </p:txBody>
      </p:sp>
      <p:sp>
        <p:nvSpPr>
          <p:cNvPr id="15" name="Text 12"/>
          <p:cNvSpPr txBox="1"/>
          <p:nvPr/>
        </p:nvSpPr>
        <p:spPr>
          <a:xfrm>
            <a:off x="6766560" y="2468880"/>
            <a:ext cx="1920240" cy="320040"/>
          </a:xfrm>
          <a:prstGeom prst="rect">
            <a:avLst/>
          </a:prstGeom>
          <a:noFill/>
          <a:ln/>
        </p:spPr>
        <p:txBody>
          <a:bodyPr wrap="square" lIns="0" tIns="0" rIns="0" bIns="0" rtlCol="0" anchor="ctr"/>
          <a:lstStyle/>
          <a:p>
            <a:pPr indent="0" marL="0">
              <a:buNone/>
            </a:pPr>
            <a:r>
              <a:rPr lang="en-US" sz="1500" dirty="0">
                <a:solidFill>
                  <a:srgbClr val="1B2230"/>
                </a:solidFill>
                <a:latin typeface="Calibri" pitchFamily="34" charset="0"/>
                <a:ea typeface="Calibri" pitchFamily="34" charset="-122"/>
                <a:cs typeface="Calibri" pitchFamily="34" charset="-120"/>
              </a:rPr>
              <a:t>read-only checks</a:t>
            </a:r>
            <a:endParaRPr lang="en-US" sz="1500" dirty="0"/>
          </a:p>
        </p:txBody>
      </p:sp>
      <p:sp>
        <p:nvSpPr>
          <p:cNvPr id="16" name="Shape 13"/>
          <p:cNvSpPr/>
          <p:nvPr/>
        </p:nvSpPr>
        <p:spPr>
          <a:xfrm>
            <a:off x="6656832" y="1600200"/>
            <a:ext cx="0" cy="1097280"/>
          </a:xfrm>
          <a:prstGeom prst="line">
            <a:avLst/>
          </a:prstGeom>
          <a:noFill/>
          <a:ln w="12700">
            <a:solidFill>
              <a:srgbClr val="DDD8CC"/>
            </a:solidFill>
            <a:prstDash val="solid"/>
          </a:ln>
        </p:spPr>
        <p:txBody>
          <a:bodyPr/>
          <a:p/>
        </p:txBody>
      </p:sp>
      <p:sp>
        <p:nvSpPr>
          <p:cNvPr id="17" name="Text 14"/>
          <p:cNvSpPr txBox="1"/>
          <p:nvPr/>
        </p:nvSpPr>
        <p:spPr>
          <a:xfrm>
            <a:off x="457200" y="3200400"/>
            <a:ext cx="8229600" cy="320040"/>
          </a:xfrm>
          <a:prstGeom prst="rect">
            <a:avLst/>
          </a:prstGeom>
          <a:noFill/>
          <a:ln/>
        </p:spPr>
        <p:txBody>
          <a:bodyPr wrap="square" lIns="0" tIns="0" rIns="0" bIns="0" rtlCol="0" anchor="ctr"/>
          <a:lstStyle/>
          <a:p>
            <a:pPr indent="0" marL="0">
              <a:buNone/>
            </a:pPr>
            <a:r>
              <a:rPr lang="en-US" sz="1700" b="1" dirty="0">
                <a:solidFill>
                  <a:srgbClr val="1B2230"/>
                </a:solidFill>
                <a:latin typeface="Cambria" pitchFamily="34" charset="0"/>
                <a:ea typeface="Cambria" pitchFamily="34" charset="-122"/>
                <a:cs typeface="Cambria" pitchFamily="34" charset="-120"/>
              </a:rPr>
              <a:t>Every item in a report says where it came from</a:t>
            </a:r>
            <a:endParaRPr lang="en-US" sz="1700" dirty="0"/>
          </a:p>
        </p:txBody>
      </p:sp>
      <p:sp>
        <p:nvSpPr>
          <p:cNvPr id="18" name="Shape 15"/>
          <p:cNvSpPr/>
          <p:nvPr/>
        </p:nvSpPr>
        <p:spPr>
          <a:xfrm>
            <a:off x="457200" y="3767328"/>
            <a:ext cx="146304" cy="146304"/>
          </a:xfrm>
          <a:prstGeom prst="ellipse">
            <a:avLst/>
          </a:prstGeom>
          <a:solidFill>
            <a:srgbClr val="17877B"/>
          </a:solidFill>
          <a:ln w="12700">
            <a:solidFill>
              <a:srgbClr val="17877B"/>
            </a:solidFill>
            <a:prstDash val="solid"/>
          </a:ln>
        </p:spPr>
        <p:txBody>
          <a:bodyPr/>
          <a:p/>
        </p:txBody>
      </p:sp>
      <p:sp>
        <p:nvSpPr>
          <p:cNvPr id="19" name="Text 16"/>
          <p:cNvSpPr txBox="1"/>
          <p:nvPr/>
        </p:nvSpPr>
        <p:spPr>
          <a:xfrm>
            <a:off x="713232" y="3703320"/>
            <a:ext cx="2468880" cy="274320"/>
          </a:xfrm>
          <a:prstGeom prst="rect">
            <a:avLst/>
          </a:prstGeom>
          <a:noFill/>
          <a:ln/>
        </p:spPr>
        <p:txBody>
          <a:bodyPr wrap="square" lIns="0" tIns="0" rIns="0" bIns="0" rtlCol="0" anchor="ctr"/>
          <a:lstStyle/>
          <a:p>
            <a:pPr indent="0" marL="0">
              <a:buNone/>
            </a:pPr>
            <a:r>
              <a:rPr lang="en-US" sz="1300" dirty="0">
                <a:solidFill>
                  <a:srgbClr val="1B2230"/>
                </a:solidFill>
                <a:latin typeface="Calibri" pitchFamily="34" charset="0"/>
                <a:ea typeface="Calibri" pitchFamily="34" charset="-122"/>
                <a:cs typeface="Calibri" pitchFamily="34" charset="-120"/>
              </a:rPr>
              <a:t>Measured on the device</a:t>
            </a:r>
            <a:endParaRPr lang="en-US" sz="1300" dirty="0"/>
          </a:p>
        </p:txBody>
      </p:sp>
      <p:sp>
        <p:nvSpPr>
          <p:cNvPr id="20" name="Shape 17"/>
          <p:cNvSpPr/>
          <p:nvPr/>
        </p:nvSpPr>
        <p:spPr>
          <a:xfrm>
            <a:off x="3246120" y="3767328"/>
            <a:ext cx="146304" cy="146304"/>
          </a:xfrm>
          <a:prstGeom prst="ellipse">
            <a:avLst/>
          </a:prstGeom>
          <a:solidFill>
            <a:srgbClr val="B7791A"/>
          </a:solidFill>
          <a:ln w="12700">
            <a:solidFill>
              <a:srgbClr val="B7791A"/>
            </a:solidFill>
            <a:prstDash val="solid"/>
          </a:ln>
        </p:spPr>
        <p:txBody>
          <a:bodyPr/>
          <a:p/>
        </p:txBody>
      </p:sp>
      <p:sp>
        <p:nvSpPr>
          <p:cNvPr id="21" name="Text 18"/>
          <p:cNvSpPr txBox="1"/>
          <p:nvPr/>
        </p:nvSpPr>
        <p:spPr>
          <a:xfrm>
            <a:off x="3502152" y="3703320"/>
            <a:ext cx="2468880" cy="274320"/>
          </a:xfrm>
          <a:prstGeom prst="rect">
            <a:avLst/>
          </a:prstGeom>
          <a:noFill/>
          <a:ln/>
        </p:spPr>
        <p:txBody>
          <a:bodyPr wrap="square" lIns="0" tIns="0" rIns="0" bIns="0" rtlCol="0" anchor="ctr"/>
          <a:lstStyle/>
          <a:p>
            <a:pPr indent="0" marL="0">
              <a:buNone/>
            </a:pPr>
            <a:r>
              <a:rPr lang="en-US" sz="1300" dirty="0">
                <a:solidFill>
                  <a:srgbClr val="1B2230"/>
                </a:solidFill>
                <a:latin typeface="Calibri" pitchFamily="34" charset="0"/>
                <a:ea typeface="Calibri" pitchFamily="34" charset="-122"/>
                <a:cs typeface="Calibri" pitchFamily="34" charset="-120"/>
              </a:rPr>
              <a:t>Measured in a test</a:t>
            </a:r>
            <a:endParaRPr lang="en-US" sz="1300" dirty="0"/>
          </a:p>
        </p:txBody>
      </p:sp>
      <p:sp>
        <p:nvSpPr>
          <p:cNvPr id="22" name="Shape 19"/>
          <p:cNvSpPr/>
          <p:nvPr/>
        </p:nvSpPr>
        <p:spPr>
          <a:xfrm>
            <a:off x="6035040" y="3767328"/>
            <a:ext cx="146304" cy="146304"/>
          </a:xfrm>
          <a:prstGeom prst="ellipse">
            <a:avLst/>
          </a:prstGeom>
          <a:solidFill>
            <a:srgbClr val="B8325F"/>
          </a:solidFill>
          <a:ln w="12700">
            <a:solidFill>
              <a:srgbClr val="B8325F"/>
            </a:solidFill>
            <a:prstDash val="solid"/>
          </a:ln>
        </p:spPr>
        <p:txBody>
          <a:bodyPr/>
          <a:p/>
        </p:txBody>
      </p:sp>
      <p:sp>
        <p:nvSpPr>
          <p:cNvPr id="23" name="Text 20"/>
          <p:cNvSpPr txBox="1"/>
          <p:nvPr/>
        </p:nvSpPr>
        <p:spPr>
          <a:xfrm>
            <a:off x="6291072" y="3703320"/>
            <a:ext cx="2468880" cy="274320"/>
          </a:xfrm>
          <a:prstGeom prst="rect">
            <a:avLst/>
          </a:prstGeom>
          <a:noFill/>
          <a:ln/>
        </p:spPr>
        <p:txBody>
          <a:bodyPr wrap="square" lIns="0" tIns="0" rIns="0" bIns="0" rtlCol="0" anchor="ctr"/>
          <a:lstStyle/>
          <a:p>
            <a:pPr indent="0" marL="0">
              <a:buNone/>
            </a:pPr>
            <a:r>
              <a:rPr lang="en-US" sz="1300" dirty="0">
                <a:solidFill>
                  <a:srgbClr val="1B2230"/>
                </a:solidFill>
                <a:latin typeface="Calibri" pitchFamily="34" charset="0"/>
                <a:ea typeface="Calibri" pitchFamily="34" charset="-122"/>
                <a:cs typeface="Calibri" pitchFamily="34" charset="-120"/>
              </a:rPr>
              <a:t>Observed by the customer</a:t>
            </a:r>
            <a:endParaRPr lang="en-US" sz="1300" dirty="0"/>
          </a:p>
        </p:txBody>
      </p:sp>
      <p:sp>
        <p:nvSpPr>
          <p:cNvPr id="24" name="Shape 21"/>
          <p:cNvSpPr/>
          <p:nvPr/>
        </p:nvSpPr>
        <p:spPr>
          <a:xfrm>
            <a:off x="457200" y="4178808"/>
            <a:ext cx="146304" cy="146304"/>
          </a:xfrm>
          <a:prstGeom prst="ellipse">
            <a:avLst/>
          </a:prstGeom>
          <a:solidFill>
            <a:srgbClr val="C75F1E"/>
          </a:solidFill>
          <a:ln w="12700">
            <a:solidFill>
              <a:srgbClr val="C75F1E"/>
            </a:solidFill>
            <a:prstDash val="solid"/>
          </a:ln>
        </p:spPr>
        <p:txBody>
          <a:bodyPr/>
          <a:p/>
        </p:txBody>
      </p:sp>
      <p:sp>
        <p:nvSpPr>
          <p:cNvPr id="25" name="Text 22"/>
          <p:cNvSpPr txBox="1"/>
          <p:nvPr/>
        </p:nvSpPr>
        <p:spPr>
          <a:xfrm>
            <a:off x="713232" y="4114800"/>
            <a:ext cx="2468880" cy="274320"/>
          </a:xfrm>
          <a:prstGeom prst="rect">
            <a:avLst/>
          </a:prstGeom>
          <a:noFill/>
          <a:ln/>
        </p:spPr>
        <p:txBody>
          <a:bodyPr wrap="square" lIns="0" tIns="0" rIns="0" bIns="0" rtlCol="0" anchor="ctr"/>
          <a:lstStyle/>
          <a:p>
            <a:pPr indent="0" marL="0">
              <a:buNone/>
            </a:pPr>
            <a:r>
              <a:rPr lang="en-US" sz="1300" dirty="0">
                <a:solidFill>
                  <a:srgbClr val="1B2230"/>
                </a:solidFill>
                <a:latin typeface="Calibri" pitchFamily="34" charset="0"/>
                <a:ea typeface="Calibri" pitchFamily="34" charset="-122"/>
                <a:cs typeface="Calibri" pitchFamily="34" charset="-120"/>
              </a:rPr>
              <a:t>Official price, with link and date</a:t>
            </a:r>
            <a:endParaRPr lang="en-US" sz="1300" dirty="0"/>
          </a:p>
        </p:txBody>
      </p:sp>
      <p:sp>
        <p:nvSpPr>
          <p:cNvPr id="26" name="Shape 23"/>
          <p:cNvSpPr/>
          <p:nvPr/>
        </p:nvSpPr>
        <p:spPr>
          <a:xfrm>
            <a:off x="3246120" y="4178808"/>
            <a:ext cx="146304" cy="146304"/>
          </a:xfrm>
          <a:prstGeom prst="ellipse">
            <a:avLst/>
          </a:prstGeom>
          <a:solidFill>
            <a:srgbClr val="6E52C2"/>
          </a:solidFill>
          <a:ln w="12700">
            <a:solidFill>
              <a:srgbClr val="6E52C2"/>
            </a:solidFill>
            <a:prstDash val="solid"/>
          </a:ln>
        </p:spPr>
        <p:txBody>
          <a:bodyPr/>
          <a:p/>
        </p:txBody>
      </p:sp>
      <p:sp>
        <p:nvSpPr>
          <p:cNvPr id="27" name="Text 24"/>
          <p:cNvSpPr txBox="1"/>
          <p:nvPr/>
        </p:nvSpPr>
        <p:spPr>
          <a:xfrm>
            <a:off x="3502152" y="4114800"/>
            <a:ext cx="2468880" cy="274320"/>
          </a:xfrm>
          <a:prstGeom prst="rect">
            <a:avLst/>
          </a:prstGeom>
          <a:noFill/>
          <a:ln/>
        </p:spPr>
        <p:txBody>
          <a:bodyPr wrap="square" lIns="0" tIns="0" rIns="0" bIns="0" rtlCol="0" anchor="ctr"/>
          <a:lstStyle/>
          <a:p>
            <a:pPr indent="0" marL="0">
              <a:buNone/>
            </a:pPr>
            <a:r>
              <a:rPr lang="en-US" sz="1300" dirty="0">
                <a:solidFill>
                  <a:srgbClr val="1B2230"/>
                </a:solidFill>
                <a:latin typeface="Calibri" pitchFamily="34" charset="0"/>
                <a:ea typeface="Calibri" pitchFamily="34" charset="-122"/>
                <a:cs typeface="Calibri" pitchFamily="34" charset="-120"/>
              </a:rPr>
              <a:t>Live FlipValue</a:t>
            </a:r>
            <a:endParaRPr lang="en-US" sz="1300" dirty="0"/>
          </a:p>
        </p:txBody>
      </p:sp>
      <p:sp>
        <p:nvSpPr>
          <p:cNvPr id="28" name="Shape 25"/>
          <p:cNvSpPr/>
          <p:nvPr/>
        </p:nvSpPr>
        <p:spPr>
          <a:xfrm>
            <a:off x="6035040" y="4178808"/>
            <a:ext cx="146304" cy="146304"/>
          </a:xfrm>
          <a:prstGeom prst="ellipse">
            <a:avLst/>
          </a:prstGeom>
          <a:solidFill>
            <a:srgbClr val="C0313C"/>
          </a:solidFill>
          <a:ln w="12700">
            <a:solidFill>
              <a:srgbClr val="C0313C"/>
            </a:solidFill>
            <a:prstDash val="solid"/>
          </a:ln>
        </p:spPr>
        <p:txBody>
          <a:bodyPr/>
          <a:p/>
        </p:txBody>
      </p:sp>
      <p:sp>
        <p:nvSpPr>
          <p:cNvPr id="29" name="Text 26"/>
          <p:cNvSpPr txBox="1"/>
          <p:nvPr/>
        </p:nvSpPr>
        <p:spPr>
          <a:xfrm>
            <a:off x="6291072" y="4114800"/>
            <a:ext cx="2468880" cy="274320"/>
          </a:xfrm>
          <a:prstGeom prst="rect">
            <a:avLst/>
          </a:prstGeom>
          <a:noFill/>
          <a:ln/>
        </p:spPr>
        <p:txBody>
          <a:bodyPr wrap="square" lIns="0" tIns="0" rIns="0" bIns="0" rtlCol="0" anchor="ctr"/>
          <a:lstStyle/>
          <a:p>
            <a:pPr indent="0" marL="0">
              <a:buNone/>
            </a:pPr>
            <a:r>
              <a:rPr lang="en-US" sz="1300" dirty="0">
                <a:solidFill>
                  <a:srgbClr val="1B2230"/>
                </a:solidFill>
                <a:latin typeface="Calibri" pitchFamily="34" charset="0"/>
                <a:ea typeface="Calibri" pitchFamily="34" charset="-122"/>
                <a:cs typeface="Calibri" pitchFamily="34" charset="-120"/>
              </a:rPr>
              <a:t>MOCK / DEMO, clearly marked</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ection pill"/>
          <p:cNvSpPr/>
          <p:nvPr/>
        </p:nvSpPr>
        <p:spPr>
          <a:xfrm>
            <a:off x="457200" y="320040"/>
            <a:ext cx="1883664" cy="292608"/>
          </a:xfrm>
          <a:prstGeom prst="roundRect">
            <a:avLst>
              <a:gd name="adj" fmla="val 50000"/>
            </a:avLst>
          </a:prstGeom>
          <a:solidFill>
            <a:srgbClr val="9A7418"/>
          </a:solidFill>
          <a:ln w="12700">
            <a:solidFill>
              <a:srgbClr val="9A7418"/>
            </a:solidFill>
            <a:prstDash val="solid"/>
          </a:ln>
        </p:spPr>
        <p:txBody>
          <a:bodyPr/>
          <a:p/>
        </p:txBody>
      </p:sp>
      <p:sp>
        <p:nvSpPr>
          <p:cNvPr id="4" name="Text 1"/>
          <p:cNvSpPr txBox="1"/>
          <p:nvPr/>
        </p:nvSpPr>
        <p:spPr>
          <a:xfrm>
            <a:off x="457200" y="320040"/>
            <a:ext cx="1883664" cy="292608"/>
          </a:xfrm>
          <a:prstGeom prst="rect">
            <a:avLst/>
          </a:prstGeom>
          <a:noFill/>
          <a:ln/>
        </p:spPr>
        <p:txBody>
          <a:bodyPr wrap="square" lIns="0" tIns="0" rIns="0" bIns="0" rtlCol="0" anchor="ctr"/>
          <a:lstStyle/>
          <a:p>
            <a:pPr algn="ctr" indent="0" marL="0">
              <a:buNone/>
            </a:pPr>
            <a:r>
              <a:rPr lang="en-US" sz="1100" spc="100" kern="0" dirty="0">
                <a:solidFill>
                  <a:srgbClr val="FFFFFF"/>
                </a:solidFill>
                <a:latin typeface="Calibri" pitchFamily="34" charset="0"/>
                <a:ea typeface="Calibri" pitchFamily="34" charset="-122"/>
                <a:cs typeface="Calibri" pitchFamily="34" charset="-120"/>
              </a:rPr>
              <a:t>PRICING &amp; DECISION</a:t>
            </a:r>
            <a:endParaRPr lang="en-US" sz="1100" dirty="0"/>
          </a:p>
        </p:txBody>
      </p:sp>
      <p:sp>
        <p:nvSpPr>
          <p:cNvPr id="5" name="Text 2"/>
          <p:cNvSpPr txBox="1"/>
          <p:nvPr/>
        </p:nvSpPr>
        <p:spPr>
          <a:xfrm>
            <a:off x="457200" y="685800"/>
            <a:ext cx="8229600" cy="640080"/>
          </a:xfrm>
          <a:prstGeom prst="rect">
            <a:avLst/>
          </a:prstGeom>
          <a:noFill/>
          <a:ln/>
        </p:spPr>
        <p:txBody>
          <a:bodyPr wrap="square" lIns="0" tIns="0" rIns="0" bIns="0" rtlCol="0" anchor="ctr"/>
          <a:lstStyle/>
          <a:p>
            <a:pPr indent="0" marL="0">
              <a:buNone/>
            </a:pPr>
            <a:r>
              <a:rPr lang="en-US" sz="3400" b="1" dirty="0">
                <a:solidFill>
                  <a:srgbClr val="1B2230"/>
                </a:solidFill>
                <a:latin typeface="Cambria" pitchFamily="34" charset="0"/>
                <a:ea typeface="Cambria" pitchFamily="34" charset="-122"/>
                <a:cs typeface="Cambria" pitchFamily="34" charset="-120"/>
              </a:rPr>
              <a:t>Repair, sell or </a:t>
            </a:r>
            <a:pPr indent="0" marL="0">
              <a:buNone/>
            </a:pPr>
            <a:r>
              <a:rPr lang="en-US" sz="3400" b="1" dirty="0">
                <a:solidFill>
                  <a:srgbClr val="9A7418"/>
                </a:solidFill>
                <a:latin typeface="Cambria" pitchFamily="34" charset="0"/>
                <a:ea typeface="Cambria" pitchFamily="34" charset="-122"/>
                <a:cs typeface="Cambria" pitchFamily="34" charset="-120"/>
              </a:rPr>
              <a:t>replace</a:t>
            </a:r>
            <a:endParaRPr lang="en-US" sz="3400" dirty="0"/>
          </a:p>
        </p:txBody>
      </p:sp>
      <p:sp>
        <p:nvSpPr>
          <p:cNvPr id="6" name="Shape 3"/>
          <p:cNvSpPr/>
          <p:nvPr/>
        </p:nvSpPr>
        <p:spPr>
          <a:xfrm>
            <a:off x="457200" y="1600200"/>
            <a:ext cx="2468880" cy="548640"/>
          </a:xfrm>
          <a:prstGeom prst="roundRect">
            <a:avLst>
              <a:gd name="adj" fmla="val 20000"/>
            </a:avLst>
          </a:prstGeom>
          <a:solidFill>
            <a:srgbClr val="FFFFFF"/>
          </a:solidFill>
          <a:ln w="19050">
            <a:solidFill>
              <a:srgbClr val="C0313C"/>
            </a:solidFill>
            <a:prstDash val="solid"/>
          </a:ln>
        </p:spPr>
        <p:txBody>
          <a:bodyPr/>
          <a:p/>
        </p:txBody>
      </p:sp>
      <p:sp>
        <p:nvSpPr>
          <p:cNvPr id="7" name="Text 4"/>
          <p:cNvSpPr txBox="1"/>
          <p:nvPr/>
        </p:nvSpPr>
        <p:spPr>
          <a:xfrm>
            <a:off x="457200" y="1600200"/>
            <a:ext cx="2468880" cy="548640"/>
          </a:xfrm>
          <a:prstGeom prst="rect">
            <a:avLst/>
          </a:prstGeom>
          <a:noFill/>
          <a:ln/>
        </p:spPr>
        <p:txBody>
          <a:bodyPr wrap="square" lIns="0" tIns="0" rIns="0" bIns="0" rtlCol="0" anchor="ctr"/>
          <a:lstStyle/>
          <a:p>
            <a:pPr algn="ctr" indent="0" marL="0">
              <a:buNone/>
            </a:pPr>
            <a:r>
              <a:rPr lang="en-US" sz="1400" b="1" dirty="0">
                <a:solidFill>
                  <a:srgbClr val="C0313C"/>
                </a:solidFill>
                <a:latin typeface="Calibri" pitchFamily="34" charset="0"/>
                <a:ea typeface="Calibri" pitchFamily="34" charset="-122"/>
                <a:cs typeface="Calibri" pitchFamily="34" charset="-120"/>
              </a:rPr>
              <a:t>Diagnosis</a:t>
            </a:r>
            <a:endParaRPr lang="en-US" sz="1400" dirty="0"/>
          </a:p>
        </p:txBody>
      </p:sp>
      <p:sp>
        <p:nvSpPr>
          <p:cNvPr id="8" name="Shape 5"/>
          <p:cNvSpPr/>
          <p:nvPr/>
        </p:nvSpPr>
        <p:spPr>
          <a:xfrm>
            <a:off x="2926080" y="1874520"/>
            <a:ext cx="914400" cy="452628"/>
          </a:xfrm>
          <a:prstGeom prst="line">
            <a:avLst/>
          </a:prstGeom>
          <a:noFill/>
          <a:ln w="19050">
            <a:solidFill>
              <a:srgbClr val="5B6577"/>
            </a:solidFill>
            <a:prstDash val="solid"/>
            <a:tailEnd type="triangle"/>
          </a:ln>
        </p:spPr>
        <p:txBody>
          <a:bodyPr/>
          <a:p/>
        </p:txBody>
      </p:sp>
      <p:sp>
        <p:nvSpPr>
          <p:cNvPr id="9" name="Shape 6"/>
          <p:cNvSpPr/>
          <p:nvPr/>
        </p:nvSpPr>
        <p:spPr>
          <a:xfrm>
            <a:off x="457200" y="2423160"/>
            <a:ext cx="2468880" cy="548640"/>
          </a:xfrm>
          <a:prstGeom prst="roundRect">
            <a:avLst>
              <a:gd name="adj" fmla="val 20000"/>
            </a:avLst>
          </a:prstGeom>
          <a:solidFill>
            <a:srgbClr val="FFFFFF"/>
          </a:solidFill>
          <a:ln w="19050">
            <a:solidFill>
              <a:srgbClr val="C75F1E"/>
            </a:solidFill>
            <a:prstDash val="solid"/>
          </a:ln>
        </p:spPr>
        <p:txBody>
          <a:bodyPr/>
          <a:p/>
        </p:txBody>
      </p:sp>
      <p:sp>
        <p:nvSpPr>
          <p:cNvPr id="10" name="Text 7"/>
          <p:cNvSpPr txBox="1"/>
          <p:nvPr/>
        </p:nvSpPr>
        <p:spPr>
          <a:xfrm>
            <a:off x="457200" y="2423160"/>
            <a:ext cx="2468880" cy="548640"/>
          </a:xfrm>
          <a:prstGeom prst="rect">
            <a:avLst/>
          </a:prstGeom>
          <a:noFill/>
          <a:ln/>
        </p:spPr>
        <p:txBody>
          <a:bodyPr wrap="square" lIns="0" tIns="0" rIns="0" bIns="0" rtlCol="0" anchor="ctr"/>
          <a:lstStyle/>
          <a:p>
            <a:pPr algn="ctr" indent="0" marL="0">
              <a:buNone/>
            </a:pPr>
            <a:r>
              <a:rPr lang="en-US" sz="1400" b="1" dirty="0">
                <a:solidFill>
                  <a:srgbClr val="C75F1E"/>
                </a:solidFill>
                <a:latin typeface="Calibri" pitchFamily="34" charset="0"/>
                <a:ea typeface="Calibri" pitchFamily="34" charset="-122"/>
                <a:cs typeface="Calibri" pitchFamily="34" charset="-120"/>
              </a:rPr>
              <a:t>Official repair price</a:t>
            </a:r>
            <a:endParaRPr lang="en-US" sz="1400" dirty="0"/>
          </a:p>
        </p:txBody>
      </p:sp>
      <p:sp>
        <p:nvSpPr>
          <p:cNvPr id="11" name="Shape 8"/>
          <p:cNvSpPr/>
          <p:nvPr/>
        </p:nvSpPr>
        <p:spPr>
          <a:xfrm>
            <a:off x="2926080" y="2697480"/>
            <a:ext cx="914400" cy="0"/>
          </a:xfrm>
          <a:prstGeom prst="line">
            <a:avLst/>
          </a:prstGeom>
          <a:noFill/>
          <a:ln w="19050">
            <a:solidFill>
              <a:srgbClr val="5B6577"/>
            </a:solidFill>
            <a:prstDash val="solid"/>
            <a:tailEnd type="triangle"/>
          </a:ln>
        </p:spPr>
        <p:txBody>
          <a:bodyPr/>
          <a:p/>
        </p:txBody>
      </p:sp>
      <p:sp>
        <p:nvSpPr>
          <p:cNvPr id="12" name="Shape 9"/>
          <p:cNvSpPr/>
          <p:nvPr/>
        </p:nvSpPr>
        <p:spPr>
          <a:xfrm>
            <a:off x="457200" y="3246120"/>
            <a:ext cx="2468880" cy="548640"/>
          </a:xfrm>
          <a:prstGeom prst="roundRect">
            <a:avLst>
              <a:gd name="adj" fmla="val 20000"/>
            </a:avLst>
          </a:prstGeom>
          <a:solidFill>
            <a:srgbClr val="FFFFFF"/>
          </a:solidFill>
          <a:ln w="19050">
            <a:solidFill>
              <a:srgbClr val="6E52C2"/>
            </a:solidFill>
            <a:prstDash val="solid"/>
          </a:ln>
        </p:spPr>
        <p:txBody>
          <a:bodyPr/>
          <a:p/>
        </p:txBody>
      </p:sp>
      <p:sp>
        <p:nvSpPr>
          <p:cNvPr id="13" name="Text 10"/>
          <p:cNvSpPr txBox="1"/>
          <p:nvPr/>
        </p:nvSpPr>
        <p:spPr>
          <a:xfrm>
            <a:off x="457200" y="3246120"/>
            <a:ext cx="2468880" cy="548640"/>
          </a:xfrm>
          <a:prstGeom prst="rect">
            <a:avLst/>
          </a:prstGeom>
          <a:noFill/>
          <a:ln/>
        </p:spPr>
        <p:txBody>
          <a:bodyPr wrap="square" lIns="0" tIns="0" rIns="0" bIns="0" rtlCol="0" anchor="ctr"/>
          <a:lstStyle/>
          <a:p>
            <a:pPr algn="ctr" indent="0" marL="0">
              <a:buNone/>
            </a:pPr>
            <a:r>
              <a:rPr lang="en-US" sz="1400" b="1" dirty="0">
                <a:solidFill>
                  <a:srgbClr val="6E52C2"/>
                </a:solidFill>
                <a:latin typeface="Calibri" pitchFamily="34" charset="0"/>
                <a:ea typeface="Calibri" pitchFamily="34" charset="-122"/>
                <a:cs typeface="Calibri" pitchFamily="34" charset="-120"/>
              </a:rPr>
              <a:t>FlipValue resale value</a:t>
            </a:r>
            <a:endParaRPr lang="en-US" sz="1400" dirty="0"/>
          </a:p>
        </p:txBody>
      </p:sp>
      <p:sp>
        <p:nvSpPr>
          <p:cNvPr id="14" name="Shape 11"/>
          <p:cNvSpPr/>
          <p:nvPr/>
        </p:nvSpPr>
        <p:spPr>
          <a:xfrm flipV="1">
            <a:off x="2926080" y="3067812"/>
            <a:ext cx="914400" cy="452628"/>
          </a:xfrm>
          <a:prstGeom prst="line">
            <a:avLst/>
          </a:prstGeom>
          <a:noFill/>
          <a:ln w="19050">
            <a:solidFill>
              <a:srgbClr val="5B6577"/>
            </a:solidFill>
            <a:prstDash val="solid"/>
            <a:tailEnd type="triangle"/>
          </a:ln>
        </p:spPr>
        <p:txBody>
          <a:bodyPr/>
          <a:p/>
        </p:txBody>
      </p:sp>
      <p:sp>
        <p:nvSpPr>
          <p:cNvPr id="15" name="Shape 12"/>
          <p:cNvSpPr/>
          <p:nvPr/>
        </p:nvSpPr>
        <p:spPr>
          <a:xfrm>
            <a:off x="3840480" y="1920240"/>
            <a:ext cx="1554480" cy="1554480"/>
          </a:xfrm>
          <a:prstGeom prst="ellipse">
            <a:avLst/>
          </a:prstGeom>
          <a:solidFill>
            <a:srgbClr val="1B2230"/>
          </a:solidFill>
          <a:ln w="12700">
            <a:solidFill>
              <a:srgbClr val="1B2230"/>
            </a:solidFill>
            <a:prstDash val="solid"/>
          </a:ln>
        </p:spPr>
        <p:txBody>
          <a:bodyPr/>
          <a:p/>
        </p:txBody>
      </p:sp>
      <p:sp>
        <p:nvSpPr>
          <p:cNvPr id="16" name="Text 13"/>
          <p:cNvSpPr txBox="1"/>
          <p:nvPr/>
        </p:nvSpPr>
        <p:spPr>
          <a:xfrm>
            <a:off x="3931920" y="1920240"/>
            <a:ext cx="1371600" cy="1554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Decision engine</a:t>
            </a:r>
            <a:endParaRPr lang="en-US" sz="1600" dirty="0"/>
          </a:p>
        </p:txBody>
      </p:sp>
      <p:sp>
        <p:nvSpPr>
          <p:cNvPr id="17" name="Shape 14"/>
          <p:cNvSpPr/>
          <p:nvPr/>
        </p:nvSpPr>
        <p:spPr>
          <a:xfrm flipV="1">
            <a:off x="5394960" y="1874520"/>
            <a:ext cx="822960" cy="452628"/>
          </a:xfrm>
          <a:prstGeom prst="line">
            <a:avLst/>
          </a:prstGeom>
          <a:noFill/>
          <a:ln w="19050">
            <a:solidFill>
              <a:srgbClr val="5B6577"/>
            </a:solidFill>
            <a:prstDash val="solid"/>
            <a:tailEnd type="triangle"/>
          </a:ln>
        </p:spPr>
        <p:txBody>
          <a:bodyPr/>
          <a:p/>
        </p:txBody>
      </p:sp>
      <p:sp>
        <p:nvSpPr>
          <p:cNvPr id="18" name="Shape 15"/>
          <p:cNvSpPr/>
          <p:nvPr/>
        </p:nvSpPr>
        <p:spPr>
          <a:xfrm>
            <a:off x="6217920" y="1600200"/>
            <a:ext cx="2468880" cy="548640"/>
          </a:xfrm>
          <a:prstGeom prst="roundRect">
            <a:avLst>
              <a:gd name="adj" fmla="val 20000"/>
            </a:avLst>
          </a:prstGeom>
          <a:solidFill>
            <a:srgbClr val="C75F1E"/>
          </a:solidFill>
          <a:ln w="12700">
            <a:solidFill>
              <a:srgbClr val="C75F1E"/>
            </a:solidFill>
            <a:prstDash val="solid"/>
          </a:ln>
        </p:spPr>
        <p:txBody>
          <a:bodyPr/>
          <a:p/>
        </p:txBody>
      </p:sp>
      <p:sp>
        <p:nvSpPr>
          <p:cNvPr id="19" name="Text 16"/>
          <p:cNvSpPr txBox="1"/>
          <p:nvPr/>
        </p:nvSpPr>
        <p:spPr>
          <a:xfrm>
            <a:off x="6217920" y="1600200"/>
            <a:ext cx="246888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Repair</a:t>
            </a:r>
            <a:endParaRPr lang="en-US" sz="1700" dirty="0"/>
          </a:p>
        </p:txBody>
      </p:sp>
      <p:sp>
        <p:nvSpPr>
          <p:cNvPr id="20" name="Shape 17"/>
          <p:cNvSpPr/>
          <p:nvPr/>
        </p:nvSpPr>
        <p:spPr>
          <a:xfrm>
            <a:off x="5394960" y="2697480"/>
            <a:ext cx="822960" cy="0"/>
          </a:xfrm>
          <a:prstGeom prst="line">
            <a:avLst/>
          </a:prstGeom>
          <a:noFill/>
          <a:ln w="19050">
            <a:solidFill>
              <a:srgbClr val="5B6577"/>
            </a:solidFill>
            <a:prstDash val="solid"/>
            <a:tailEnd type="triangle"/>
          </a:ln>
        </p:spPr>
        <p:txBody>
          <a:bodyPr/>
          <a:p/>
        </p:txBody>
      </p:sp>
      <p:sp>
        <p:nvSpPr>
          <p:cNvPr id="21" name="Shape 18"/>
          <p:cNvSpPr/>
          <p:nvPr/>
        </p:nvSpPr>
        <p:spPr>
          <a:xfrm>
            <a:off x="6217920" y="2423160"/>
            <a:ext cx="2468880" cy="548640"/>
          </a:xfrm>
          <a:prstGeom prst="roundRect">
            <a:avLst>
              <a:gd name="adj" fmla="val 20000"/>
            </a:avLst>
          </a:prstGeom>
          <a:solidFill>
            <a:srgbClr val="6E52C2"/>
          </a:solidFill>
          <a:ln w="12700">
            <a:solidFill>
              <a:srgbClr val="6E52C2"/>
            </a:solidFill>
            <a:prstDash val="solid"/>
          </a:ln>
        </p:spPr>
        <p:txBody>
          <a:bodyPr/>
          <a:p/>
        </p:txBody>
      </p:sp>
      <p:sp>
        <p:nvSpPr>
          <p:cNvPr id="22" name="Text 19"/>
          <p:cNvSpPr txBox="1"/>
          <p:nvPr/>
        </p:nvSpPr>
        <p:spPr>
          <a:xfrm>
            <a:off x="6217920" y="2423160"/>
            <a:ext cx="246888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Sell</a:t>
            </a:r>
            <a:endParaRPr lang="en-US" sz="1700" dirty="0"/>
          </a:p>
        </p:txBody>
      </p:sp>
      <p:sp>
        <p:nvSpPr>
          <p:cNvPr id="23" name="Shape 20"/>
          <p:cNvSpPr/>
          <p:nvPr/>
        </p:nvSpPr>
        <p:spPr>
          <a:xfrm>
            <a:off x="5394960" y="3067812"/>
            <a:ext cx="822960" cy="452628"/>
          </a:xfrm>
          <a:prstGeom prst="line">
            <a:avLst/>
          </a:prstGeom>
          <a:noFill/>
          <a:ln w="19050">
            <a:solidFill>
              <a:srgbClr val="5B6577"/>
            </a:solidFill>
            <a:prstDash val="solid"/>
            <a:tailEnd type="triangle"/>
          </a:ln>
        </p:spPr>
        <p:txBody>
          <a:bodyPr/>
          <a:p/>
        </p:txBody>
      </p:sp>
      <p:sp>
        <p:nvSpPr>
          <p:cNvPr id="24" name="Shape 21"/>
          <p:cNvSpPr/>
          <p:nvPr/>
        </p:nvSpPr>
        <p:spPr>
          <a:xfrm>
            <a:off x="6217920" y="3246120"/>
            <a:ext cx="2468880" cy="548640"/>
          </a:xfrm>
          <a:prstGeom prst="roundRect">
            <a:avLst>
              <a:gd name="adj" fmla="val 20000"/>
            </a:avLst>
          </a:prstGeom>
          <a:solidFill>
            <a:srgbClr val="17877B"/>
          </a:solidFill>
          <a:ln w="12700">
            <a:solidFill>
              <a:srgbClr val="17877B"/>
            </a:solidFill>
            <a:prstDash val="solid"/>
          </a:ln>
        </p:spPr>
        <p:txBody>
          <a:bodyPr/>
          <a:p/>
        </p:txBody>
      </p:sp>
      <p:sp>
        <p:nvSpPr>
          <p:cNvPr id="25" name="Text 22"/>
          <p:cNvSpPr txBox="1"/>
          <p:nvPr/>
        </p:nvSpPr>
        <p:spPr>
          <a:xfrm>
            <a:off x="6217920" y="3246120"/>
            <a:ext cx="246888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Replace</a:t>
            </a:r>
            <a:endParaRPr lang="en-US" sz="1700" dirty="0"/>
          </a:p>
        </p:txBody>
      </p:sp>
      <p:sp>
        <p:nvSpPr>
          <p:cNvPr id="26" name="Text 23"/>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400" dirty="0">
                <a:solidFill>
                  <a:srgbClr val="5B6577"/>
                </a:solidFill>
                <a:latin typeface="Calibri" pitchFamily="34" charset="0"/>
                <a:ea typeface="Calibri" pitchFamily="34" charset="-122"/>
                <a:cs typeface="Calibri" pitchFamily="34" charset="-120"/>
              </a:rPr>
              <a:t>The answer comes with a value range and the drivers that could change it. With no reliable source, the app shows no number instead of a guess.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0"/>
          <p:cNvSpPr/>
          <p:nvPr/>
        </p:nvSpPr>
        <p:spPr>
          <a:xfrm>
            <a:off x="457200" y="457200"/>
            <a:ext cx="3017520" cy="4114800"/>
          </a:xfrm>
          <a:prstGeom prst="roundRect">
            <a:avLst>
              <a:gd name="adj" fmla="val 6061"/>
            </a:avLst>
          </a:prstGeom>
          <a:solidFill>
            <a:srgbClr val="1B2230"/>
          </a:solidFill>
          <a:ln w="12700">
            <a:solidFill>
              <a:srgbClr val="1B2230"/>
            </a:solidFill>
            <a:prstDash val="solid"/>
          </a:ln>
        </p:spPr>
        <p:txBody>
          <a:bodyPr/>
          <a:p/>
        </p:txBody>
      </p:sp>
      <p:sp>
        <p:nvSpPr>
          <p:cNvPr id="4" name="Shape 1"/>
          <p:cNvSpPr/>
          <p:nvPr/>
        </p:nvSpPr>
        <p:spPr>
          <a:xfrm>
            <a:off x="822960" y="868680"/>
            <a:ext cx="822960" cy="822960"/>
          </a:xfrm>
          <a:prstGeom prst="ellipse">
            <a:avLst/>
          </a:prstGeom>
          <a:solidFill>
            <a:srgbClr val="E3C170"/>
          </a:solidFill>
          <a:ln w="12700">
            <a:solidFill>
              <a:srgbClr val="E3C170"/>
            </a:solidFill>
            <a:prstDash val="solid"/>
          </a:ln>
        </p:spPr>
        <p:txBody>
          <a:bodyPr/>
          <a:p/>
        </p:txBody>
      </p:sp>
      <p:pic>
        <p:nvPicPr>
          <p:cNvPr id="5" name="Image 0" descr="preencoded.png">    </p:cNvPr>
          <p:cNvPicPr>
            <a:picLocks noChangeAspect="1"/>
          </p:cNvPicPr>
          <p:nvPr/>
        </p:nvPicPr>
        <p:blipFill>
          <a:blip r:embed="rId1"/>
          <a:stretch>
            <a:fillRect/>
          </a:stretch>
        </p:blipFill>
        <p:spPr>
          <a:xfrm>
            <a:off x="1028700" y="1074420"/>
            <a:ext cx="411480" cy="411480"/>
          </a:xfrm>
          <a:prstGeom prst="rect">
            <a:avLst/>
          </a:prstGeom>
        </p:spPr>
      </p:pic>
      <p:sp>
        <p:nvSpPr>
          <p:cNvPr id="6" name="Text 2"/>
          <p:cNvSpPr txBox="1"/>
          <p:nvPr/>
        </p:nvSpPr>
        <p:spPr>
          <a:xfrm>
            <a:off x="822960" y="1965960"/>
            <a:ext cx="2377440" cy="9144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Safe by design</a:t>
            </a:r>
            <a:endParaRPr lang="en-US" sz="3000" dirty="0"/>
          </a:p>
        </p:txBody>
      </p:sp>
      <p:sp>
        <p:nvSpPr>
          <p:cNvPr id="7" name="Text 3"/>
          <p:cNvSpPr txBox="1"/>
          <p:nvPr/>
        </p:nvSpPr>
        <p:spPr>
          <a:xfrm>
            <a:off x="822960" y="3017520"/>
            <a:ext cx="2377440" cy="914400"/>
          </a:xfrm>
          <a:prstGeom prst="rect">
            <a:avLst/>
          </a:prstGeom>
          <a:noFill/>
          <a:ln/>
        </p:spPr>
        <p:txBody>
          <a:bodyPr wrap="square" lIns="0" tIns="0" rIns="0" bIns="0" rtlCol="0" anchor="t"/>
          <a:lstStyle/>
          <a:p>
            <a:pPr indent="0" marL="0">
              <a:buNone/>
            </a:pPr>
            <a:r>
              <a:rPr lang="en-US" sz="1500" dirty="0">
                <a:solidFill>
                  <a:srgbClr val="C9D0DC"/>
                </a:solidFill>
                <a:latin typeface="Calibri" pitchFamily="34" charset="0"/>
                <a:ea typeface="Calibri" pitchFamily="34" charset="-122"/>
                <a:cs typeface="Calibri" pitchFamily="34" charset="-120"/>
              </a:rPr>
              <a:t>Consent-first and read-only from the very first click.</a:t>
            </a:r>
            <a:endParaRPr lang="en-US" sz="1500" dirty="0"/>
          </a:p>
        </p:txBody>
      </p:sp>
      <p:sp>
        <p:nvSpPr>
          <p:cNvPr id="8" name="Shape 4"/>
          <p:cNvSpPr/>
          <p:nvPr/>
        </p:nvSpPr>
        <p:spPr>
          <a:xfrm>
            <a:off x="3931920" y="685800"/>
            <a:ext cx="457200" cy="457200"/>
          </a:xfrm>
          <a:prstGeom prst="ellipse">
            <a:avLst/>
          </a:prstGeom>
          <a:solidFill>
            <a:srgbClr val="6E52C2"/>
          </a:solidFill>
          <a:ln w="12700">
            <a:solidFill>
              <a:srgbClr val="6E52C2"/>
            </a:solidFill>
            <a:prstDash val="solid"/>
          </a:ln>
        </p:spPr>
        <p:txBody>
          <a:bodyPr/>
          <a:p/>
        </p:txBody>
      </p:sp>
      <p:pic>
        <p:nvPicPr>
          <p:cNvPr id="9" name="Image 1" descr="preencoded.png">    </p:cNvPr>
          <p:cNvPicPr>
            <a:picLocks noChangeAspect="1"/>
          </p:cNvPicPr>
          <p:nvPr/>
        </p:nvPicPr>
        <p:blipFill>
          <a:blip r:embed="rId2"/>
          <a:stretch>
            <a:fillRect/>
          </a:stretch>
        </p:blipFill>
        <p:spPr>
          <a:xfrm>
            <a:off x="4046220" y="800100"/>
            <a:ext cx="228600" cy="228600"/>
          </a:xfrm>
          <a:prstGeom prst="rect">
            <a:avLst/>
          </a:prstGeom>
        </p:spPr>
      </p:pic>
      <p:sp>
        <p:nvSpPr>
          <p:cNvPr id="10" name="Text 5"/>
          <p:cNvSpPr txBox="1"/>
          <p:nvPr/>
        </p:nvSpPr>
        <p:spPr>
          <a:xfrm>
            <a:off x="4498848" y="685800"/>
            <a:ext cx="1783080" cy="457200"/>
          </a:xfrm>
          <a:prstGeom prst="rect">
            <a:avLst/>
          </a:prstGeom>
          <a:noFill/>
          <a:ln/>
        </p:spPr>
        <p:txBody>
          <a:bodyPr wrap="square" lIns="0" tIns="0" rIns="0" bIns="0" rtlCol="0" anchor="ctr"/>
          <a:lstStyle/>
          <a:p>
            <a:pPr indent="0" marL="0">
              <a:buNone/>
            </a:pPr>
            <a:r>
              <a:rPr lang="en-US" sz="1500" b="1" dirty="0">
                <a:solidFill>
                  <a:srgbClr val="6E52C2"/>
                </a:solidFill>
                <a:latin typeface="Cambria" pitchFamily="34" charset="0"/>
                <a:ea typeface="Cambria" pitchFamily="34" charset="-122"/>
                <a:cs typeface="Cambria" pitchFamily="34" charset="-120"/>
              </a:rPr>
              <a:t>Consent first</a:t>
            </a:r>
            <a:endParaRPr lang="en-US" sz="1500" dirty="0"/>
          </a:p>
        </p:txBody>
      </p:sp>
      <p:sp>
        <p:nvSpPr>
          <p:cNvPr id="11" name="Text 6"/>
          <p:cNvSpPr txBox="1"/>
          <p:nvPr/>
        </p:nvSpPr>
        <p:spPr>
          <a:xfrm>
            <a:off x="4498848" y="1188720"/>
            <a:ext cx="1783080" cy="640080"/>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Nothing is scanned until the customer agrees.</a:t>
            </a:r>
            <a:endParaRPr lang="en-US" sz="1200" dirty="0"/>
          </a:p>
        </p:txBody>
      </p:sp>
      <p:sp>
        <p:nvSpPr>
          <p:cNvPr id="12" name="Shape 7"/>
          <p:cNvSpPr/>
          <p:nvPr/>
        </p:nvSpPr>
        <p:spPr>
          <a:xfrm>
            <a:off x="6400800" y="685800"/>
            <a:ext cx="457200" cy="457200"/>
          </a:xfrm>
          <a:prstGeom prst="ellipse">
            <a:avLst/>
          </a:prstGeom>
          <a:solidFill>
            <a:srgbClr val="17877B"/>
          </a:solidFill>
          <a:ln w="12700">
            <a:solidFill>
              <a:srgbClr val="17877B"/>
            </a:solidFill>
            <a:prstDash val="solid"/>
          </a:ln>
        </p:spPr>
        <p:txBody>
          <a:bodyPr/>
          <a:p/>
        </p:txBody>
      </p:sp>
      <p:pic>
        <p:nvPicPr>
          <p:cNvPr id="13" name="Image 2" descr="preencoded.png">    </p:cNvPr>
          <p:cNvPicPr>
            <a:picLocks noChangeAspect="1"/>
          </p:cNvPicPr>
          <p:nvPr/>
        </p:nvPicPr>
        <p:blipFill>
          <a:blip r:embed="rId3"/>
          <a:stretch>
            <a:fillRect/>
          </a:stretch>
        </p:blipFill>
        <p:spPr>
          <a:xfrm>
            <a:off x="6515100" y="800100"/>
            <a:ext cx="228600" cy="228600"/>
          </a:xfrm>
          <a:prstGeom prst="rect">
            <a:avLst/>
          </a:prstGeom>
        </p:spPr>
      </p:pic>
      <p:sp>
        <p:nvSpPr>
          <p:cNvPr id="14" name="Text 8"/>
          <p:cNvSpPr txBox="1"/>
          <p:nvPr/>
        </p:nvSpPr>
        <p:spPr>
          <a:xfrm>
            <a:off x="6967728" y="685800"/>
            <a:ext cx="1783080" cy="457200"/>
          </a:xfrm>
          <a:prstGeom prst="rect">
            <a:avLst/>
          </a:prstGeom>
          <a:noFill/>
          <a:ln/>
        </p:spPr>
        <p:txBody>
          <a:bodyPr wrap="square" lIns="0" tIns="0" rIns="0" bIns="0" rtlCol="0" anchor="ctr"/>
          <a:lstStyle/>
          <a:p>
            <a:pPr indent="0" marL="0">
              <a:buNone/>
            </a:pPr>
            <a:r>
              <a:rPr lang="en-US" sz="1500" b="1" dirty="0">
                <a:solidFill>
                  <a:srgbClr val="17877B"/>
                </a:solidFill>
                <a:latin typeface="Cambria" pitchFamily="34" charset="0"/>
                <a:ea typeface="Cambria" pitchFamily="34" charset="-122"/>
                <a:cs typeface="Cambria" pitchFamily="34" charset="-120"/>
              </a:rPr>
              <a:t>Read-only checks</a:t>
            </a:r>
            <a:endParaRPr lang="en-US" sz="1500" dirty="0"/>
          </a:p>
        </p:txBody>
      </p:sp>
      <p:sp>
        <p:nvSpPr>
          <p:cNvPr id="15" name="Text 9"/>
          <p:cNvSpPr txBox="1"/>
          <p:nvPr/>
        </p:nvSpPr>
        <p:spPr>
          <a:xfrm>
            <a:off x="6967728" y="1188720"/>
            <a:ext cx="1783080" cy="640080"/>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15 allowlisted ADB commands. No writes.</a:t>
            </a:r>
            <a:endParaRPr lang="en-US" sz="1200" dirty="0"/>
          </a:p>
        </p:txBody>
      </p:sp>
      <p:sp>
        <p:nvSpPr>
          <p:cNvPr id="16" name="Shape 10"/>
          <p:cNvSpPr/>
          <p:nvPr/>
        </p:nvSpPr>
        <p:spPr>
          <a:xfrm>
            <a:off x="3931920" y="1965960"/>
            <a:ext cx="457200" cy="457200"/>
          </a:xfrm>
          <a:prstGeom prst="ellipse">
            <a:avLst/>
          </a:prstGeom>
          <a:solidFill>
            <a:srgbClr val="C75F1E"/>
          </a:solidFill>
          <a:ln w="12700">
            <a:solidFill>
              <a:srgbClr val="C75F1E"/>
            </a:solidFill>
            <a:prstDash val="solid"/>
          </a:ln>
        </p:spPr>
        <p:txBody>
          <a:bodyPr/>
          <a:p/>
        </p:txBody>
      </p:sp>
      <p:pic>
        <p:nvPicPr>
          <p:cNvPr id="17" name="Image 3" descr="preencoded.png">    </p:cNvPr>
          <p:cNvPicPr>
            <a:picLocks noChangeAspect="1"/>
          </p:cNvPicPr>
          <p:nvPr/>
        </p:nvPicPr>
        <p:blipFill>
          <a:blip r:embed="rId4"/>
          <a:stretch>
            <a:fillRect/>
          </a:stretch>
        </p:blipFill>
        <p:spPr>
          <a:xfrm>
            <a:off x="4046220" y="2080260"/>
            <a:ext cx="228600" cy="228600"/>
          </a:xfrm>
          <a:prstGeom prst="rect">
            <a:avLst/>
          </a:prstGeom>
        </p:spPr>
      </p:pic>
      <p:sp>
        <p:nvSpPr>
          <p:cNvPr id="18" name="Text 11"/>
          <p:cNvSpPr txBox="1"/>
          <p:nvPr/>
        </p:nvSpPr>
        <p:spPr>
          <a:xfrm>
            <a:off x="4498848" y="1965960"/>
            <a:ext cx="1783080" cy="457200"/>
          </a:xfrm>
          <a:prstGeom prst="rect">
            <a:avLst/>
          </a:prstGeom>
          <a:noFill/>
          <a:ln/>
        </p:spPr>
        <p:txBody>
          <a:bodyPr wrap="square" lIns="0" tIns="0" rIns="0" bIns="0" rtlCol="0" anchor="ctr"/>
          <a:lstStyle/>
          <a:p>
            <a:pPr indent="0" marL="0">
              <a:buNone/>
            </a:pPr>
            <a:r>
              <a:rPr lang="en-US" sz="1500" b="1" dirty="0">
                <a:solidFill>
                  <a:srgbClr val="C75F1E"/>
                </a:solidFill>
                <a:latin typeface="Cambria" pitchFamily="34" charset="0"/>
                <a:ea typeface="Cambria" pitchFamily="34" charset="-122"/>
                <a:cs typeface="Cambria" pitchFamily="34" charset="-120"/>
              </a:rPr>
              <a:t>Local-only agent</a:t>
            </a:r>
            <a:endParaRPr lang="en-US" sz="1500" dirty="0"/>
          </a:p>
        </p:txBody>
      </p:sp>
      <p:sp>
        <p:nvSpPr>
          <p:cNvPr id="19" name="Text 12"/>
          <p:cNvSpPr txBox="1"/>
          <p:nvPr/>
        </p:nvSpPr>
        <p:spPr>
          <a:xfrm>
            <a:off x="4498848" y="2468880"/>
            <a:ext cx="1783080" cy="640080"/>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Bound to 127.0.0.1 with a pairing token.</a:t>
            </a:r>
            <a:endParaRPr lang="en-US" sz="1200" dirty="0"/>
          </a:p>
        </p:txBody>
      </p:sp>
      <p:sp>
        <p:nvSpPr>
          <p:cNvPr id="20" name="Shape 13"/>
          <p:cNvSpPr/>
          <p:nvPr/>
        </p:nvSpPr>
        <p:spPr>
          <a:xfrm>
            <a:off x="6400800" y="1965960"/>
            <a:ext cx="457200" cy="457200"/>
          </a:xfrm>
          <a:prstGeom prst="ellipse">
            <a:avLst/>
          </a:prstGeom>
          <a:solidFill>
            <a:srgbClr val="9A7418"/>
          </a:solidFill>
          <a:ln w="12700">
            <a:solidFill>
              <a:srgbClr val="9A7418"/>
            </a:solidFill>
            <a:prstDash val="solid"/>
          </a:ln>
        </p:spPr>
        <p:txBody>
          <a:bodyPr/>
          <a:p/>
        </p:txBody>
      </p:sp>
      <p:pic>
        <p:nvPicPr>
          <p:cNvPr id="21" name="Image 4" descr="preencoded.png">    </p:cNvPr>
          <p:cNvPicPr>
            <a:picLocks noChangeAspect="1"/>
          </p:cNvPicPr>
          <p:nvPr/>
        </p:nvPicPr>
        <p:blipFill>
          <a:blip r:embed="rId5"/>
          <a:stretch>
            <a:fillRect/>
          </a:stretch>
        </p:blipFill>
        <p:spPr>
          <a:xfrm>
            <a:off x="6515100" y="2080260"/>
            <a:ext cx="228600" cy="228600"/>
          </a:xfrm>
          <a:prstGeom prst="rect">
            <a:avLst/>
          </a:prstGeom>
        </p:spPr>
      </p:pic>
      <p:sp>
        <p:nvSpPr>
          <p:cNvPr id="22" name="Text 14"/>
          <p:cNvSpPr txBox="1"/>
          <p:nvPr/>
        </p:nvSpPr>
        <p:spPr>
          <a:xfrm>
            <a:off x="6967728" y="1965960"/>
            <a:ext cx="1783080" cy="457200"/>
          </a:xfrm>
          <a:prstGeom prst="rect">
            <a:avLst/>
          </a:prstGeom>
          <a:noFill/>
          <a:ln/>
        </p:spPr>
        <p:txBody>
          <a:bodyPr wrap="square" lIns="0" tIns="0" rIns="0" bIns="0" rtlCol="0" anchor="ctr"/>
          <a:lstStyle/>
          <a:p>
            <a:pPr indent="0" marL="0">
              <a:buNone/>
            </a:pPr>
            <a:r>
              <a:rPr lang="en-US" sz="1500" b="1" dirty="0">
                <a:solidFill>
                  <a:srgbClr val="9A7418"/>
                </a:solidFill>
                <a:latin typeface="Cambria" pitchFamily="34" charset="0"/>
                <a:ea typeface="Cambria" pitchFamily="34" charset="-122"/>
                <a:cs typeface="Cambria" pitchFamily="34" charset="-120"/>
              </a:rPr>
              <a:t>Hashed tokens</a:t>
            </a:r>
            <a:endParaRPr lang="en-US" sz="1500" dirty="0"/>
          </a:p>
        </p:txBody>
      </p:sp>
      <p:sp>
        <p:nvSpPr>
          <p:cNvPr id="23" name="Text 15"/>
          <p:cNvSpPr txBox="1"/>
          <p:nvPr/>
        </p:nvSpPr>
        <p:spPr>
          <a:xfrm>
            <a:off x="6967728" y="2468880"/>
            <a:ext cx="1783080" cy="640080"/>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Session access tokens are stored hashed.</a:t>
            </a:r>
            <a:endParaRPr lang="en-US" sz="1200" dirty="0"/>
          </a:p>
        </p:txBody>
      </p:sp>
      <p:sp>
        <p:nvSpPr>
          <p:cNvPr id="24" name="Shape 16"/>
          <p:cNvSpPr/>
          <p:nvPr/>
        </p:nvSpPr>
        <p:spPr>
          <a:xfrm>
            <a:off x="3931920" y="3246120"/>
            <a:ext cx="457200" cy="457200"/>
          </a:xfrm>
          <a:prstGeom prst="ellipse">
            <a:avLst/>
          </a:prstGeom>
          <a:solidFill>
            <a:srgbClr val="B8325F"/>
          </a:solidFill>
          <a:ln w="12700">
            <a:solidFill>
              <a:srgbClr val="B8325F"/>
            </a:solidFill>
            <a:prstDash val="solid"/>
          </a:ln>
        </p:spPr>
        <p:txBody>
          <a:bodyPr/>
          <a:p/>
        </p:txBody>
      </p:sp>
      <p:pic>
        <p:nvPicPr>
          <p:cNvPr id="25" name="Image 5" descr="preencoded.png">    </p:cNvPr>
          <p:cNvPicPr>
            <a:picLocks noChangeAspect="1"/>
          </p:cNvPicPr>
          <p:nvPr/>
        </p:nvPicPr>
        <p:blipFill>
          <a:blip r:embed="rId6"/>
          <a:stretch>
            <a:fillRect/>
          </a:stretch>
        </p:blipFill>
        <p:spPr>
          <a:xfrm>
            <a:off x="4046220" y="3360420"/>
            <a:ext cx="228600" cy="228600"/>
          </a:xfrm>
          <a:prstGeom prst="rect">
            <a:avLst/>
          </a:prstGeom>
        </p:spPr>
      </p:pic>
      <p:sp>
        <p:nvSpPr>
          <p:cNvPr id="26" name="Text 17"/>
          <p:cNvSpPr txBox="1"/>
          <p:nvPr/>
        </p:nvSpPr>
        <p:spPr>
          <a:xfrm>
            <a:off x="4498848" y="3246120"/>
            <a:ext cx="1783080" cy="457200"/>
          </a:xfrm>
          <a:prstGeom prst="rect">
            <a:avLst/>
          </a:prstGeom>
          <a:noFill/>
          <a:ln/>
        </p:spPr>
        <p:txBody>
          <a:bodyPr wrap="square" lIns="0" tIns="0" rIns="0" bIns="0" rtlCol="0" anchor="ctr"/>
          <a:lstStyle/>
          <a:p>
            <a:pPr indent="0" marL="0">
              <a:buNone/>
            </a:pPr>
            <a:r>
              <a:rPr lang="en-US" sz="1500" b="1" dirty="0">
                <a:solidFill>
                  <a:srgbClr val="B8325F"/>
                </a:solidFill>
                <a:latin typeface="Cambria" pitchFamily="34" charset="0"/>
                <a:ea typeface="Cambria" pitchFamily="34" charset="-122"/>
                <a:cs typeface="Cambria" pitchFamily="34" charset="-120"/>
              </a:rPr>
              <a:t>Redacted text</a:t>
            </a:r>
            <a:endParaRPr lang="en-US" sz="1500" dirty="0"/>
          </a:p>
        </p:txBody>
      </p:sp>
      <p:sp>
        <p:nvSpPr>
          <p:cNvPr id="27" name="Text 18"/>
          <p:cNvSpPr txBox="1"/>
          <p:nvPr/>
        </p:nvSpPr>
        <p:spPr>
          <a:xfrm>
            <a:off x="4498848" y="3749040"/>
            <a:ext cx="1783080" cy="640080"/>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Emails, IPs, serials and paths are stripped.</a:t>
            </a:r>
            <a:endParaRPr lang="en-US" sz="1200" dirty="0"/>
          </a:p>
        </p:txBody>
      </p:sp>
      <p:sp>
        <p:nvSpPr>
          <p:cNvPr id="28" name="Shape 19"/>
          <p:cNvSpPr/>
          <p:nvPr/>
        </p:nvSpPr>
        <p:spPr>
          <a:xfrm>
            <a:off x="6400800" y="3246120"/>
            <a:ext cx="457200" cy="457200"/>
          </a:xfrm>
          <a:prstGeom prst="ellipse">
            <a:avLst/>
          </a:prstGeom>
          <a:solidFill>
            <a:srgbClr val="C0313C"/>
          </a:solidFill>
          <a:ln w="12700">
            <a:solidFill>
              <a:srgbClr val="C0313C"/>
            </a:solidFill>
            <a:prstDash val="solid"/>
          </a:ln>
        </p:spPr>
        <p:txBody>
          <a:bodyPr/>
          <a:p/>
        </p:txBody>
      </p:sp>
      <p:pic>
        <p:nvPicPr>
          <p:cNvPr id="29" name="Image 6" descr="preencoded.png">    </p:cNvPr>
          <p:cNvPicPr>
            <a:picLocks noChangeAspect="1"/>
          </p:cNvPicPr>
          <p:nvPr/>
        </p:nvPicPr>
        <p:blipFill>
          <a:blip r:embed="rId7"/>
          <a:stretch>
            <a:fillRect/>
          </a:stretch>
        </p:blipFill>
        <p:spPr>
          <a:xfrm>
            <a:off x="6515100" y="3360420"/>
            <a:ext cx="228600" cy="228600"/>
          </a:xfrm>
          <a:prstGeom prst="rect">
            <a:avLst/>
          </a:prstGeom>
        </p:spPr>
      </p:pic>
      <p:sp>
        <p:nvSpPr>
          <p:cNvPr id="30" name="Text 20"/>
          <p:cNvSpPr txBox="1"/>
          <p:nvPr/>
        </p:nvSpPr>
        <p:spPr>
          <a:xfrm>
            <a:off x="6967728" y="3246120"/>
            <a:ext cx="1783080" cy="457200"/>
          </a:xfrm>
          <a:prstGeom prst="rect">
            <a:avLst/>
          </a:prstGeom>
          <a:noFill/>
          <a:ln/>
        </p:spPr>
        <p:txBody>
          <a:bodyPr wrap="square" lIns="0" tIns="0" rIns="0" bIns="0" rtlCol="0" anchor="ctr"/>
          <a:lstStyle/>
          <a:p>
            <a:pPr indent="0" marL="0">
              <a:buNone/>
            </a:pPr>
            <a:r>
              <a:rPr lang="en-US" sz="1500" b="1" dirty="0">
                <a:solidFill>
                  <a:srgbClr val="C0313C"/>
                </a:solidFill>
                <a:latin typeface="Cambria" pitchFamily="34" charset="0"/>
                <a:ea typeface="Cambria" pitchFamily="34" charset="-122"/>
                <a:cs typeface="Cambria" pitchFamily="34" charset="-120"/>
              </a:rPr>
              <a:t>Locked settings</a:t>
            </a:r>
            <a:endParaRPr lang="en-US" sz="1500" dirty="0"/>
          </a:p>
        </p:txBody>
      </p:sp>
      <p:sp>
        <p:nvSpPr>
          <p:cNvPr id="31" name="Text 21"/>
          <p:cNvSpPr txBox="1"/>
          <p:nvPr/>
        </p:nvSpPr>
        <p:spPr>
          <a:xfrm>
            <a:off x="6967728" y="3749040"/>
            <a:ext cx="1783080" cy="640080"/>
          </a:xfrm>
          <a:prstGeom prst="rect">
            <a:avLst/>
          </a:prstGeom>
          <a:noFill/>
          <a:ln/>
        </p:spPr>
        <p:txBody>
          <a:bodyPr wrap="square" lIns="0" tIns="0" rIns="0" bIns="0" rtlCol="0" anchor="t"/>
          <a:lstStyle/>
          <a:p>
            <a:pPr indent="0" marL="0">
              <a:buNone/>
            </a:pPr>
            <a:r>
              <a:rPr lang="en-US" sz="1200" dirty="0">
                <a:solidFill>
                  <a:srgbClr val="1B2230"/>
                </a:solidFill>
                <a:latin typeface="Calibri" pitchFamily="34" charset="0"/>
                <a:ea typeface="Calibri" pitchFamily="34" charset="-122"/>
                <a:cs typeface="Calibri" pitchFamily="34" charset="-120"/>
              </a:rPr>
              <a:t>Admin token and strict CSP in production.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ection pill"/>
          <p:cNvSpPr/>
          <p:nvPr/>
        </p:nvSpPr>
        <p:spPr>
          <a:xfrm>
            <a:off x="457200" y="320040"/>
            <a:ext cx="1449324" cy="292608"/>
          </a:xfrm>
          <a:prstGeom prst="roundRect">
            <a:avLst>
              <a:gd name="adj" fmla="val 50000"/>
            </a:avLst>
          </a:prstGeom>
          <a:solidFill>
            <a:srgbClr val="9A7418"/>
          </a:solidFill>
          <a:ln w="12700">
            <a:solidFill>
              <a:srgbClr val="9A7418"/>
            </a:solidFill>
            <a:prstDash val="solid"/>
          </a:ln>
        </p:spPr>
        <p:txBody>
          <a:bodyPr/>
          <a:p/>
        </p:txBody>
      </p:sp>
      <p:sp>
        <p:nvSpPr>
          <p:cNvPr id="4" name="Text 1"/>
          <p:cNvSpPr txBox="1"/>
          <p:nvPr/>
        </p:nvSpPr>
        <p:spPr>
          <a:xfrm>
            <a:off x="457200" y="320040"/>
            <a:ext cx="1449324" cy="292608"/>
          </a:xfrm>
          <a:prstGeom prst="rect">
            <a:avLst/>
          </a:prstGeom>
          <a:noFill/>
          <a:ln/>
        </p:spPr>
        <p:txBody>
          <a:bodyPr wrap="square" lIns="0" tIns="0" rIns="0" bIns="0" rtlCol="0" anchor="ctr"/>
          <a:lstStyle/>
          <a:p>
            <a:pPr algn="ctr" indent="0" marL="0">
              <a:buNone/>
            </a:pPr>
            <a:r>
              <a:rPr lang="en-US" sz="1100" spc="100" kern="0" dirty="0">
                <a:solidFill>
                  <a:srgbClr val="FFFFFF"/>
                </a:solidFill>
                <a:latin typeface="Calibri" pitchFamily="34" charset="0"/>
                <a:ea typeface="Calibri" pitchFamily="34" charset="-122"/>
                <a:cs typeface="Calibri" pitchFamily="34" charset="-120"/>
              </a:rPr>
              <a:t>STATUS &amp; NEXT</a:t>
            </a:r>
            <a:endParaRPr lang="en-US" sz="1100" dirty="0"/>
          </a:p>
        </p:txBody>
      </p:sp>
      <p:sp>
        <p:nvSpPr>
          <p:cNvPr id="5" name="Text 2"/>
          <p:cNvSpPr txBox="1"/>
          <p:nvPr/>
        </p:nvSpPr>
        <p:spPr>
          <a:xfrm>
            <a:off x="457200" y="685800"/>
            <a:ext cx="8229600" cy="640080"/>
          </a:xfrm>
          <a:prstGeom prst="rect">
            <a:avLst/>
          </a:prstGeom>
          <a:noFill/>
          <a:ln/>
        </p:spPr>
        <p:txBody>
          <a:bodyPr wrap="square" lIns="0" tIns="0" rIns="0" bIns="0" rtlCol="0" anchor="ctr"/>
          <a:lstStyle/>
          <a:p>
            <a:pPr indent="0" marL="0">
              <a:buNone/>
            </a:pPr>
            <a:r>
              <a:rPr lang="en-US" sz="3400" b="1" dirty="0">
                <a:solidFill>
                  <a:srgbClr val="1B2230"/>
                </a:solidFill>
                <a:latin typeface="Cambria" pitchFamily="34" charset="0"/>
                <a:ea typeface="Cambria" pitchFamily="34" charset="-122"/>
                <a:cs typeface="Cambria" pitchFamily="34" charset="-120"/>
              </a:rPr>
              <a:t>Where we are, and </a:t>
            </a:r>
            <a:pPr indent="0" marL="0">
              <a:buNone/>
            </a:pPr>
            <a:r>
              <a:rPr lang="en-US" sz="3400" b="1" dirty="0">
                <a:solidFill>
                  <a:srgbClr val="9A7418"/>
                </a:solidFill>
                <a:latin typeface="Cambria" pitchFamily="34" charset="0"/>
                <a:ea typeface="Cambria" pitchFamily="34" charset="-122"/>
                <a:cs typeface="Cambria" pitchFamily="34" charset="-120"/>
              </a:rPr>
              <a:t>what is next</a:t>
            </a:r>
            <a:endParaRPr lang="en-US" sz="3400" dirty="0"/>
          </a:p>
        </p:txBody>
      </p:sp>
      <p:sp>
        <p:nvSpPr>
          <p:cNvPr id="6" name="Text 3"/>
          <p:cNvSpPr txBox="1"/>
          <p:nvPr/>
        </p:nvSpPr>
        <p:spPr>
          <a:xfrm>
            <a:off x="457200" y="1600200"/>
            <a:ext cx="3657600" cy="228600"/>
          </a:xfrm>
          <a:prstGeom prst="rect">
            <a:avLst/>
          </a:prstGeom>
          <a:noFill/>
          <a:ln/>
        </p:spPr>
        <p:txBody>
          <a:bodyPr wrap="square" lIns="0" tIns="0" rIns="0" bIns="0" rtlCol="0" anchor="ctr"/>
          <a:lstStyle/>
          <a:p>
            <a:pPr indent="0" marL="0">
              <a:buNone/>
            </a:pPr>
            <a:r>
              <a:rPr lang="en-US" sz="1100" b="1" spc="200" kern="0" dirty="0">
                <a:solidFill>
                  <a:srgbClr val="17877B"/>
                </a:solidFill>
                <a:latin typeface="Calibri" pitchFamily="34" charset="0"/>
                <a:ea typeface="Calibri" pitchFamily="34" charset="-122"/>
                <a:cs typeface="Calibri" pitchFamily="34" charset="-120"/>
              </a:rPr>
              <a:t>WORKING TODAY</a:t>
            </a:r>
            <a:endParaRPr lang="en-US" sz="1100" dirty="0"/>
          </a:p>
        </p:txBody>
      </p:sp>
      <p:sp>
        <p:nvSpPr>
          <p:cNvPr id="7" name="Text 4"/>
          <p:cNvSpPr txBox="1"/>
          <p:nvPr/>
        </p:nvSpPr>
        <p:spPr>
          <a:xfrm>
            <a:off x="4553712" y="1600200"/>
            <a:ext cx="3657600" cy="228600"/>
          </a:xfrm>
          <a:prstGeom prst="rect">
            <a:avLst/>
          </a:prstGeom>
          <a:noFill/>
          <a:ln/>
        </p:spPr>
        <p:txBody>
          <a:bodyPr wrap="square" lIns="0" tIns="0" rIns="0" bIns="0" rtlCol="0" anchor="ctr"/>
          <a:lstStyle/>
          <a:p>
            <a:pPr indent="0" marL="0">
              <a:buNone/>
            </a:pPr>
            <a:r>
              <a:rPr lang="en-US" sz="1100" b="1" spc="200" kern="0" dirty="0">
                <a:solidFill>
                  <a:srgbClr val="9A7418"/>
                </a:solidFill>
                <a:latin typeface="Calibri" pitchFamily="34" charset="0"/>
                <a:ea typeface="Calibri" pitchFamily="34" charset="-122"/>
                <a:cs typeface="Calibri" pitchFamily="34" charset="-120"/>
              </a:rPr>
              <a:t>NEXT</a:t>
            </a:r>
            <a:endParaRPr lang="en-US" sz="1100" dirty="0"/>
          </a:p>
        </p:txBody>
      </p:sp>
      <p:sp>
        <p:nvSpPr>
          <p:cNvPr id="8" name="Shape 5"/>
          <p:cNvSpPr/>
          <p:nvPr/>
        </p:nvSpPr>
        <p:spPr>
          <a:xfrm>
            <a:off x="960120" y="2286000"/>
            <a:ext cx="3072384" cy="0"/>
          </a:xfrm>
          <a:prstGeom prst="line">
            <a:avLst/>
          </a:prstGeom>
          <a:noFill/>
          <a:ln w="38100">
            <a:solidFill>
              <a:srgbClr val="17877B"/>
            </a:solidFill>
            <a:prstDash val="solid"/>
          </a:ln>
        </p:spPr>
        <p:txBody>
          <a:bodyPr/>
          <a:p/>
        </p:txBody>
      </p:sp>
      <p:sp>
        <p:nvSpPr>
          <p:cNvPr id="9" name="Shape 6"/>
          <p:cNvSpPr/>
          <p:nvPr/>
        </p:nvSpPr>
        <p:spPr>
          <a:xfrm>
            <a:off x="4032504" y="2286000"/>
            <a:ext cx="4096512" cy="0"/>
          </a:xfrm>
          <a:prstGeom prst="line">
            <a:avLst/>
          </a:prstGeom>
          <a:noFill/>
          <a:ln w="38100">
            <a:solidFill>
              <a:srgbClr val="DDD8CC"/>
            </a:solidFill>
            <a:prstDash val="solid"/>
          </a:ln>
        </p:spPr>
        <p:txBody>
          <a:bodyPr/>
          <a:p/>
        </p:txBody>
      </p:sp>
      <p:sp>
        <p:nvSpPr>
          <p:cNvPr id="10" name="Shape 7"/>
          <p:cNvSpPr/>
          <p:nvPr/>
        </p:nvSpPr>
        <p:spPr>
          <a:xfrm>
            <a:off x="768096" y="2093976"/>
            <a:ext cx="384048" cy="384048"/>
          </a:xfrm>
          <a:prstGeom prst="ellipse">
            <a:avLst/>
          </a:prstGeom>
          <a:solidFill>
            <a:srgbClr val="17877B"/>
          </a:solidFill>
          <a:ln w="12700">
            <a:solidFill>
              <a:srgbClr val="17877B"/>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864108" y="2189988"/>
            <a:ext cx="192024" cy="192024"/>
          </a:xfrm>
          <a:prstGeom prst="rect">
            <a:avLst/>
          </a:prstGeom>
        </p:spPr>
      </p:pic>
      <p:sp>
        <p:nvSpPr>
          <p:cNvPr id="12" name="Text 8"/>
          <p:cNvSpPr txBox="1"/>
          <p:nvPr/>
        </p:nvSpPr>
        <p:spPr>
          <a:xfrm>
            <a:off x="484632" y="2651760"/>
            <a:ext cx="950976" cy="731520"/>
          </a:xfrm>
          <a:prstGeom prst="rect">
            <a:avLst/>
          </a:prstGeom>
          <a:noFill/>
          <a:ln/>
        </p:spPr>
        <p:txBody>
          <a:bodyPr wrap="square" lIns="0" tIns="0" rIns="0" bIns="0" rtlCol="0" anchor="t"/>
          <a:lstStyle/>
          <a:p>
            <a:pPr algn="ctr" indent="0" marL="0">
              <a:buNone/>
            </a:pPr>
            <a:r>
              <a:rPr lang="en-US" sz="1200" b="1" dirty="0">
                <a:solidFill>
                  <a:srgbClr val="1B2230"/>
                </a:solidFill>
                <a:latin typeface="Calibri" pitchFamily="34" charset="0"/>
                <a:ea typeface="Calibri" pitchFamily="34" charset="-122"/>
                <a:cs typeface="Calibri" pitchFamily="34" charset="-120"/>
              </a:rPr>
              <a:t>v0.4.0 working MVP</a:t>
            </a:r>
            <a:endParaRPr lang="en-US" sz="1200" dirty="0"/>
          </a:p>
        </p:txBody>
      </p:sp>
      <p:sp>
        <p:nvSpPr>
          <p:cNvPr id="13" name="Shape 9"/>
          <p:cNvSpPr/>
          <p:nvPr/>
        </p:nvSpPr>
        <p:spPr>
          <a:xfrm>
            <a:off x="1792224" y="2093976"/>
            <a:ext cx="384048" cy="384048"/>
          </a:xfrm>
          <a:prstGeom prst="ellipse">
            <a:avLst/>
          </a:prstGeom>
          <a:solidFill>
            <a:srgbClr val="17877B"/>
          </a:solidFill>
          <a:ln w="12700">
            <a:solidFill>
              <a:srgbClr val="17877B"/>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1888236" y="2189988"/>
            <a:ext cx="192024" cy="192024"/>
          </a:xfrm>
          <a:prstGeom prst="rect">
            <a:avLst/>
          </a:prstGeom>
        </p:spPr>
      </p:pic>
      <p:sp>
        <p:nvSpPr>
          <p:cNvPr id="15" name="Text 10"/>
          <p:cNvSpPr txBox="1"/>
          <p:nvPr/>
        </p:nvSpPr>
        <p:spPr>
          <a:xfrm>
            <a:off x="1508760" y="2651760"/>
            <a:ext cx="950976" cy="731520"/>
          </a:xfrm>
          <a:prstGeom prst="rect">
            <a:avLst/>
          </a:prstGeom>
          <a:noFill/>
          <a:ln/>
        </p:spPr>
        <p:txBody>
          <a:bodyPr wrap="square" lIns="0" tIns="0" rIns="0" bIns="0" rtlCol="0" anchor="t"/>
          <a:lstStyle/>
          <a:p>
            <a:pPr algn="ctr" indent="0" marL="0">
              <a:buNone/>
            </a:pPr>
            <a:r>
              <a:rPr lang="en-US" sz="1200" b="1" dirty="0">
                <a:solidFill>
                  <a:srgbClr val="1B2230"/>
                </a:solidFill>
                <a:latin typeface="Calibri" pitchFamily="34" charset="0"/>
                <a:ea typeface="Calibri" pitchFamily="34" charset="-122"/>
                <a:cs typeface="Calibri" pitchFamily="34" charset="-120"/>
              </a:rPr>
              <a:t>250 automated tests</a:t>
            </a:r>
            <a:endParaRPr lang="en-US" sz="1200" dirty="0"/>
          </a:p>
        </p:txBody>
      </p:sp>
      <p:sp>
        <p:nvSpPr>
          <p:cNvPr id="16" name="Shape 11"/>
          <p:cNvSpPr/>
          <p:nvPr/>
        </p:nvSpPr>
        <p:spPr>
          <a:xfrm>
            <a:off x="2816352" y="2093976"/>
            <a:ext cx="384048" cy="384048"/>
          </a:xfrm>
          <a:prstGeom prst="ellipse">
            <a:avLst/>
          </a:prstGeom>
          <a:solidFill>
            <a:srgbClr val="17877B"/>
          </a:solidFill>
          <a:ln w="12700">
            <a:solidFill>
              <a:srgbClr val="17877B"/>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2912364" y="2189988"/>
            <a:ext cx="192024" cy="192024"/>
          </a:xfrm>
          <a:prstGeom prst="rect">
            <a:avLst/>
          </a:prstGeom>
        </p:spPr>
      </p:pic>
      <p:sp>
        <p:nvSpPr>
          <p:cNvPr id="18" name="Text 12"/>
          <p:cNvSpPr txBox="1"/>
          <p:nvPr/>
        </p:nvSpPr>
        <p:spPr>
          <a:xfrm>
            <a:off x="2532888" y="2651760"/>
            <a:ext cx="950976" cy="731520"/>
          </a:xfrm>
          <a:prstGeom prst="rect">
            <a:avLst/>
          </a:prstGeom>
          <a:noFill/>
          <a:ln/>
        </p:spPr>
        <p:txBody>
          <a:bodyPr wrap="square" lIns="0" tIns="0" rIns="0" bIns="0" rtlCol="0" anchor="t"/>
          <a:lstStyle/>
          <a:p>
            <a:pPr algn="ctr" indent="0" marL="0">
              <a:buNone/>
            </a:pPr>
            <a:r>
              <a:rPr lang="en-US" sz="1200" b="1" dirty="0">
                <a:solidFill>
                  <a:srgbClr val="1B2230"/>
                </a:solidFill>
                <a:latin typeface="Calibri" pitchFamily="34" charset="0"/>
                <a:ea typeface="Calibri" pitchFamily="34" charset="-122"/>
                <a:cs typeface="Calibri" pitchFamily="34" charset="-120"/>
              </a:rPr>
              <a:t>Live on Cloud Run</a:t>
            </a:r>
            <a:endParaRPr lang="en-US" sz="1200" dirty="0"/>
          </a:p>
        </p:txBody>
      </p:sp>
      <p:sp>
        <p:nvSpPr>
          <p:cNvPr id="19" name="Shape 13"/>
          <p:cNvSpPr/>
          <p:nvPr/>
        </p:nvSpPr>
        <p:spPr>
          <a:xfrm>
            <a:off x="3840480" y="2093976"/>
            <a:ext cx="384048" cy="384048"/>
          </a:xfrm>
          <a:prstGeom prst="ellipse">
            <a:avLst/>
          </a:prstGeom>
          <a:solidFill>
            <a:srgbClr val="17877B"/>
          </a:solidFill>
          <a:ln w="12700">
            <a:solidFill>
              <a:srgbClr val="17877B"/>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3936492" y="2189988"/>
            <a:ext cx="192024" cy="192024"/>
          </a:xfrm>
          <a:prstGeom prst="rect">
            <a:avLst/>
          </a:prstGeom>
        </p:spPr>
      </p:pic>
      <p:sp>
        <p:nvSpPr>
          <p:cNvPr id="21" name="Text 14"/>
          <p:cNvSpPr txBox="1"/>
          <p:nvPr/>
        </p:nvSpPr>
        <p:spPr>
          <a:xfrm>
            <a:off x="3557016" y="2651760"/>
            <a:ext cx="950976" cy="731520"/>
          </a:xfrm>
          <a:prstGeom prst="rect">
            <a:avLst/>
          </a:prstGeom>
          <a:noFill/>
          <a:ln/>
        </p:spPr>
        <p:txBody>
          <a:bodyPr wrap="square" lIns="0" tIns="0" rIns="0" bIns="0" rtlCol="0" anchor="t"/>
          <a:lstStyle/>
          <a:p>
            <a:pPr algn="ctr" indent="0" marL="0">
              <a:buNone/>
            </a:pPr>
            <a:r>
              <a:rPr lang="en-US" sz="1200" b="1" dirty="0">
                <a:solidFill>
                  <a:srgbClr val="1B2230"/>
                </a:solidFill>
                <a:latin typeface="Calibri" pitchFamily="34" charset="0"/>
                <a:ea typeface="Calibri" pitchFamily="34" charset="-122"/>
                <a:cs typeface="Calibri" pitchFamily="34" charset="-120"/>
              </a:rPr>
              <a:t>Samsung India prices</a:t>
            </a:r>
            <a:endParaRPr lang="en-US" sz="1200" dirty="0"/>
          </a:p>
        </p:txBody>
      </p:sp>
      <p:sp>
        <p:nvSpPr>
          <p:cNvPr id="22" name="Shape 15"/>
          <p:cNvSpPr/>
          <p:nvPr/>
        </p:nvSpPr>
        <p:spPr>
          <a:xfrm>
            <a:off x="4864608" y="2093976"/>
            <a:ext cx="384048" cy="384048"/>
          </a:xfrm>
          <a:prstGeom prst="ellipse">
            <a:avLst/>
          </a:prstGeom>
          <a:solidFill>
            <a:srgbClr val="FFFFFF"/>
          </a:solidFill>
          <a:ln w="28575">
            <a:solidFill>
              <a:srgbClr val="9A7418"/>
            </a:solidFill>
            <a:prstDash val="solid"/>
          </a:ln>
        </p:spPr>
        <p:txBody>
          <a:bodyPr/>
          <a:p/>
        </p:txBody>
      </p:sp>
      <p:sp>
        <p:nvSpPr>
          <p:cNvPr id="23" name="Text 16"/>
          <p:cNvSpPr txBox="1"/>
          <p:nvPr/>
        </p:nvSpPr>
        <p:spPr>
          <a:xfrm>
            <a:off x="4581144" y="2651760"/>
            <a:ext cx="950976" cy="731520"/>
          </a:xfrm>
          <a:prstGeom prst="rect">
            <a:avLst/>
          </a:prstGeom>
          <a:noFill/>
          <a:ln/>
        </p:spPr>
        <p:txBody>
          <a:bodyPr wrap="square" lIns="0" tIns="0" rIns="0" bIns="0" rtlCol="0" anchor="t"/>
          <a:lstStyle/>
          <a:p>
            <a:pPr algn="ctr" indent="0" marL="0">
              <a:buNone/>
            </a:pPr>
            <a:r>
              <a:rPr lang="en-US" sz="1200" dirty="0">
                <a:solidFill>
                  <a:srgbClr val="1B2230"/>
                </a:solidFill>
                <a:latin typeface="Calibri" pitchFamily="34" charset="0"/>
                <a:ea typeface="Calibri" pitchFamily="34" charset="-122"/>
                <a:cs typeface="Calibri" pitchFamily="34" charset="-120"/>
              </a:rPr>
              <a:t>Test on real phones</a:t>
            </a:r>
            <a:endParaRPr lang="en-US" sz="1200" dirty="0"/>
          </a:p>
        </p:txBody>
      </p:sp>
      <p:sp>
        <p:nvSpPr>
          <p:cNvPr id="24" name="Shape 17"/>
          <p:cNvSpPr/>
          <p:nvPr/>
        </p:nvSpPr>
        <p:spPr>
          <a:xfrm>
            <a:off x="5888736" y="2093976"/>
            <a:ext cx="384048" cy="384048"/>
          </a:xfrm>
          <a:prstGeom prst="ellipse">
            <a:avLst/>
          </a:prstGeom>
          <a:solidFill>
            <a:srgbClr val="FFFFFF"/>
          </a:solidFill>
          <a:ln w="28575">
            <a:solidFill>
              <a:srgbClr val="9A7418"/>
            </a:solidFill>
            <a:prstDash val="solid"/>
          </a:ln>
        </p:spPr>
        <p:txBody>
          <a:bodyPr/>
          <a:p/>
        </p:txBody>
      </p:sp>
      <p:sp>
        <p:nvSpPr>
          <p:cNvPr id="25" name="Text 18"/>
          <p:cNvSpPr txBox="1"/>
          <p:nvPr/>
        </p:nvSpPr>
        <p:spPr>
          <a:xfrm>
            <a:off x="5605272" y="2651760"/>
            <a:ext cx="950976" cy="731520"/>
          </a:xfrm>
          <a:prstGeom prst="rect">
            <a:avLst/>
          </a:prstGeom>
          <a:noFill/>
          <a:ln/>
        </p:spPr>
        <p:txBody>
          <a:bodyPr wrap="square" lIns="0" tIns="0" rIns="0" bIns="0" rtlCol="0" anchor="t"/>
          <a:lstStyle/>
          <a:p>
            <a:pPr algn="ctr" indent="0" marL="0">
              <a:buNone/>
            </a:pPr>
            <a:r>
              <a:rPr lang="en-US" sz="1200" dirty="0">
                <a:solidFill>
                  <a:srgbClr val="1B2230"/>
                </a:solidFill>
                <a:latin typeface="Calibri" pitchFamily="34" charset="0"/>
                <a:ea typeface="Calibri" pitchFamily="34" charset="-122"/>
                <a:cs typeface="Calibri" pitchFamily="34" charset="-120"/>
              </a:rPr>
              <a:t>Real FlipValue API</a:t>
            </a:r>
            <a:endParaRPr lang="en-US" sz="1200" dirty="0"/>
          </a:p>
        </p:txBody>
      </p:sp>
      <p:sp>
        <p:nvSpPr>
          <p:cNvPr id="26" name="Shape 19"/>
          <p:cNvSpPr/>
          <p:nvPr/>
        </p:nvSpPr>
        <p:spPr>
          <a:xfrm>
            <a:off x="6912864" y="2093976"/>
            <a:ext cx="384048" cy="384048"/>
          </a:xfrm>
          <a:prstGeom prst="ellipse">
            <a:avLst/>
          </a:prstGeom>
          <a:solidFill>
            <a:srgbClr val="FFFFFF"/>
          </a:solidFill>
          <a:ln w="28575">
            <a:solidFill>
              <a:srgbClr val="9A7418"/>
            </a:solidFill>
            <a:prstDash val="solid"/>
          </a:ln>
        </p:spPr>
        <p:txBody>
          <a:bodyPr/>
          <a:p/>
        </p:txBody>
      </p:sp>
      <p:sp>
        <p:nvSpPr>
          <p:cNvPr id="27" name="Text 20"/>
          <p:cNvSpPr txBox="1"/>
          <p:nvPr/>
        </p:nvSpPr>
        <p:spPr>
          <a:xfrm>
            <a:off x="6629400" y="2651760"/>
            <a:ext cx="950976" cy="731520"/>
          </a:xfrm>
          <a:prstGeom prst="rect">
            <a:avLst/>
          </a:prstGeom>
          <a:noFill/>
          <a:ln/>
        </p:spPr>
        <p:txBody>
          <a:bodyPr wrap="square" lIns="0" tIns="0" rIns="0" bIns="0" rtlCol="0" anchor="t"/>
          <a:lstStyle/>
          <a:p>
            <a:pPr algn="ctr" indent="0" marL="0">
              <a:buNone/>
            </a:pPr>
            <a:r>
              <a:rPr lang="en-US" sz="1200" dirty="0">
                <a:solidFill>
                  <a:srgbClr val="1B2230"/>
                </a:solidFill>
                <a:latin typeface="Calibri" pitchFamily="34" charset="0"/>
                <a:ea typeface="Calibri" pitchFamily="34" charset="-122"/>
                <a:cs typeface="Calibri" pitchFamily="34" charset="-120"/>
              </a:rPr>
              <a:t>Legal sign-off on prices</a:t>
            </a:r>
            <a:endParaRPr lang="en-US" sz="1200" dirty="0"/>
          </a:p>
        </p:txBody>
      </p:sp>
      <p:sp>
        <p:nvSpPr>
          <p:cNvPr id="28" name="Shape 21"/>
          <p:cNvSpPr/>
          <p:nvPr/>
        </p:nvSpPr>
        <p:spPr>
          <a:xfrm>
            <a:off x="7936992" y="2093976"/>
            <a:ext cx="384048" cy="384048"/>
          </a:xfrm>
          <a:prstGeom prst="ellipse">
            <a:avLst/>
          </a:prstGeom>
          <a:solidFill>
            <a:srgbClr val="FFFFFF"/>
          </a:solidFill>
          <a:ln w="28575">
            <a:solidFill>
              <a:srgbClr val="9A7418"/>
            </a:solidFill>
            <a:prstDash val="solid"/>
          </a:ln>
        </p:spPr>
        <p:txBody>
          <a:bodyPr/>
          <a:p/>
        </p:txBody>
      </p:sp>
      <p:sp>
        <p:nvSpPr>
          <p:cNvPr id="29" name="Text 22"/>
          <p:cNvSpPr txBox="1"/>
          <p:nvPr/>
        </p:nvSpPr>
        <p:spPr>
          <a:xfrm>
            <a:off x="7653528" y="2651760"/>
            <a:ext cx="950976" cy="731520"/>
          </a:xfrm>
          <a:prstGeom prst="rect">
            <a:avLst/>
          </a:prstGeom>
          <a:noFill/>
          <a:ln/>
        </p:spPr>
        <p:txBody>
          <a:bodyPr wrap="square" lIns="0" tIns="0" rIns="0" bIns="0" rtlCol="0" anchor="t"/>
          <a:lstStyle/>
          <a:p>
            <a:pPr algn="ctr" indent="0" marL="0">
              <a:buNone/>
            </a:pPr>
            <a:r>
              <a:rPr lang="en-US" sz="1200" dirty="0">
                <a:solidFill>
                  <a:srgbClr val="1B2230"/>
                </a:solidFill>
                <a:latin typeface="Calibri" pitchFamily="34" charset="0"/>
                <a:ea typeface="Calibri" pitchFamily="34" charset="-122"/>
                <a:cs typeface="Calibri" pitchFamily="34" charset="-120"/>
              </a:rPr>
              <a:t>PostgreSQL storage</a:t>
            </a:r>
            <a:endParaRPr lang="en-US" sz="1200" dirty="0"/>
          </a:p>
        </p:txBody>
      </p:sp>
      <p:sp>
        <p:nvSpPr>
          <p:cNvPr id="30" name="Shape 23"/>
          <p:cNvSpPr/>
          <p:nvPr/>
        </p:nvSpPr>
        <p:spPr>
          <a:xfrm>
            <a:off x="457200" y="3749040"/>
            <a:ext cx="8229600" cy="731520"/>
          </a:xfrm>
          <a:prstGeom prst="roundRect">
            <a:avLst>
              <a:gd name="adj" fmla="val 18750"/>
            </a:avLst>
          </a:prstGeom>
          <a:solidFill>
            <a:srgbClr val="1B2230"/>
          </a:solidFill>
          <a:ln w="12700">
            <a:solidFill>
              <a:srgbClr val="1B2230"/>
            </a:solidFill>
            <a:prstDash val="solid"/>
          </a:ln>
        </p:spPr>
        <p:txBody>
          <a:bodyPr/>
          <a:p/>
        </p:txBody>
      </p:sp>
      <p:sp>
        <p:nvSpPr>
          <p:cNvPr id="31" name="Text 24"/>
          <p:cNvSpPr txBox="1"/>
          <p:nvPr/>
        </p:nvSpPr>
        <p:spPr>
          <a:xfrm>
            <a:off x="457200" y="3749040"/>
            <a:ext cx="8229600" cy="731520"/>
          </a:xfrm>
          <a:prstGeom prst="rect">
            <a:avLst/>
          </a:prstGeom>
          <a:noFill/>
          <a:ln/>
        </p:spPr>
        <p:txBody>
          <a:bodyPr wrap="square" lIns="0" tIns="0" rIns="0" bIns="0" rtlCol="0" anchor="ctr"/>
          <a:lstStyle/>
          <a:p>
            <a:pPr algn="ctr" indent="0" marL="0">
              <a:buNone/>
            </a:pPr>
            <a:r>
              <a:rPr lang="en-US" sz="2800" b="1" dirty="0">
                <a:solidFill>
                  <a:srgbClr val="E3C170"/>
                </a:solidFill>
                <a:latin typeface="Cambria" pitchFamily="34" charset="0"/>
                <a:ea typeface="Cambria" pitchFamily="34" charset="-122"/>
                <a:cs typeface="Cambria" pitchFamily="34" charset="-120"/>
              </a:rPr>
              <a:t>Thank you</a:t>
            </a:r>
            <a:endParaRPr lang="en-US" sz="2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FixMyTech Light">
  <a:themeElements>
    <a:clrScheme name="FixMyTech Light">
      <a:dk1>
        <a:srgbClr val="1B2230"/>
      </a:dk1>
      <a:lt1>
        <a:srgbClr val="F4F1EA"/>
      </a:lt1>
      <a:dk2>
        <a:srgbClr val="FFFFFF"/>
      </a:dk2>
      <a:lt2>
        <a:srgbClr val="5B6577"/>
      </a:lt2>
      <a:accent1>
        <a:srgbClr val="9A7418"/>
      </a:accent1>
      <a:accent2>
        <a:srgbClr val="17877B"/>
      </a:accent2>
      <a:accent3>
        <a:srgbClr val="C0313C"/>
      </a:accent3>
      <a:accent4>
        <a:srgbClr val="C75F1E"/>
      </a:accent4>
      <a:accent5>
        <a:srgbClr val="6E52C2"/>
      </a:accent5>
      <a:accent6>
        <a:srgbClr val="B8325F"/>
      </a:accent6>
      <a:hlink>
        <a:srgbClr val="9A7418"/>
      </a:hlink>
      <a:folHlink>
        <a:srgbClr val="5B6577"/>
      </a:folHlink>
    </a:clrScheme>
    <a:fontScheme name="FixMyTech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FixMyTech</dc:title>
  <dc:subject>PptxGenJS Presentation</dc:subject>
  <dc:creator>FixMyTech</dc:creator>
  <cp:lastModifiedBy>FixMyTech</cp:lastModifiedBy>
  <cp:revision>1</cp:revision>
  <dcterms:created xsi:type="dcterms:W3CDTF">2026-10-26T08:15:27Z</dcterms:created>
  <dcterms:modified xsi:type="dcterms:W3CDTF">2026-10-26T08:15:27Z</dcterms:modified>
</cp:coreProperties>
</file>